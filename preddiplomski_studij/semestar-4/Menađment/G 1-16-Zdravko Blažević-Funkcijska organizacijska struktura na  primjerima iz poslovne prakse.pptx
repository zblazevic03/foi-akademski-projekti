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7" d="100"/>
          <a:sy n="107" d="100"/>
        </p:scale>
        <p:origin x="62" y="-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23066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81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2217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1948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8500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4573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8492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3141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3940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51458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7044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35720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 cit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340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ili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95402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68477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415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C7B58-F143-4D03-AFE7-66CD4D5859CE}" type="datetimeFigureOut">
              <a:rPr lang="hr-HR" smtClean="0"/>
              <a:t>12.4.2023.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4E1A562-9D6E-4381-A57F-78E6215DA8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8817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elf.foi.hr/mod/resource/view.php?id=93892" TargetMode="External"/><Relationship Id="rId3" Type="http://schemas.openxmlformats.org/officeDocument/2006/relationships/hyperlink" Target="https://www.plinara-zagreb.hr/o-nama/profil-tvrtke/misija-vizija-i-strategija/73" TargetMode="External"/><Relationship Id="rId7" Type="http://schemas.openxmlformats.org/officeDocument/2006/relationships/hyperlink" Target="https://www.cistoca.hr/o-nama/profil-1472/djelatnosti/1277" TargetMode="External"/><Relationship Id="rId2" Type="http://schemas.openxmlformats.org/officeDocument/2006/relationships/hyperlink" Target="https://www.plinara-zagreb.hr/o-nama/profil-tvrtke/organizacijska-struktura/21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toca.hr/o-nama/profil-1472/organizacijska-shema-1474/1474" TargetMode="External"/><Relationship Id="rId5" Type="http://schemas.openxmlformats.org/officeDocument/2006/relationships/hyperlink" Target="https://www.cistoca.hr/o-nama/profil-1472/misija-vizija/1278" TargetMode="External"/><Relationship Id="rId4" Type="http://schemas.openxmlformats.org/officeDocument/2006/relationships/hyperlink" Target="https://www.plinara-zagreb.hr/o-nama/povijest/32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B8A5A16-7BE9-4AA1-9B5E-00FAFA5C8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55D27F9-7623-4A6E-89FF-87E6C4E0D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7B7CFC0-1E17-41C5-BF93-16E99B1F8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8640594F-E37B-4D91-8E95-9DA62A9B9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93C9D004-5359-4937-9D4B-EC8988806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0DE8B4BF-A71A-4324-A033-7886CF70A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5697F627-1058-435C-96D4-98AB552C6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92EF457-D744-4C61-8670-518EC1D2D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645924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49E61018-BC96-47DC-B47F-FFBA96BAD8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3CA434EC-618C-4787-86BA-1BF47478E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97378863-CDB3-4B0F-A65C-98A1252DD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odnaslov 2">
            <a:extLst>
              <a:ext uri="{FF2B5EF4-FFF2-40B4-BE49-F238E27FC236}">
                <a16:creationId xmlns:a16="http://schemas.microsoft.com/office/drawing/2014/main" id="{BA97173B-7406-811A-D755-B565C0FA0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540" y="4142382"/>
            <a:ext cx="7766936" cy="2456373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Autor: Zdravko Blažević</a:t>
            </a:r>
          </a:p>
          <a:p>
            <a:r>
              <a:rPr lang="hr-HR" dirty="0">
                <a:solidFill>
                  <a:srgbClr val="FFFFFF"/>
                </a:solidFill>
              </a:rPr>
              <a:t>Fakultet organizacije i informatike</a:t>
            </a:r>
          </a:p>
          <a:p>
            <a:r>
              <a:rPr lang="hr-HR" dirty="0">
                <a:solidFill>
                  <a:srgbClr val="FFFFFF"/>
                </a:solidFill>
              </a:rPr>
              <a:t>Studij: Informacijske tehnologije i digitalizacija poslovanja</a:t>
            </a:r>
          </a:p>
          <a:p>
            <a:r>
              <a:rPr lang="hr-HR" dirty="0">
                <a:solidFill>
                  <a:srgbClr val="FFFFFF"/>
                </a:solidFill>
              </a:rPr>
              <a:t>Kolegij: Menadžment</a:t>
            </a:r>
          </a:p>
          <a:p>
            <a:r>
              <a:rPr lang="hr-HR" dirty="0">
                <a:solidFill>
                  <a:srgbClr val="FFFFFF"/>
                </a:solidFill>
              </a:rPr>
              <a:t>Grupa: G 1</a:t>
            </a:r>
          </a:p>
          <a:p>
            <a:r>
              <a:rPr lang="hr-HR" dirty="0">
                <a:solidFill>
                  <a:srgbClr val="FFFFFF"/>
                </a:solidFill>
              </a:rPr>
              <a:t>Mentor: mag. </a:t>
            </a:r>
            <a:r>
              <a:rPr lang="hr-HR" dirty="0" err="1">
                <a:solidFill>
                  <a:srgbClr val="FFFFFF"/>
                </a:solidFill>
              </a:rPr>
              <a:t>oec</a:t>
            </a:r>
            <a:r>
              <a:rPr lang="hr-HR" dirty="0">
                <a:solidFill>
                  <a:srgbClr val="FFFFFF"/>
                </a:solidFill>
              </a:rPr>
              <a:t>. Lorena </a:t>
            </a:r>
            <a:r>
              <a:rPr lang="hr-HR" dirty="0" err="1">
                <a:solidFill>
                  <a:srgbClr val="FFFFFF"/>
                </a:solidFill>
              </a:rPr>
              <a:t>Pikl</a:t>
            </a:r>
            <a:endParaRPr lang="hr-HR" dirty="0">
              <a:solidFill>
                <a:srgbClr val="FFFFFF"/>
              </a:solidFill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F79CF39-CCF8-AC5A-C518-2E2157226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267012"/>
            <a:ext cx="7766936" cy="2783824"/>
          </a:xfrm>
        </p:spPr>
        <p:txBody>
          <a:bodyPr>
            <a:normAutofit/>
          </a:bodyPr>
          <a:lstStyle/>
          <a:p>
            <a:r>
              <a:rPr lang="pl-PL" sz="5000" dirty="0">
                <a:solidFill>
                  <a:srgbClr val="FFFFFF"/>
                </a:solidFill>
              </a:rPr>
              <a:t>Funkcijska organizacijska struktura na primjerima iz poslovne prakse</a:t>
            </a:r>
            <a:endParaRPr lang="hr-HR" sz="5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57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49A8DCD-F7EE-0DB1-9499-9A382A1F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 prezentacije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5B53272-DA46-6450-3B8C-FDF3F1E38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67627"/>
            <a:ext cx="8596668" cy="3880773"/>
          </a:xfrm>
        </p:spPr>
        <p:txBody>
          <a:bodyPr/>
          <a:lstStyle/>
          <a:p>
            <a:r>
              <a:rPr lang="hr-HR" dirty="0"/>
              <a:t>Što je funkcijska organizacijska struktura</a:t>
            </a:r>
          </a:p>
          <a:p>
            <a:r>
              <a:rPr lang="hr-HR" dirty="0"/>
              <a:t>Gradska plinara Zagreb </a:t>
            </a:r>
          </a:p>
          <a:p>
            <a:r>
              <a:rPr lang="hr-HR" dirty="0"/>
              <a:t>Organizacijska struktura plinare Zagreb </a:t>
            </a:r>
          </a:p>
          <a:p>
            <a:r>
              <a:rPr lang="hr-HR" dirty="0"/>
              <a:t>Sektori plinare Zagreb </a:t>
            </a:r>
          </a:p>
          <a:p>
            <a:r>
              <a:rPr lang="hr-HR" dirty="0"/>
              <a:t>Čistoća Zagreb</a:t>
            </a:r>
          </a:p>
          <a:p>
            <a:r>
              <a:rPr lang="hr-HR" dirty="0"/>
              <a:t>Organizacijska struktura Čistoća Zagreb</a:t>
            </a:r>
          </a:p>
          <a:p>
            <a:r>
              <a:rPr lang="hr-HR" dirty="0"/>
              <a:t>Sektori Čistoće Zagreb</a:t>
            </a:r>
          </a:p>
          <a:p>
            <a:r>
              <a:rPr lang="hr-HR" dirty="0"/>
              <a:t>Kviz</a:t>
            </a:r>
          </a:p>
          <a:p>
            <a:r>
              <a:rPr lang="hr-HR" dirty="0"/>
              <a:t>Zaključak</a:t>
            </a:r>
          </a:p>
        </p:txBody>
      </p:sp>
    </p:spTree>
    <p:extLst>
      <p:ext uri="{BB962C8B-B14F-4D97-AF65-F5344CB8AC3E}">
        <p14:creationId xmlns:p14="http://schemas.microsoft.com/office/powerpoint/2010/main" val="417930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5A89AC2-7BF1-7F54-C874-8C2DBDEE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390591" cy="1320800"/>
          </a:xfrm>
        </p:spPr>
        <p:txBody>
          <a:bodyPr/>
          <a:lstStyle/>
          <a:p>
            <a:r>
              <a:rPr lang="hr-HR" dirty="0"/>
              <a:t>Što je funkcijska organizacijska struktura?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3EF107-C7D0-69DF-EC24-98CA0699B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054495" cy="3880773"/>
          </a:xfrm>
        </p:spPr>
        <p:txBody>
          <a:bodyPr/>
          <a:lstStyle/>
          <a:p>
            <a:r>
              <a:rPr lang="hr-HR" dirty="0"/>
              <a:t>Funkcijska organizacijska struktura je najčešći oblik strukture kojega koriste poduzeća širom svijeta</a:t>
            </a:r>
          </a:p>
          <a:p>
            <a:r>
              <a:rPr lang="hr-HR" dirty="0"/>
              <a:t>Odgovarajuću organizacijsku strukturu za poduzeće donosi i projektira menadžment uzevši u obzir prethodno kreiranu viziju, misiju i ciljeve poduzeća.</a:t>
            </a:r>
          </a:p>
          <a:p>
            <a:r>
              <a:rPr lang="hr-HR" dirty="0"/>
              <a:t>Pogodna za mala i srednja poduzeća, ali i velika ukoliko se ona bave proizvodnjom jednog istog ili sličnog proizvoda</a:t>
            </a:r>
            <a:endParaRPr lang="pl-PL" dirty="0"/>
          </a:p>
          <a:p>
            <a:r>
              <a:rPr lang="pl-PL" dirty="0"/>
              <a:t>Članovi organizacije grupirani u funkcionalne odjele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5503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6B210A3-E97A-61E4-03EE-661F6B0C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09" y="609600"/>
            <a:ext cx="8596668" cy="1320800"/>
          </a:xfrm>
        </p:spPr>
        <p:txBody>
          <a:bodyPr/>
          <a:lstStyle/>
          <a:p>
            <a:r>
              <a:rPr lang="hr-HR" dirty="0"/>
              <a:t>Gradska plinara Zagreb 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A3EF8A6-73E1-F73E-4B08-71DE2F9B4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Gradska </a:t>
            </a:r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linara Zagreb osnovana je 1862. godine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Tvrtka je stvorila gradsku mrežu plinske rasvjete</a:t>
            </a:r>
            <a:endParaRPr lang="hr-HR" kern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tudenog 1993. godine, prestala je s proizvodnjom plina i orijentirala se isključivo na distribuciju prirodnog plina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Primarna vizija ovog poduzeća je postati vodeći operator distribucijskog sustava prirodnog plina u Republici Hrvatskoj uz učinkovito gospodarenje energijom i poštovanje ekoloških principa.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934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E09A4FD-F902-42AD-BF00-5244D51B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Organizacijska struktura plinare Zagreb 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5056A22-01DE-D765-57BE-76757A0DD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 razine odgovaraju upravi društva, dok su ostali segmenti podijeljeni na druge logistički bitne pozicije.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 organizacijskoj strukturi ovog poduzeća nalazi se pet sektora koji su podijeljeni na službe, a zatim su službe podijeljene na odjele dok oni svi odgovaraju upravi poduzeća.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Ovakav način ustroja omogućuje visoki stupanj specijalizacije i podjelu rada</a:t>
            </a:r>
            <a:endParaRPr lang="hr-HR" kern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također omogućuje racionalniju uporabu resursa</a:t>
            </a:r>
            <a:endParaRPr lang="hr-H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5057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Slika na kojoj se prikazuje dijagram&#10;&#10;Opis je automatski generiran">
            <a:extLst>
              <a:ext uri="{FF2B5EF4-FFF2-40B4-BE49-F238E27FC236}">
                <a16:creationId xmlns:a16="http://schemas.microsoft.com/office/drawing/2014/main" id="{CAF4F8D3-601E-1F5A-8DC6-713EFCC0C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566" y="1225027"/>
            <a:ext cx="9941259" cy="37279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372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8A5C487-A703-EB8D-490A-35AA3EA1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Sektori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19B28D7-BD20-54CC-1482-F07E78A76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za usluge korisnicima i kupcima 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distribucije</a:t>
            </a:r>
            <a:endParaRPr lang="hr-HR" kern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razvoja i investicija 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za ekonomske poslove </a:t>
            </a:r>
            <a:endParaRPr lang="hr-HR" kern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za korporativno upravljanje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4117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09A4655-D227-A31F-211C-19FCAEEE0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14" y="581608"/>
            <a:ext cx="8596668" cy="1320800"/>
          </a:xfrm>
        </p:spPr>
        <p:txBody>
          <a:bodyPr/>
          <a:lstStyle/>
          <a:p>
            <a:r>
              <a:rPr lang="hr-HR" dirty="0"/>
              <a:t>Čistoća Zagreb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8427861-1727-104A-78C5-DE56EACB1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Zagrebačka čistoća osnovana je 1923. godine te je bila zadužena 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 bili zaduženi za odvoz i čišćenje gradskog smeća</a:t>
            </a:r>
            <a:endParaRPr lang="hr-HR" dirty="0"/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Sama vizija zagrebačke čistoće je postići kvalitetno gospodarenje otpadom u skladu sa svim pravilima </a:t>
            </a:r>
          </a:p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stvarivanje partnerstva sa svim zainteresiranim društvima i udrugama za djelotvorno gospodarenje otpadom sa smanjenjem količine samog otpada, njegove količine i volumena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14187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6D87CBF-F6B3-B915-B3B9-0B9F8CB1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45432"/>
            <a:ext cx="8596668" cy="1320800"/>
          </a:xfrm>
        </p:spPr>
        <p:txBody>
          <a:bodyPr/>
          <a:lstStyle/>
          <a:p>
            <a:r>
              <a:rPr lang="hr-HR" dirty="0"/>
              <a:t>Organizacijska struktura Čistoća Zagreb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2121A2F-6428-C0BA-C05D-6F1AFB1F7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3266"/>
            <a:ext cx="8596668" cy="3880773"/>
          </a:xfrm>
        </p:spPr>
        <p:txBody>
          <a:bodyPr/>
          <a:lstStyle/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istoće uređena je tako da su na najvišoj razini postavljeni voditelji podružnica</a:t>
            </a:r>
          </a:p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 nižim razinama imamo sektore koji nadgledaju službe i podružnice</a:t>
            </a:r>
          </a:p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oditelji podružnica upravlja sa 6 podružnica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5464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>
            <a:extLst>
              <a:ext uri="{FF2B5EF4-FFF2-40B4-BE49-F238E27FC236}">
                <a16:creationId xmlns:a16="http://schemas.microsoft.com/office/drawing/2014/main" id="{982E3164-B548-DACD-E70D-90210CAAA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393" y="281271"/>
            <a:ext cx="9092293" cy="632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45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DE2E12-F5D6-9B73-5B3F-05E9A5AB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Sektori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F376C9C-3139-4AC9-ADA1-91D288C9F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Operative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Održavanja </a:t>
            </a:r>
            <a:endParaRPr lang="hr-HR" kern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za Ekonomsko Financijske Poslove 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za Komercijalne Poslove </a:t>
            </a:r>
            <a:endParaRPr lang="hr-HR" kern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za Pravne Poslove i Upravljanje Ljudskim Resursima 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Sektor za Razvoj, Gospodarenje Otpadom i Zaštitu Okoliša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51682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A1D8B2D-69AB-7488-CFB8-035963F45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542" y="2729757"/>
            <a:ext cx="8596668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r-HR" sz="4400" dirty="0" err="1"/>
              <a:t>Kahoot</a:t>
            </a:r>
            <a:r>
              <a:rPr lang="hr-HR" sz="4400" dirty="0"/>
              <a:t> kviz</a:t>
            </a:r>
          </a:p>
        </p:txBody>
      </p:sp>
    </p:spTree>
    <p:extLst>
      <p:ext uri="{BB962C8B-B14F-4D97-AF65-F5344CB8AC3E}">
        <p14:creationId xmlns:p14="http://schemas.microsoft.com/office/powerpoint/2010/main" val="3904410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7F4FE23-88BC-6ECA-418D-2ECC7853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C156FDA-C990-5B9F-7728-AA91374A4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rganizacijska struktura gdje se svakoj poslovnoj funkciji daju određeni i specifični i točno određeni skup zadataka za koje svaka poslovna funkcija odgovara.</a:t>
            </a:r>
          </a:p>
          <a:p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Ovakva način upravljanja ima svoje prednosti i mane ali se u praksi pokazala kao vrlo učinkovit  </a:t>
            </a:r>
          </a:p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mogućava lako upravljanje i donošenje odluka te racionalnije i učinkovitije gospodarenje resursima </a:t>
            </a:r>
          </a:p>
          <a:p>
            <a:r>
              <a:rPr lang="hr-HR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hr-HR" sz="1800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oduzeća su vrlo spora u donošenju odluka te se jako sporo prilagođavaju na promjene  u poslovanju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96254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DA87941-3CC8-E788-AAD9-6B5454A2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Reference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B7B4E0D-F93A-2760-B400-9377E3899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Organizacijska struktura - Gradska plinara Zagreb. (</a:t>
            </a:r>
            <a:r>
              <a:rPr lang="hr-H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n.d</a:t>
            </a: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 Preuzeto 10.4.2023 s</a:t>
            </a:r>
            <a:r>
              <a:rPr lang="hr-H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https://www.plinara-zagreb.hr/o-nama/profil-tvrtke/organizacijska-struktura/210</a:t>
            </a:r>
            <a:endParaRPr lang="hr-H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Misija, vizija i strategija - Gradska plinara Zagreb. (</a:t>
            </a:r>
            <a:r>
              <a:rPr lang="hr-H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n.d</a:t>
            </a: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 Preuzeto 10.4.2023 s  </a:t>
            </a:r>
            <a:r>
              <a:rPr lang="hr-H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https://www.plinara-zagreb.hr/o-nama/profil-tvrtke/misija-vizija-i-strategija/73</a:t>
            </a:r>
            <a:endParaRPr lang="hr-H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Povijest - Gradska plinara Zagreb. (</a:t>
            </a:r>
            <a:r>
              <a:rPr lang="hr-H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n.d</a:t>
            </a: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 Preuzeto 10.4.2023 s  </a:t>
            </a:r>
            <a:r>
              <a:rPr lang="hr-H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https://www.plinara-zagreb.hr/o-nama/povijest/32</a:t>
            </a:r>
            <a:endParaRPr lang="hr-H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Misija, vizija. (</a:t>
            </a:r>
            <a:r>
              <a:rPr lang="hr-H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n.d</a:t>
            </a: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 cistoca.hr.  Preuzeto 10.4.2023 s   </a:t>
            </a:r>
            <a:r>
              <a:rPr lang="hr-H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https://www.cistoca.hr/o-nama/profil-1472/misija-vizija/1278</a:t>
            </a:r>
            <a:endParaRPr lang="hr-H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Organizacijska shema. (</a:t>
            </a:r>
            <a:r>
              <a:rPr lang="hr-H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n.d</a:t>
            </a: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 cistoca.hr. Preuzeto 10.4.2023 s </a:t>
            </a:r>
            <a:r>
              <a:rPr lang="hr-H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https://www.cistoca.hr/o-nama/profil-1472/organizacijska-shema-1474/1474</a:t>
            </a:r>
            <a:endParaRPr lang="hr-H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Djelatnosti. (</a:t>
            </a:r>
            <a:r>
              <a:rPr lang="hr-H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n.d</a:t>
            </a: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 cistoca.hr. Preuzeto 10.4.2023 s </a:t>
            </a:r>
            <a:r>
              <a:rPr lang="hr-H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https://www.cistoca.hr/o-nama/profil-1472/djelatnosti/1277</a:t>
            </a:r>
            <a:endParaRPr lang="hr-H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ITDP_MENA. (</a:t>
            </a:r>
            <a:r>
              <a:rPr lang="hr-H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n.d</a:t>
            </a:r>
            <a:r>
              <a:rPr lang="hr-H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.). Preuzeto 10.4.2023 s </a:t>
            </a:r>
            <a:r>
              <a:rPr lang="hr-HR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https://elf.foi.hr/mod/resource/view.php?id=93892</a:t>
            </a:r>
            <a:endParaRPr lang="hr-H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hr-H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37951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3DCC3B3-F8F7-9695-E3C9-AF692110C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460" y="2621901"/>
            <a:ext cx="8596668" cy="3270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3200" dirty="0"/>
              <a:t>                     Hvala na pažnji</a:t>
            </a:r>
          </a:p>
        </p:txBody>
      </p:sp>
    </p:spTree>
    <p:extLst>
      <p:ext uri="{BB962C8B-B14F-4D97-AF65-F5344CB8AC3E}">
        <p14:creationId xmlns:p14="http://schemas.microsoft.com/office/powerpoint/2010/main" val="169264249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405</TotalTime>
  <Words>683</Words>
  <Application>Microsoft Office PowerPoint</Application>
  <PresentationFormat>Široki zaslon</PresentationFormat>
  <Paragraphs>68</Paragraphs>
  <Slides>15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Faseta</vt:lpstr>
      <vt:lpstr>Funkcijska organizacijska struktura na primjerima iz poslovne prakse</vt:lpstr>
      <vt:lpstr>Sadržaj prezentacije</vt:lpstr>
      <vt:lpstr>Što je funkcijska organizacijska struktura?</vt:lpstr>
      <vt:lpstr>Gradska plinara Zagreb </vt:lpstr>
      <vt:lpstr>Organizacijska struktura plinare Zagreb </vt:lpstr>
      <vt:lpstr>PowerPoint prezentacija</vt:lpstr>
      <vt:lpstr>Sektori</vt:lpstr>
      <vt:lpstr>Čistoća Zagreb</vt:lpstr>
      <vt:lpstr>Organizacijska struktura Čistoća Zagreb</vt:lpstr>
      <vt:lpstr>PowerPoint prezentacija</vt:lpstr>
      <vt:lpstr>Sektori</vt:lpstr>
      <vt:lpstr>PowerPoint prezentacija</vt:lpstr>
      <vt:lpstr>Zaključak</vt:lpstr>
      <vt:lpstr>Reference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Funkcijska organizacijska struktura na primjerima iz poslovne prakse</dc:title>
  <dc:creator>Zdravko Blažević</dc:creator>
  <cp:lastModifiedBy>Zdravko Blažević</cp:lastModifiedBy>
  <cp:revision>10</cp:revision>
  <dcterms:created xsi:type="dcterms:W3CDTF">2023-04-11T05:08:12Z</dcterms:created>
  <dcterms:modified xsi:type="dcterms:W3CDTF">2023-04-12T23:25:00Z</dcterms:modified>
</cp:coreProperties>
</file>