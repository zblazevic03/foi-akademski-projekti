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10"/>
    <p:sldId id="264" r:id="rId11"/>
    <p:sldId id="27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68283" autoAdjust="0"/>
  </p:normalViewPr>
  <p:slideViewPr>
    <p:cSldViewPr snapToGrid="0">
      <p:cViewPr varScale="1">
        <p:scale>
          <a:sx n="56" d="100"/>
          <a:sy n="56" d="100"/>
        </p:scale>
        <p:origin x="148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glavlj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Rezervirano mjesto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87556A-BB33-439E-95A4-1E9DF25042F0}" type="datetimeFigureOut">
              <a:rPr lang="hr-HR" smtClean="0"/>
              <a:t>11.6.2024.</a:t>
            </a:fld>
            <a:endParaRPr lang="hr-HR"/>
          </a:p>
        </p:txBody>
      </p:sp>
      <p:sp>
        <p:nvSpPr>
          <p:cNvPr id="4" name="Rezervirano mjesto slike slajd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Rezervirano mjesto bilježaka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EC0B13-A42D-4885-AB58-72E9CC0734A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76775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EC0B13-A42D-4885-AB58-72E9CC0734AA}" type="slidenum">
              <a:rPr lang="hr-HR" smtClean="0"/>
              <a:t>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286111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 err="1"/>
              <a:t>Solidity</a:t>
            </a:r>
            <a:r>
              <a:rPr lang="hr-HR" dirty="0"/>
              <a:t> je visoko specijaliziran jezik dizajniran za razvoj pametnih ugovora na </a:t>
            </a:r>
            <a:r>
              <a:rPr lang="hr-HR" dirty="0" err="1"/>
              <a:t>Ethereum</a:t>
            </a:r>
            <a:r>
              <a:rPr lang="hr-HR" dirty="0"/>
              <a:t> </a:t>
            </a:r>
            <a:r>
              <a:rPr lang="hr-HR" dirty="0" err="1"/>
              <a:t>blockchainu</a:t>
            </a:r>
            <a:r>
              <a:rPr lang="hr-HR" dirty="0"/>
              <a:t>. </a:t>
            </a:r>
          </a:p>
          <a:p>
            <a:endParaRPr lang="hr-HR" dirty="0"/>
          </a:p>
          <a:p>
            <a:r>
              <a:rPr lang="hr-HR" dirty="0" err="1"/>
              <a:t>Solidity</a:t>
            </a:r>
            <a:r>
              <a:rPr lang="hr-HR" dirty="0"/>
              <a:t> omogućuje programerima da definiraju pravila, uvjete i poslovnu logiku unutar pametnih ugovora. </a:t>
            </a:r>
          </a:p>
          <a:p>
            <a:endParaRPr lang="hr-HR" dirty="0"/>
          </a:p>
          <a:p>
            <a:r>
              <a:rPr lang="hr-HR" dirty="0"/>
              <a:t>Pametni ugovori napisani u </a:t>
            </a:r>
            <a:r>
              <a:rPr lang="hr-HR" dirty="0" err="1"/>
              <a:t>Solidityju</a:t>
            </a:r>
            <a:r>
              <a:rPr lang="hr-HR" dirty="0"/>
              <a:t> su nepromjenjivi i samostalno se izvršavaju kada su zadovoljeni određeni uvjeti.</a:t>
            </a:r>
          </a:p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EC0B13-A42D-4885-AB58-72E9CC0734AA}" type="slidenum">
              <a:rPr lang="hr-HR" smtClean="0"/>
              <a:t>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91156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 Biblioteke u </a:t>
            </a:r>
            <a:r>
              <a:rPr lang="hr-HR" dirty="0" err="1"/>
              <a:t>Solidityju</a:t>
            </a:r>
            <a:r>
              <a:rPr lang="hr-HR" dirty="0"/>
              <a:t> omogućuju programerima da ponovo koriste kod, smanjujući potrebu za pisanjem istih funkcionalnosti više puta.</a:t>
            </a:r>
          </a:p>
          <a:p>
            <a:endParaRPr lang="hr-HR" dirty="0"/>
          </a:p>
          <a:p>
            <a:r>
              <a:rPr lang="hr-HR" dirty="0"/>
              <a:t> Korištenje biblioteka pomaže u održavanju koda čistim i organiziranim, čime se povećava preglednost i lakše održavanje.</a:t>
            </a:r>
          </a:p>
          <a:p>
            <a:endParaRPr lang="hr-HR" dirty="0"/>
          </a:p>
          <a:p>
            <a:r>
              <a:rPr lang="hr-HR" dirty="0"/>
              <a:t>Ponovna upotreba dobro testiranog koda iz biblioteka smanjuje rizik od grešaka i sigurnosnih propusta u pametnim ugovorima.</a:t>
            </a:r>
          </a:p>
          <a:p>
            <a:endParaRPr lang="hr-HR" dirty="0"/>
          </a:p>
          <a:p>
            <a:r>
              <a:rPr lang="hr-HR" dirty="0"/>
              <a:t>Biblioteke omogućuju modularni pristup razvoju, gdje se funkcionalnosti mogu dodavati ili ažurirati bez promjene osnovnog koda pametnog ugovora.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EC0B13-A42D-4885-AB58-72E9CC0734AA}" type="slidenum">
              <a:rPr lang="hr-HR" smtClean="0"/>
              <a:t>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9537175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Modularnost i ponovna upotreba koda: Poboljšana organizacija i sigurnost aplikacija.</a:t>
            </a:r>
          </a:p>
          <a:p>
            <a:endParaRPr lang="hr-HR" dirty="0"/>
          </a:p>
          <a:p>
            <a:r>
              <a:rPr lang="hr-HR" dirty="0"/>
              <a:t>Pojednostavljenje razvoja: Brži razvojni ciklus uz manje grešaka.</a:t>
            </a:r>
          </a:p>
          <a:p>
            <a:endParaRPr lang="hr-HR" dirty="0"/>
          </a:p>
          <a:p>
            <a:r>
              <a:rPr lang="hr-HR" dirty="0"/>
              <a:t>Suradnja i standardizacija: Zajednička kolekcija funkcionalnosti, promicanje dosljednosti i pouzdanosti.</a:t>
            </a:r>
          </a:p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EC0B13-A42D-4885-AB58-72E9CC0734AA}" type="slidenum">
              <a:rPr lang="hr-HR" smtClean="0"/>
              <a:t>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6300605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Nedostatak nasljeđivanja: Biblioteke ne mogu nasljeđivati kod drugih biblioteka ili ugovora.</a:t>
            </a:r>
          </a:p>
          <a:p>
            <a:endParaRPr lang="hr-HR" dirty="0"/>
          </a:p>
          <a:p>
            <a:r>
              <a:rPr lang="hr-HR" dirty="0"/>
              <a:t>Nedostatak funkcionalnosti za upravljanje </a:t>
            </a:r>
            <a:r>
              <a:rPr lang="hr-HR" dirty="0" err="1"/>
              <a:t>etherom</a:t>
            </a:r>
            <a:r>
              <a:rPr lang="hr-HR" dirty="0"/>
              <a:t>: Ne mogu primati uplate ili upravljati sredstvima.</a:t>
            </a:r>
          </a:p>
          <a:p>
            <a:endParaRPr lang="hr-HR" dirty="0"/>
          </a:p>
          <a:p>
            <a:r>
              <a:rPr lang="hr-HR" dirty="0"/>
              <a:t>Neuništivost biblioteka: Jednom implementirane biblioteke ne mogu biti uništene ili uklonjene.</a:t>
            </a:r>
          </a:p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EC0B13-A42D-4885-AB58-72E9CC0734AA}" type="slidenum">
              <a:rPr lang="hr-HR" smtClean="0"/>
              <a:t>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457301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Vanjske funkcije su implementirane kao neovisni ugovori na </a:t>
            </a:r>
            <a:r>
              <a:rPr lang="hr-HR" dirty="0" err="1"/>
              <a:t>blockchainu</a:t>
            </a:r>
            <a:r>
              <a:rPr lang="hr-HR" dirty="0"/>
              <a:t>, svaka sa svojom specifičnom adresom.</a:t>
            </a:r>
          </a:p>
          <a:p>
            <a:endParaRPr lang="hr-HR" dirty="0"/>
          </a:p>
          <a:p>
            <a:r>
              <a:rPr lang="hr-HR" dirty="0"/>
              <a:t>DELEGATECALL omogućava funkcijama vanjskih ugovora da se izvršavaju u kontekstu </a:t>
            </a:r>
            <a:r>
              <a:rPr lang="hr-HR" dirty="0" err="1"/>
              <a:t>pozivaja</a:t>
            </a:r>
            <a:r>
              <a:rPr lang="hr-HR" dirty="0"/>
              <a:t> ugovora, koristeći njegovo stanje i pohranu.</a:t>
            </a:r>
          </a:p>
          <a:p>
            <a:endParaRPr lang="hr-HR" dirty="0"/>
          </a:p>
          <a:p>
            <a:r>
              <a:rPr lang="hr-HR" dirty="0"/>
              <a:t> Vanjske funkcije omogućuju ponovnu upotrebu koda bez dupliciranja, što povećava modularnost i efikasnost razvoja.</a:t>
            </a:r>
          </a:p>
          <a:p>
            <a:endParaRPr lang="hr-HR" dirty="0"/>
          </a:p>
          <a:p>
            <a:r>
              <a:rPr lang="hr-HR" dirty="0"/>
              <a:t>Korištenje vanjskih funkcija može povećati troškove gas-a zbog dodatnog DELEGATECALL poziva, a može i povećati složenost zbog upravljanja vanjskim adresama.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EC0B13-A42D-4885-AB58-72E9CC0734AA}" type="slidenum">
              <a:rPr lang="hr-HR" smtClean="0"/>
              <a:t>8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1625133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  <a:p>
            <a:r>
              <a:rPr lang="hr-HR" dirty="0"/>
              <a:t>Unutarnje funkcije se direktno uključuju u ugovore koji ih koriste, čime se izbjegava potreba za DELEGATECALL-om i vanjskim adresama.</a:t>
            </a:r>
          </a:p>
          <a:p>
            <a:endParaRPr lang="hr-HR" dirty="0"/>
          </a:p>
          <a:p>
            <a:r>
              <a:rPr lang="hr-HR" dirty="0"/>
              <a:t>Unutarnje funkcije koriste JUMP instrukcije za izvršavanje unutar ugovora, što ih čini bržima i jeftinijima za izvršavanje.</a:t>
            </a:r>
          </a:p>
          <a:p>
            <a:endParaRPr lang="hr-HR" dirty="0"/>
          </a:p>
          <a:p>
            <a:r>
              <a:rPr lang="hr-HR" dirty="0"/>
              <a:t>Unutarnje funkcije su efikasnije i smanjuju troškove gas-a jer se izvršavaju unutar istog ugovora bez potrebe za dodatnim pozivima.</a:t>
            </a:r>
          </a:p>
          <a:p>
            <a:endParaRPr lang="hr-HR" dirty="0"/>
          </a:p>
          <a:p>
            <a:r>
              <a:rPr lang="hr-HR" dirty="0"/>
              <a:t> Unutarnje funkcije su idealne za učestalu upotrebu i smanjenje složenosti pametnih ugovora, olakšavajući njihovo održavanje i razvoj.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EC0B13-A42D-4885-AB58-72E9CC0734AA}" type="slidenum">
              <a:rPr lang="hr-HR" smtClean="0"/>
              <a:t>10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5685350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hr-HR" dirty="0" err="1"/>
              <a:t>absoluteDifference</a:t>
            </a:r>
            <a:r>
              <a:rPr lang="hr-HR" dirty="0"/>
              <a:t> računa apsolutnu vrijednost razlike između dvaju brojeva.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hr-H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r-HR" dirty="0"/>
              <a:t>dok funkcija </a:t>
            </a:r>
            <a:r>
              <a:rPr lang="hr-HR" dirty="0" err="1"/>
              <a:t>fixedPointDivision</a:t>
            </a:r>
            <a:r>
              <a:rPr lang="hr-HR" dirty="0"/>
              <a:t> dijeli dva broja koristeći isti bazni faktor.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hr-H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r-HR" dirty="0"/>
              <a:t> Funkcija </a:t>
            </a:r>
            <a:r>
              <a:rPr lang="hr-HR" dirty="0" err="1"/>
              <a:t>fixedPointMultiplication</a:t>
            </a:r>
            <a:r>
              <a:rPr lang="hr-HR" dirty="0"/>
              <a:t> množi dva broja koristeći zadani bazni faktor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EC0B13-A42D-4885-AB58-72E9CC0734AA}" type="slidenum">
              <a:rPr lang="hr-HR" smtClean="0"/>
              <a:t>16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944247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r-HR"/>
              <a:t>Kliknite da biste uredili stil podnaslova matrice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835D7-ED58-44A2-A68D-99EB67C3B25F}" type="datetimeFigureOut">
              <a:rPr lang="hr-HR" smtClean="0"/>
              <a:t>11.6.2024.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70933-032E-4F9A-8BB0-8CD0D3120B2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7040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835D7-ED58-44A2-A68D-99EB67C3B25F}" type="datetimeFigureOut">
              <a:rPr lang="hr-HR" smtClean="0"/>
              <a:t>11.6.2024.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70933-032E-4F9A-8BB0-8CD0D3120B2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43060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sekci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835D7-ED58-44A2-A68D-99EB67C3B25F}" type="datetimeFigureOut">
              <a:rPr lang="hr-HR" smtClean="0"/>
              <a:t>11.6.2024.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70933-032E-4F9A-8BB0-8CD0D3120B2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97229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835D7-ED58-44A2-A68D-99EB67C3B25F}" type="datetimeFigureOut">
              <a:rPr lang="hr-HR" smtClean="0"/>
              <a:t>11.6.2024.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70933-032E-4F9A-8BB0-8CD0D3120B2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35005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835D7-ED58-44A2-A68D-99EB67C3B25F}" type="datetimeFigureOut">
              <a:rPr lang="hr-HR" smtClean="0"/>
              <a:t>11.6.2024.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70933-032E-4F9A-8BB0-8CD0D3120B2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396438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835D7-ED58-44A2-A68D-99EB67C3B25F}" type="datetimeFigureOut">
              <a:rPr lang="hr-HR" smtClean="0"/>
              <a:t>11.6.2024.</a:t>
            </a:fld>
            <a:endParaRPr lang="hr-H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70933-032E-4F9A-8BB0-8CD0D3120B2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74317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835D7-ED58-44A2-A68D-99EB67C3B25F}" type="datetimeFigureOut">
              <a:rPr lang="hr-HR" smtClean="0"/>
              <a:t>11.6.2024.</a:t>
            </a:fld>
            <a:endParaRPr lang="hr-H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70933-032E-4F9A-8BB0-8CD0D3120B2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183886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835D7-ED58-44A2-A68D-99EB67C3B25F}" type="datetimeFigureOut">
              <a:rPr lang="hr-HR" smtClean="0"/>
              <a:t>11.6.2024.</a:t>
            </a:fld>
            <a:endParaRPr lang="hr-H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70933-032E-4F9A-8BB0-8CD0D3120B2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03051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835D7-ED58-44A2-A68D-99EB67C3B25F}" type="datetimeFigureOut">
              <a:rPr lang="hr-HR" smtClean="0"/>
              <a:t>11.6.2024.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70933-032E-4F9A-8BB0-8CD0D3120B2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52398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ska 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835D7-ED58-44A2-A68D-99EB67C3B25F}" type="datetimeFigureOut">
              <a:rPr lang="hr-HR" smtClean="0"/>
              <a:t>11.6.2024.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70933-032E-4F9A-8BB0-8CD0D3120B2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73939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slov i o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835D7-ED58-44A2-A68D-99EB67C3B25F}" type="datetimeFigureOut">
              <a:rPr lang="hr-HR" smtClean="0"/>
              <a:t>11.6.2024.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70933-032E-4F9A-8BB0-8CD0D3120B2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05173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r-HR"/>
              <a:t>Kliknite da biste uredili matrice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835D7-ED58-44A2-A68D-99EB67C3B25F}" type="datetimeFigureOut">
              <a:rPr lang="hr-HR" smtClean="0"/>
              <a:t>11.6.2024.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70933-032E-4F9A-8BB0-8CD0D3120B27}" type="slidenum">
              <a:rPr lang="hr-HR" smtClean="0"/>
              <a:t>‹#›</a:t>
            </a:fld>
            <a:endParaRPr lang="hr-H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122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ica s nazi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835D7-ED58-44A2-A68D-99EB67C3B25F}" type="datetimeFigureOut">
              <a:rPr lang="hr-HR" smtClean="0"/>
              <a:t>11.6.2024.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70933-032E-4F9A-8BB0-8CD0D3120B2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19957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tup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835D7-ED58-44A2-A68D-99EB67C3B25F}" type="datetimeFigureOut">
              <a:rPr lang="hr-HR" smtClean="0"/>
              <a:t>11.6.2024.</a:t>
            </a:fld>
            <a:endParaRPr lang="hr-H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70933-032E-4F9A-8BB0-8CD0D3120B2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1560386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tupca sa slik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835D7-ED58-44A2-A68D-99EB67C3B25F}" type="datetimeFigureOut">
              <a:rPr lang="hr-HR" smtClean="0"/>
              <a:t>11.6.2024.</a:t>
            </a:fld>
            <a:endParaRPr lang="hr-H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70933-032E-4F9A-8BB0-8CD0D3120B2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692149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835D7-ED58-44A2-A68D-99EB67C3B25F}" type="datetimeFigureOut">
              <a:rPr lang="hr-HR" smtClean="0"/>
              <a:t>11.6.2024.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70933-032E-4F9A-8BB0-8CD0D3120B2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9940222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835D7-ED58-44A2-A68D-99EB67C3B25F}" type="datetimeFigureOut">
              <a:rPr lang="hr-HR" smtClean="0"/>
              <a:t>11.6.2024.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70933-032E-4F9A-8BB0-8CD0D3120B2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5036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61835D7-ED58-44A2-A68D-99EB67C3B25F}" type="datetimeFigureOut">
              <a:rPr lang="hr-HR" smtClean="0"/>
              <a:t>11.6.2024.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70933-032E-4F9A-8BB0-8CD0D3120B2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9664075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5577876-5313-49BC-726B-669D728074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r-HR" dirty="0" err="1"/>
              <a:t>Libraries</a:t>
            </a:r>
            <a:r>
              <a:rPr lang="hr-HR" dirty="0"/>
              <a:t> u </a:t>
            </a:r>
            <a:r>
              <a:rPr lang="hr-HR" dirty="0" err="1"/>
              <a:t>Solidity</a:t>
            </a:r>
            <a:r>
              <a:rPr lang="hr-HR" dirty="0"/>
              <a:t>-u</a:t>
            </a:r>
          </a:p>
        </p:txBody>
      </p:sp>
      <p:sp>
        <p:nvSpPr>
          <p:cNvPr id="4" name="Podnaslov 2">
            <a:extLst>
              <a:ext uri="{FF2B5EF4-FFF2-40B4-BE49-F238E27FC236}">
                <a16:creationId xmlns:a16="http://schemas.microsoft.com/office/drawing/2014/main" id="{27FB44FD-9D9C-3FA2-0EFC-10E6A0EC3B35}"/>
              </a:ext>
            </a:extLst>
          </p:cNvPr>
          <p:cNvSpPr txBox="1">
            <a:spLocks/>
          </p:cNvSpPr>
          <p:nvPr/>
        </p:nvSpPr>
        <p:spPr>
          <a:xfrm>
            <a:off x="7145868" y="5222874"/>
            <a:ext cx="4826000" cy="1025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hr-HR" dirty="0"/>
              <a:t>Autor: Zdravko Blažević</a:t>
            </a:r>
          </a:p>
          <a:p>
            <a:pPr algn="l"/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491905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A315833-95A2-CAE8-E8A7-1A14C2865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1259"/>
            <a:ext cx="10515600" cy="1325563"/>
          </a:xfrm>
        </p:spPr>
        <p:txBody>
          <a:bodyPr/>
          <a:lstStyle/>
          <a:p>
            <a:r>
              <a:rPr lang="hr-HR" dirty="0" err="1"/>
              <a:t>Ethereum</a:t>
            </a:r>
            <a:r>
              <a:rPr lang="hr-HR" dirty="0"/>
              <a:t> platforma i </a:t>
            </a:r>
            <a:r>
              <a:rPr lang="hr-HR" dirty="0" err="1"/>
              <a:t>Solidity</a:t>
            </a:r>
            <a:endParaRPr lang="hr-HR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39243E1A-A4C6-B556-21E8-6A2A52E7E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 Specijaliziran, </a:t>
            </a:r>
            <a:r>
              <a:rPr lang="hr-HR" dirty="0" err="1"/>
              <a:t>Ethereum</a:t>
            </a:r>
            <a:r>
              <a:rPr lang="hr-HR" dirty="0"/>
              <a:t> </a:t>
            </a:r>
            <a:r>
              <a:rPr lang="hr-HR" dirty="0" err="1"/>
              <a:t>blockchain</a:t>
            </a:r>
            <a:endParaRPr lang="hr-HR" dirty="0"/>
          </a:p>
          <a:p>
            <a:pPr marL="0" indent="0">
              <a:buNone/>
            </a:pPr>
            <a:endParaRPr lang="hr-HR" dirty="0"/>
          </a:p>
          <a:p>
            <a:r>
              <a:rPr lang="hr-HR" dirty="0"/>
              <a:t> Pravila, poslovna logika</a:t>
            </a:r>
          </a:p>
          <a:p>
            <a:endParaRPr lang="hr-HR" dirty="0"/>
          </a:p>
          <a:p>
            <a:r>
              <a:rPr lang="hr-HR" dirty="0"/>
              <a:t>nepromjenjivi, samostalno izvršavanje</a:t>
            </a:r>
          </a:p>
        </p:txBody>
      </p:sp>
    </p:spTree>
    <p:extLst>
      <p:ext uri="{BB962C8B-B14F-4D97-AF65-F5344CB8AC3E}">
        <p14:creationId xmlns:p14="http://schemas.microsoft.com/office/powerpoint/2010/main" val="3637417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C72EA03-F0EA-EF40-A165-2491FDDA7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Biblioteke 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A2199A45-205F-8F69-EA88-0836818C2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 Ponovna upotreba</a:t>
            </a:r>
          </a:p>
          <a:p>
            <a:endParaRPr lang="hr-HR" dirty="0"/>
          </a:p>
          <a:p>
            <a:r>
              <a:rPr lang="hr-HR" dirty="0"/>
              <a:t>Organizacija, čistoća koda</a:t>
            </a:r>
          </a:p>
          <a:p>
            <a:endParaRPr lang="hr-HR" dirty="0"/>
          </a:p>
          <a:p>
            <a:r>
              <a:rPr lang="hr-HR" dirty="0"/>
              <a:t>Smanjenje grešaka, sigurnost</a:t>
            </a:r>
          </a:p>
          <a:p>
            <a:endParaRPr lang="hr-HR" dirty="0"/>
          </a:p>
          <a:p>
            <a:r>
              <a:rPr lang="hr-HR" dirty="0"/>
              <a:t>Modularnost</a:t>
            </a:r>
          </a:p>
        </p:txBody>
      </p:sp>
    </p:spTree>
    <p:extLst>
      <p:ext uri="{BB962C8B-B14F-4D97-AF65-F5344CB8AC3E}">
        <p14:creationId xmlns:p14="http://schemas.microsoft.com/office/powerpoint/2010/main" val="2603993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367F0FB-7970-665F-FC81-F9846244B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 Prednosti biblioteka u </a:t>
            </a:r>
            <a:r>
              <a:rPr lang="hr-HR" dirty="0" err="1"/>
              <a:t>Solidity</a:t>
            </a:r>
            <a:r>
              <a:rPr lang="hr-HR" dirty="0"/>
              <a:t>-u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D4530B7-F8A4-DC44-9F7F-BAEE278E2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Modularnost i ponovna upotreba koda</a:t>
            </a:r>
          </a:p>
          <a:p>
            <a:endParaRPr lang="hr-HR" dirty="0"/>
          </a:p>
          <a:p>
            <a:r>
              <a:rPr lang="hr-HR" dirty="0"/>
              <a:t>Pojednostavljenje razvoja</a:t>
            </a:r>
          </a:p>
          <a:p>
            <a:endParaRPr lang="hr-HR" dirty="0"/>
          </a:p>
          <a:p>
            <a:r>
              <a:rPr lang="hr-HR" dirty="0"/>
              <a:t>Suradnja i standardizacija</a:t>
            </a:r>
          </a:p>
        </p:txBody>
      </p:sp>
    </p:spTree>
    <p:extLst>
      <p:ext uri="{BB962C8B-B14F-4D97-AF65-F5344CB8AC3E}">
        <p14:creationId xmlns:p14="http://schemas.microsoft.com/office/powerpoint/2010/main" val="47512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97BA8FD-7D76-394B-3C41-8BE4EB19F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Ograničenja biblioteka u </a:t>
            </a:r>
            <a:r>
              <a:rPr lang="hr-HR" dirty="0" err="1"/>
              <a:t>Solidity</a:t>
            </a:r>
            <a:r>
              <a:rPr lang="hr-HR" dirty="0"/>
              <a:t>-u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F2210CD3-0C05-1E9A-A6D9-572DEE126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Nedostatak nasljeđivanja</a:t>
            </a:r>
          </a:p>
          <a:p>
            <a:endParaRPr lang="hr-HR" dirty="0"/>
          </a:p>
          <a:p>
            <a:r>
              <a:rPr lang="hr-HR" dirty="0"/>
              <a:t>Nedostatak funkcionalnosti za upravljanje </a:t>
            </a:r>
            <a:r>
              <a:rPr lang="hr-HR" dirty="0" err="1"/>
              <a:t>etherom</a:t>
            </a:r>
            <a:endParaRPr lang="hr-HR" dirty="0"/>
          </a:p>
          <a:p>
            <a:pPr marL="0" indent="0">
              <a:buNone/>
            </a:pPr>
            <a:endParaRPr lang="hr-HR" dirty="0"/>
          </a:p>
          <a:p>
            <a:r>
              <a:rPr lang="hr-HR" dirty="0"/>
              <a:t>Neuništivost biblioteka</a:t>
            </a:r>
          </a:p>
        </p:txBody>
      </p:sp>
    </p:spTree>
    <p:extLst>
      <p:ext uri="{BB962C8B-B14F-4D97-AF65-F5344CB8AC3E}">
        <p14:creationId xmlns:p14="http://schemas.microsoft.com/office/powerpoint/2010/main" val="1063907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3CE9274-5087-0299-B4F4-D76B9AAD7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dirty="0"/>
              <a:t>Kreiranje biblioteke u </a:t>
            </a:r>
            <a:r>
              <a:rPr lang="hr-HR" dirty="0" err="1"/>
              <a:t>Solidity</a:t>
            </a:r>
            <a:r>
              <a:rPr lang="hr-HR" dirty="0"/>
              <a:t>-u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BC34310E-7189-ABAB-7E46-93F6F3AD8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Sintaksa: Korištenje ključne riječi "</a:t>
            </a:r>
            <a:r>
              <a:rPr lang="hr-HR" dirty="0" err="1"/>
              <a:t>library</a:t>
            </a:r>
            <a:r>
              <a:rPr lang="hr-HR" dirty="0"/>
              <a:t>" umjesto "</a:t>
            </a:r>
            <a:r>
              <a:rPr lang="hr-HR" dirty="0" err="1"/>
              <a:t>contract</a:t>
            </a:r>
            <a:r>
              <a:rPr lang="hr-HR" dirty="0"/>
              <a:t>".</a:t>
            </a: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F9C02A63-E758-151A-2F76-2C5E73656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062" y="3283527"/>
            <a:ext cx="6930740" cy="162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775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ABA4FBC-6A6E-D85A-AAF5-8C318C8D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Korištenje kreirane biblioteke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BCC7B2FB-B954-6A7C-4823-FADA20A92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dirty="0"/>
          </a:p>
          <a:p>
            <a:endParaRPr lang="hr-HR" dirty="0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1DF55DB5-738F-A829-7932-80258B836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841" y="2263970"/>
            <a:ext cx="4325759" cy="761131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425DF2FF-C83E-0AF6-7E13-DCAF77210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4788" y="3669205"/>
            <a:ext cx="7542541" cy="364752"/>
          </a:xfrm>
          <a:prstGeom prst="rect">
            <a:avLst/>
          </a:prstGeom>
        </p:spPr>
      </p:pic>
      <p:pic>
        <p:nvPicPr>
          <p:cNvPr id="8" name="Slika 7">
            <a:extLst>
              <a:ext uri="{FF2B5EF4-FFF2-40B4-BE49-F238E27FC236}">
                <a16:creationId xmlns:a16="http://schemas.microsoft.com/office/drawing/2014/main" id="{48B70B38-37AB-81BC-EC79-266BF58F58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7841" y="4678061"/>
            <a:ext cx="3892875" cy="364752"/>
          </a:xfrm>
          <a:prstGeom prst="rect">
            <a:avLst/>
          </a:prstGeom>
          <a:noFill/>
        </p:spPr>
      </p:pic>
      <p:sp>
        <p:nvSpPr>
          <p:cNvPr id="11" name="TekstniOkvir 10">
            <a:extLst>
              <a:ext uri="{FF2B5EF4-FFF2-40B4-BE49-F238E27FC236}">
                <a16:creationId xmlns:a16="http://schemas.microsoft.com/office/drawing/2014/main" id="{D37B5D9D-5289-7A19-0EC2-FD76EDEF6145}"/>
              </a:ext>
            </a:extLst>
          </p:cNvPr>
          <p:cNvSpPr txBox="1"/>
          <p:nvPr/>
        </p:nvSpPr>
        <p:spPr>
          <a:xfrm>
            <a:off x="5672667" y="5089144"/>
            <a:ext cx="525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Ako želimo da biblioteka može koristi podatke bilo kojeg tipa, potrebno je umjesto tipa podatak postaviti simbol zvjezdice (*).</a:t>
            </a:r>
          </a:p>
        </p:txBody>
      </p:sp>
    </p:spTree>
    <p:extLst>
      <p:ext uri="{BB962C8B-B14F-4D97-AF65-F5344CB8AC3E}">
        <p14:creationId xmlns:p14="http://schemas.microsoft.com/office/powerpoint/2010/main" val="3571404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AD41461-4FBF-1AB0-B04D-31010AB85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Vanjske funkcije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118DF192-A538-D874-1F6E-F5C505B55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Implementacija kao zasebni ugovori</a:t>
            </a:r>
          </a:p>
          <a:p>
            <a:endParaRPr lang="hr-HR" dirty="0"/>
          </a:p>
          <a:p>
            <a:r>
              <a:rPr lang="hr-HR" dirty="0"/>
              <a:t>DELEGATECALL</a:t>
            </a:r>
          </a:p>
          <a:p>
            <a:endParaRPr lang="hr-HR" dirty="0"/>
          </a:p>
          <a:p>
            <a:r>
              <a:rPr lang="hr-HR" dirty="0"/>
              <a:t>Ponovna upotreba koda</a:t>
            </a:r>
          </a:p>
          <a:p>
            <a:endParaRPr lang="hr-HR" dirty="0"/>
          </a:p>
          <a:p>
            <a:r>
              <a:rPr lang="hr-HR" dirty="0"/>
              <a:t>Troškovi i složenost</a:t>
            </a:r>
          </a:p>
        </p:txBody>
      </p:sp>
    </p:spTree>
    <p:extLst>
      <p:ext uri="{BB962C8B-B14F-4D97-AF65-F5344CB8AC3E}">
        <p14:creationId xmlns:p14="http://schemas.microsoft.com/office/powerpoint/2010/main" val="657267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zervirano mjesto sadržaja 3">
            <a:extLst>
              <a:ext uri="{FF2B5EF4-FFF2-40B4-BE49-F238E27FC236}">
                <a16:creationId xmlns:a16="http://schemas.microsoft.com/office/drawing/2014/main" id="{5DCA3413-B745-0C08-3A0B-FCF4166B06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7204" y="742090"/>
            <a:ext cx="8648742" cy="1611643"/>
          </a:xfrm>
          <a:prstGeom prst="rect">
            <a:avLst/>
          </a:prstGeom>
        </p:spPr>
      </p:pic>
      <p:pic>
        <p:nvPicPr>
          <p:cNvPr id="5" name="Slika 4" descr="Slika na kojoj se prikazuje tekst, snimka zaslona, Font&#10;&#10;Opis je automatski generiran">
            <a:extLst>
              <a:ext uri="{FF2B5EF4-FFF2-40B4-BE49-F238E27FC236}">
                <a16:creationId xmlns:a16="http://schemas.microsoft.com/office/drawing/2014/main" id="{7010790B-0CFE-71D0-0860-4EB520D970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0272" y="3832621"/>
            <a:ext cx="6337143" cy="17877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88028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A764232-DCD4-87C8-DF57-008E9CA0E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Unutarnje Funkcije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66334476-92F4-E700-78FF-0D24EED98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Direktno uključene u ugovore</a:t>
            </a:r>
          </a:p>
          <a:p>
            <a:endParaRPr lang="hr-HR" dirty="0"/>
          </a:p>
          <a:p>
            <a:r>
              <a:rPr lang="hr-HR" dirty="0"/>
              <a:t>Koriste JUMP instrukcije.</a:t>
            </a:r>
          </a:p>
          <a:p>
            <a:endParaRPr lang="hr-HR" dirty="0"/>
          </a:p>
          <a:p>
            <a:r>
              <a:rPr lang="hr-HR" dirty="0"/>
              <a:t>manji troškovi gas-a, efikasnost</a:t>
            </a:r>
          </a:p>
          <a:p>
            <a:endParaRPr lang="hr-HR" dirty="0"/>
          </a:p>
          <a:p>
            <a:r>
              <a:rPr lang="hr-HR" dirty="0" err="1"/>
              <a:t>Čestala</a:t>
            </a:r>
            <a:r>
              <a:rPr lang="hr-HR" dirty="0"/>
              <a:t> upotreba, jednostavnost održavanja</a:t>
            </a:r>
          </a:p>
        </p:txBody>
      </p:sp>
    </p:spTree>
    <p:extLst>
      <p:ext uri="{BB962C8B-B14F-4D97-AF65-F5344CB8AC3E}">
        <p14:creationId xmlns:p14="http://schemas.microsoft.com/office/powerpoint/2010/main" val="2917355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zervirano mjesto sadržaja 3">
            <a:extLst>
              <a:ext uri="{FF2B5EF4-FFF2-40B4-BE49-F238E27FC236}">
                <a16:creationId xmlns:a16="http://schemas.microsoft.com/office/drawing/2014/main" id="{01E780D4-D1BF-23FC-045D-196F296928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6132" y="1299948"/>
            <a:ext cx="7463819" cy="1468652"/>
          </a:xfrm>
          <a:prstGeom prst="rect">
            <a:avLst/>
          </a:prstGeom>
        </p:spPr>
      </p:pic>
      <p:pic>
        <p:nvPicPr>
          <p:cNvPr id="5" name="Slika 4">
            <a:extLst>
              <a:ext uri="{FF2B5EF4-FFF2-40B4-BE49-F238E27FC236}">
                <a16:creationId xmlns:a16="http://schemas.microsoft.com/office/drawing/2014/main" id="{D79A27FF-9D9A-BF74-725F-2EB932570B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485" y="3810000"/>
            <a:ext cx="6736806" cy="194733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67540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046184F-8B32-8D86-566C-36AB914A2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Primjer biblioteke - </a:t>
            </a:r>
            <a:r>
              <a:rPr lang="hr-HR" dirty="0" err="1"/>
              <a:t>ArrayLibrary</a:t>
            </a:r>
            <a:endParaRPr lang="hr-HR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72160E6C-03A7-33FC-D696-C1FA1B31C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Dodavanje </a:t>
            </a:r>
            <a:r>
              <a:rPr lang="hr-HR" dirty="0" err="1"/>
              <a:t>stringa</a:t>
            </a:r>
            <a:r>
              <a:rPr lang="hr-HR" dirty="0"/>
              <a:t>: Funkcija </a:t>
            </a:r>
            <a:r>
              <a:rPr lang="hr-HR" dirty="0" err="1"/>
              <a:t>addString</a:t>
            </a:r>
            <a:r>
              <a:rPr lang="hr-HR" dirty="0"/>
              <a:t>.</a:t>
            </a:r>
          </a:p>
          <a:p>
            <a:pPr marL="0" indent="0">
              <a:buNone/>
            </a:pPr>
            <a:endParaRPr lang="hr-HR" dirty="0"/>
          </a:p>
          <a:p>
            <a:r>
              <a:rPr lang="hr-HR" dirty="0"/>
              <a:t>Dohvaćanje duljine niza</a:t>
            </a:r>
          </a:p>
          <a:p>
            <a:pPr marL="0" indent="0">
              <a:buNone/>
            </a:pPr>
            <a:endParaRPr lang="hr-HR" dirty="0"/>
          </a:p>
          <a:p>
            <a:r>
              <a:rPr lang="hr-HR" dirty="0"/>
              <a:t>Provjera postojanja </a:t>
            </a:r>
            <a:r>
              <a:rPr lang="hr-HR" dirty="0" err="1"/>
              <a:t>string</a:t>
            </a:r>
            <a:endParaRPr lang="hr-HR" dirty="0"/>
          </a:p>
          <a:p>
            <a:pPr marL="0" indent="0">
              <a:buNone/>
            </a:pPr>
            <a:endParaRPr lang="hr-HR" dirty="0"/>
          </a:p>
          <a:p>
            <a:r>
              <a:rPr lang="hr-HR" dirty="0"/>
              <a:t>Uklanjanje </a:t>
            </a:r>
            <a:r>
              <a:rPr lang="hr-HR" dirty="0" err="1"/>
              <a:t>stringa</a:t>
            </a:r>
            <a:r>
              <a:rPr lang="hr-HR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102951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zervirano mjesto sadržaja 3" descr="Slika na kojoj se prikazuje tekst, snimka zaslona, softver, Multimedijski softver&#10;&#10;Opis je automatski generiran">
            <a:extLst>
              <a:ext uri="{FF2B5EF4-FFF2-40B4-BE49-F238E27FC236}">
                <a16:creationId xmlns:a16="http://schemas.microsoft.com/office/drawing/2014/main" id="{D5080E95-EBD3-01F8-381E-D5C93718F2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3969" y="643466"/>
            <a:ext cx="9564062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77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ka 3">
            <a:extLst>
              <a:ext uri="{FF2B5EF4-FFF2-40B4-BE49-F238E27FC236}">
                <a16:creationId xmlns:a16="http://schemas.microsoft.com/office/drawing/2014/main" id="{9645E63A-8BF6-C487-40DB-AE01BB464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262" y="1199221"/>
            <a:ext cx="6612973" cy="4459557"/>
          </a:xfrm>
          <a:prstGeom prst="rect">
            <a:avLst/>
          </a:prstGeom>
        </p:spPr>
      </p:pic>
      <p:pic>
        <p:nvPicPr>
          <p:cNvPr id="5" name="Slika 4">
            <a:extLst>
              <a:ext uri="{FF2B5EF4-FFF2-40B4-BE49-F238E27FC236}">
                <a16:creationId xmlns:a16="http://schemas.microsoft.com/office/drawing/2014/main" id="{8C7B56E1-1CE3-9E6A-F3C6-9DB9014FC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5877" y="1813887"/>
            <a:ext cx="4206123" cy="3230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209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42420EE-8F80-3B96-CBC3-970CECF35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Popularne biblioteke - </a:t>
            </a:r>
            <a:r>
              <a:rPr lang="hr-HR" dirty="0" err="1"/>
              <a:t>SafeMath</a:t>
            </a:r>
            <a:endParaRPr lang="hr-HR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C11CA687-1975-A291-F706-E934C6C08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Osnovne funkcije: Množenje, dijeljenje, zbrajanje, oduzimanje s provjerama grešaka.</a:t>
            </a:r>
          </a:p>
          <a:p>
            <a:r>
              <a:rPr lang="hr-HR" dirty="0"/>
              <a:t>Dodatne funkcije: min, </a:t>
            </a:r>
            <a:r>
              <a:rPr lang="hr-HR" dirty="0" err="1"/>
              <a:t>max</a:t>
            </a:r>
            <a:r>
              <a:rPr lang="hr-HR" dirty="0"/>
              <a:t>, </a:t>
            </a:r>
            <a:r>
              <a:rPr lang="hr-HR" dirty="0" err="1"/>
              <a:t>abs</a:t>
            </a:r>
            <a:r>
              <a:rPr lang="hr-HR" dirty="0"/>
              <a:t>, getInt256Min, getInt256Max.</a:t>
            </a:r>
          </a:p>
        </p:txBody>
      </p:sp>
    </p:spTree>
    <p:extLst>
      <p:ext uri="{BB962C8B-B14F-4D97-AF65-F5344CB8AC3E}">
        <p14:creationId xmlns:p14="http://schemas.microsoft.com/office/powerpoint/2010/main" val="13421831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09BAC83-D2DA-68BC-86F7-1145EE9E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 Primjer korištenja - </a:t>
            </a:r>
            <a:r>
              <a:rPr lang="hr-HR" dirty="0" err="1"/>
              <a:t>SafeMath</a:t>
            </a:r>
            <a:endParaRPr lang="hr-HR" dirty="0"/>
          </a:p>
        </p:txBody>
      </p:sp>
      <p:pic>
        <p:nvPicPr>
          <p:cNvPr id="4" name="Rezervirano mjesto sadržaja 3">
            <a:extLst>
              <a:ext uri="{FF2B5EF4-FFF2-40B4-BE49-F238E27FC236}">
                <a16:creationId xmlns:a16="http://schemas.microsoft.com/office/drawing/2014/main" id="{E11B0B1E-FCCD-6BE7-5B03-AD84976120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3399" y="2373819"/>
            <a:ext cx="6922085" cy="3241526"/>
          </a:xfrm>
          <a:prstGeom prst="rect">
            <a:avLst/>
          </a:prstGeom>
        </p:spPr>
      </p:pic>
      <p:pic>
        <p:nvPicPr>
          <p:cNvPr id="5" name="Slika 4">
            <a:extLst>
              <a:ext uri="{FF2B5EF4-FFF2-40B4-BE49-F238E27FC236}">
                <a16:creationId xmlns:a16="http://schemas.microsoft.com/office/drawing/2014/main" id="{3B14E80C-2789-27A4-5B9B-98FEFC6DD2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6539" y="2115502"/>
            <a:ext cx="3732062" cy="423233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17971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ED2B63A-DED9-3692-EB34-6BC6CD37A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Popularne biblioteke - </a:t>
            </a:r>
            <a:r>
              <a:rPr lang="hr-HR" dirty="0" err="1"/>
              <a:t>Strings</a:t>
            </a:r>
            <a:endParaRPr lang="hr-HR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7FD560D9-374E-E4D8-66B6-1D8CB778B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Ona omogućava jednostavnije upravljanje i manipulaciju </a:t>
            </a:r>
            <a:r>
              <a:rPr lang="hr-HR" dirty="0" err="1"/>
              <a:t>stringovima</a:t>
            </a:r>
            <a:endParaRPr lang="hr-HR" dirty="0"/>
          </a:p>
          <a:p>
            <a:r>
              <a:rPr lang="hr-HR" dirty="0"/>
              <a:t>Razdvajanja (</a:t>
            </a:r>
            <a:r>
              <a:rPr lang="hr-HR" dirty="0" err="1"/>
              <a:t>split</a:t>
            </a:r>
            <a:r>
              <a:rPr lang="hr-HR" dirty="0"/>
              <a:t>), spajanja (</a:t>
            </a:r>
            <a:r>
              <a:rPr lang="hr-HR" dirty="0" err="1"/>
              <a:t>join</a:t>
            </a:r>
            <a:r>
              <a:rPr lang="hr-HR" dirty="0"/>
              <a:t>), pronalaženja </a:t>
            </a:r>
            <a:r>
              <a:rPr lang="hr-HR" dirty="0" err="1"/>
              <a:t>podstringova</a:t>
            </a:r>
            <a:r>
              <a:rPr lang="hr-HR" dirty="0"/>
              <a:t>, i obrnutog redoslijeda (reverse).</a:t>
            </a:r>
          </a:p>
        </p:txBody>
      </p:sp>
    </p:spTree>
    <p:extLst>
      <p:ext uri="{BB962C8B-B14F-4D97-AF65-F5344CB8AC3E}">
        <p14:creationId xmlns:p14="http://schemas.microsoft.com/office/powerpoint/2010/main" val="2485528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zervirano mjesto sadržaja 3">
            <a:extLst>
              <a:ext uri="{FF2B5EF4-FFF2-40B4-BE49-F238E27FC236}">
                <a16:creationId xmlns:a16="http://schemas.microsoft.com/office/drawing/2014/main" id="{21685A39-EF5F-8BFF-F913-18DF2FE0F5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1583" y="948006"/>
            <a:ext cx="6068817" cy="4295252"/>
          </a:xfrm>
          <a:prstGeom prst="rect">
            <a:avLst/>
          </a:prstGeom>
        </p:spPr>
      </p:pic>
      <p:pic>
        <p:nvPicPr>
          <p:cNvPr id="5" name="Slika 4" descr="Slika na kojoj se prikazuje tekst, snimka zaslona, Font&#10;&#10;Opis je automatski generiran">
            <a:extLst>
              <a:ext uri="{FF2B5EF4-FFF2-40B4-BE49-F238E27FC236}">
                <a16:creationId xmlns:a16="http://schemas.microsoft.com/office/drawing/2014/main" id="{8ADAD395-1C64-9A6F-47E1-54C825F545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1654" y="1734329"/>
            <a:ext cx="3322180" cy="28653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160540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8DB2D2E-074D-95DD-74EF-A2EF99E6C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6200" y="2766218"/>
            <a:ext cx="3987800" cy="1325563"/>
          </a:xfrm>
        </p:spPr>
        <p:txBody>
          <a:bodyPr/>
          <a:lstStyle/>
          <a:p>
            <a:pPr algn="ctr"/>
            <a:r>
              <a:rPr lang="hr-HR" dirty="0"/>
              <a:t>Hvala na pažnji!</a:t>
            </a:r>
          </a:p>
        </p:txBody>
      </p:sp>
    </p:spTree>
    <p:extLst>
      <p:ext uri="{BB962C8B-B14F-4D97-AF65-F5344CB8AC3E}">
        <p14:creationId xmlns:p14="http://schemas.microsoft.com/office/powerpoint/2010/main" val="652244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213</TotalTime>
  <Words>615</Words>
  <Application>Microsoft Office PowerPoint</Application>
  <PresentationFormat>Široki zaslon</PresentationFormat>
  <Paragraphs>114</Paragraphs>
  <Slides>19</Slides>
  <Notes>8</Notes>
  <HiddenSlides>0</HiddenSlides>
  <MMClips>0</MMClips>
  <ScaleCrop>false</ScaleCrop>
  <HeadingPairs>
    <vt:vector size="6" baseType="variant">
      <vt:variant>
        <vt:lpstr>Korišteni fontovi</vt:lpstr>
      </vt:variant>
      <vt:variant>
        <vt:i4>4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19</vt:i4>
      </vt:variant>
    </vt:vector>
  </HeadingPairs>
  <TitlesOfParts>
    <vt:vector size="24" baseType="lpstr">
      <vt:lpstr>Aptos</vt:lpstr>
      <vt:lpstr>Arial</vt:lpstr>
      <vt:lpstr>Century Gothic</vt:lpstr>
      <vt:lpstr>Wingdings 3</vt:lpstr>
      <vt:lpstr>Ion</vt:lpstr>
      <vt:lpstr>Libraries u Solidity-u</vt:lpstr>
      <vt:lpstr>Ethereum platforma i Solidity</vt:lpstr>
      <vt:lpstr>Biblioteke </vt:lpstr>
      <vt:lpstr> Prednosti biblioteka u Solidity-u</vt:lpstr>
      <vt:lpstr>Ograničenja biblioteka u Solidity-u</vt:lpstr>
      <vt:lpstr>Kreiranje biblioteke u Solidity-u</vt:lpstr>
      <vt:lpstr>Korištenje kreirane biblioteke</vt:lpstr>
      <vt:lpstr>Vanjske funkcije</vt:lpstr>
      <vt:lpstr>PowerPoint prezentacija</vt:lpstr>
      <vt:lpstr>Unutarnje Funkcije</vt:lpstr>
      <vt:lpstr>PowerPoint prezentacija</vt:lpstr>
      <vt:lpstr>Primjer biblioteke - ArrayLibrary</vt:lpstr>
      <vt:lpstr>PowerPoint prezentacija</vt:lpstr>
      <vt:lpstr>PowerPoint prezentacija</vt:lpstr>
      <vt:lpstr>Popularne biblioteke - SafeMath</vt:lpstr>
      <vt:lpstr> Primjer korištenja - SafeMath</vt:lpstr>
      <vt:lpstr>Popularne biblioteke - Strings</vt:lpstr>
      <vt:lpstr>PowerPoint prezentacija</vt:lpstr>
      <vt:lpstr>Hvala na pažnji!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Zdravko Blažević</dc:creator>
  <cp:lastModifiedBy>Zdravko Blažević</cp:lastModifiedBy>
  <cp:revision>2</cp:revision>
  <dcterms:created xsi:type="dcterms:W3CDTF">2024-06-11T06:30:43Z</dcterms:created>
  <dcterms:modified xsi:type="dcterms:W3CDTF">2024-06-11T10:03:55Z</dcterms:modified>
</cp:coreProperties>
</file>