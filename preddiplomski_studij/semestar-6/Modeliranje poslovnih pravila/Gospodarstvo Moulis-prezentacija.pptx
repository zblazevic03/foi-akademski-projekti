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rednji stil 2 - Isticanj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67104" autoAdjust="0"/>
  </p:normalViewPr>
  <p:slideViewPr>
    <p:cSldViewPr snapToGrid="0">
      <p:cViewPr varScale="1">
        <p:scale>
          <a:sx n="55" d="100"/>
          <a:sy n="55" d="100"/>
        </p:scale>
        <p:origin x="174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094C2C7-89EA-47FA-9460-285746CB4352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CF81658-1C37-4D60-BF6F-A1958E9D7D15}">
      <dgm:prSet/>
      <dgm:spPr/>
      <dgm:t>
        <a:bodyPr/>
        <a:lstStyle/>
        <a:p>
          <a:r>
            <a:rPr lang="hr-HR"/>
            <a:t>Korisnici sustava</a:t>
          </a:r>
          <a:endParaRPr lang="en-US"/>
        </a:p>
      </dgm:t>
    </dgm:pt>
    <dgm:pt modelId="{0D692475-D4A1-4ABB-AF91-3CEE78F54FA6}" type="parTrans" cxnId="{6845555E-D701-4DB3-A531-CF6F4F6B9936}">
      <dgm:prSet/>
      <dgm:spPr/>
      <dgm:t>
        <a:bodyPr/>
        <a:lstStyle/>
        <a:p>
          <a:endParaRPr lang="en-US"/>
        </a:p>
      </dgm:t>
    </dgm:pt>
    <dgm:pt modelId="{6D718409-C826-48BC-BE72-E4D97330139B}" type="sibTrans" cxnId="{6845555E-D701-4DB3-A531-CF6F4F6B9936}">
      <dgm:prSet/>
      <dgm:spPr/>
      <dgm:t>
        <a:bodyPr/>
        <a:lstStyle/>
        <a:p>
          <a:endParaRPr lang="en-US"/>
        </a:p>
      </dgm:t>
    </dgm:pt>
    <dgm:pt modelId="{0218C4AE-0108-4ECF-889B-8524142AA200}">
      <dgm:prSet/>
      <dgm:spPr/>
      <dgm:t>
        <a:bodyPr/>
        <a:lstStyle/>
        <a:p>
          <a:r>
            <a:rPr lang="hr-HR"/>
            <a:t>Vlasnik gospodarstva</a:t>
          </a:r>
          <a:endParaRPr lang="en-US"/>
        </a:p>
      </dgm:t>
    </dgm:pt>
    <dgm:pt modelId="{EA79E013-C608-4A57-95C0-8FC1461E77C6}" type="parTrans" cxnId="{79819C0A-245F-4E98-A7EB-368F39816425}">
      <dgm:prSet/>
      <dgm:spPr/>
      <dgm:t>
        <a:bodyPr/>
        <a:lstStyle/>
        <a:p>
          <a:endParaRPr lang="en-US"/>
        </a:p>
      </dgm:t>
    </dgm:pt>
    <dgm:pt modelId="{69538780-0373-4DB4-8AAB-1A0B65DEF6C9}" type="sibTrans" cxnId="{79819C0A-245F-4E98-A7EB-368F39816425}">
      <dgm:prSet/>
      <dgm:spPr/>
      <dgm:t>
        <a:bodyPr/>
        <a:lstStyle/>
        <a:p>
          <a:endParaRPr lang="en-US"/>
        </a:p>
      </dgm:t>
    </dgm:pt>
    <dgm:pt modelId="{68A1A35A-3F76-4351-8050-6E8310206ADB}">
      <dgm:prSet/>
      <dgm:spPr/>
      <dgm:t>
        <a:bodyPr/>
        <a:lstStyle/>
        <a:p>
          <a:r>
            <a:rPr lang="hr-HR"/>
            <a:t>Upravitelji proizvodnje </a:t>
          </a:r>
          <a:endParaRPr lang="en-US"/>
        </a:p>
      </dgm:t>
    </dgm:pt>
    <dgm:pt modelId="{27A15CF4-BCE1-411C-89C7-008F90C5A7B4}" type="parTrans" cxnId="{AFCE8B04-8995-4BB1-9A53-4AC93C474C94}">
      <dgm:prSet/>
      <dgm:spPr/>
      <dgm:t>
        <a:bodyPr/>
        <a:lstStyle/>
        <a:p>
          <a:endParaRPr lang="en-US"/>
        </a:p>
      </dgm:t>
    </dgm:pt>
    <dgm:pt modelId="{3A42B971-6745-4043-A3FB-BAF9E69D55FC}" type="sibTrans" cxnId="{AFCE8B04-8995-4BB1-9A53-4AC93C474C94}">
      <dgm:prSet/>
      <dgm:spPr/>
      <dgm:t>
        <a:bodyPr/>
        <a:lstStyle/>
        <a:p>
          <a:endParaRPr lang="en-US"/>
        </a:p>
      </dgm:t>
    </dgm:pt>
    <dgm:pt modelId="{A68A421A-71ED-440A-9B07-A855AB3E8920}">
      <dgm:prSet/>
      <dgm:spPr/>
      <dgm:t>
        <a:bodyPr/>
        <a:lstStyle/>
        <a:p>
          <a:r>
            <a:rPr lang="hr-HR"/>
            <a:t>Agronom </a:t>
          </a:r>
          <a:endParaRPr lang="en-US"/>
        </a:p>
      </dgm:t>
    </dgm:pt>
    <dgm:pt modelId="{8A464F02-D064-44F0-B6DF-97701DBB4802}" type="parTrans" cxnId="{72D77891-9D85-4095-BADB-A32A9555903C}">
      <dgm:prSet/>
      <dgm:spPr/>
      <dgm:t>
        <a:bodyPr/>
        <a:lstStyle/>
        <a:p>
          <a:endParaRPr lang="en-US"/>
        </a:p>
      </dgm:t>
    </dgm:pt>
    <dgm:pt modelId="{22052F7A-A283-4C45-B64C-28800C3D92AA}" type="sibTrans" cxnId="{72D77891-9D85-4095-BADB-A32A9555903C}">
      <dgm:prSet/>
      <dgm:spPr/>
      <dgm:t>
        <a:bodyPr/>
        <a:lstStyle/>
        <a:p>
          <a:endParaRPr lang="en-US"/>
        </a:p>
      </dgm:t>
    </dgm:pt>
    <dgm:pt modelId="{3AC8901E-1FEF-4978-ABF9-A73F4310FCCF}">
      <dgm:prSet/>
      <dgm:spPr/>
      <dgm:t>
        <a:bodyPr/>
        <a:lstStyle/>
        <a:p>
          <a:r>
            <a:rPr lang="hr-HR"/>
            <a:t>Koristi sustava</a:t>
          </a:r>
          <a:endParaRPr lang="en-US"/>
        </a:p>
      </dgm:t>
    </dgm:pt>
    <dgm:pt modelId="{8CFD65E5-1873-4101-A2BF-6D10269D20F6}" type="parTrans" cxnId="{EE2C8009-0F48-4834-BE7A-368954D13620}">
      <dgm:prSet/>
      <dgm:spPr/>
      <dgm:t>
        <a:bodyPr/>
        <a:lstStyle/>
        <a:p>
          <a:endParaRPr lang="en-US"/>
        </a:p>
      </dgm:t>
    </dgm:pt>
    <dgm:pt modelId="{FD4CE7F0-1A00-4CB1-BE05-181271F2C48A}" type="sibTrans" cxnId="{EE2C8009-0F48-4834-BE7A-368954D13620}">
      <dgm:prSet/>
      <dgm:spPr/>
      <dgm:t>
        <a:bodyPr/>
        <a:lstStyle/>
        <a:p>
          <a:endParaRPr lang="en-US"/>
        </a:p>
      </dgm:t>
    </dgm:pt>
    <dgm:pt modelId="{BA23C2BB-9022-4295-A9A8-5A08FF2A6703}">
      <dgm:prSet/>
      <dgm:spPr/>
      <dgm:t>
        <a:bodyPr/>
        <a:lstStyle/>
        <a:p>
          <a:r>
            <a:rPr lang="hr-HR"/>
            <a:t>Smanjenje troškova i povećanje efikasnosti</a:t>
          </a:r>
          <a:endParaRPr lang="en-US"/>
        </a:p>
      </dgm:t>
    </dgm:pt>
    <dgm:pt modelId="{22F08B30-AEBE-4335-B68C-71435E2F0B30}" type="parTrans" cxnId="{F815E7C7-7094-4279-ADEE-A8A753A1F5FA}">
      <dgm:prSet/>
      <dgm:spPr/>
      <dgm:t>
        <a:bodyPr/>
        <a:lstStyle/>
        <a:p>
          <a:endParaRPr lang="en-US"/>
        </a:p>
      </dgm:t>
    </dgm:pt>
    <dgm:pt modelId="{D482D577-1EDA-437E-9280-DCEF99BE8F13}" type="sibTrans" cxnId="{F815E7C7-7094-4279-ADEE-A8A753A1F5FA}">
      <dgm:prSet/>
      <dgm:spPr/>
      <dgm:t>
        <a:bodyPr/>
        <a:lstStyle/>
        <a:p>
          <a:endParaRPr lang="en-US"/>
        </a:p>
      </dgm:t>
    </dgm:pt>
    <dgm:pt modelId="{6BF03FAA-B44F-44DD-B64B-735461A9456F}">
      <dgm:prSet/>
      <dgm:spPr/>
      <dgm:t>
        <a:bodyPr/>
        <a:lstStyle/>
        <a:p>
          <a:r>
            <a:rPr lang="hr-HR"/>
            <a:t>Bolje upravljanje radnom snagom</a:t>
          </a:r>
          <a:endParaRPr lang="en-US"/>
        </a:p>
      </dgm:t>
    </dgm:pt>
    <dgm:pt modelId="{5C0ECEFF-046E-40BE-B86C-6A60AB21B5E6}" type="parTrans" cxnId="{B57730B9-F5D3-428C-8BB7-C13C9F29B4B1}">
      <dgm:prSet/>
      <dgm:spPr/>
      <dgm:t>
        <a:bodyPr/>
        <a:lstStyle/>
        <a:p>
          <a:endParaRPr lang="en-US"/>
        </a:p>
      </dgm:t>
    </dgm:pt>
    <dgm:pt modelId="{91E1E86A-EC49-4704-820F-C02996AE6B62}" type="sibTrans" cxnId="{B57730B9-F5D3-428C-8BB7-C13C9F29B4B1}">
      <dgm:prSet/>
      <dgm:spPr/>
      <dgm:t>
        <a:bodyPr/>
        <a:lstStyle/>
        <a:p>
          <a:endParaRPr lang="en-US"/>
        </a:p>
      </dgm:t>
    </dgm:pt>
    <dgm:pt modelId="{E67EE273-9BB2-4863-8E04-E67CDE31EC14}">
      <dgm:prSet/>
      <dgm:spPr/>
      <dgm:t>
        <a:bodyPr/>
        <a:lstStyle/>
        <a:p>
          <a:r>
            <a:rPr lang="hr-HR"/>
            <a:t>Bolje donošenje odluka</a:t>
          </a:r>
          <a:endParaRPr lang="en-US"/>
        </a:p>
      </dgm:t>
    </dgm:pt>
    <dgm:pt modelId="{8E1E267F-86B8-45E4-A26C-CF159B0BB4B2}" type="parTrans" cxnId="{F9728759-6E39-4C6B-844B-23DD16CDD607}">
      <dgm:prSet/>
      <dgm:spPr/>
      <dgm:t>
        <a:bodyPr/>
        <a:lstStyle/>
        <a:p>
          <a:endParaRPr lang="en-US"/>
        </a:p>
      </dgm:t>
    </dgm:pt>
    <dgm:pt modelId="{FE0C2CB4-C2F9-4CEB-A1C3-7913B33D29F8}" type="sibTrans" cxnId="{F9728759-6E39-4C6B-844B-23DD16CDD607}">
      <dgm:prSet/>
      <dgm:spPr/>
      <dgm:t>
        <a:bodyPr/>
        <a:lstStyle/>
        <a:p>
          <a:endParaRPr lang="en-US"/>
        </a:p>
      </dgm:t>
    </dgm:pt>
    <dgm:pt modelId="{99C88ED1-3E3A-4DD7-86C4-4F8AF8CB0146}">
      <dgm:prSet/>
      <dgm:spPr/>
      <dgm:t>
        <a:bodyPr/>
        <a:lstStyle/>
        <a:p>
          <a:r>
            <a:rPr lang="hr-HR"/>
            <a:t>Omogućava praćenje parametara proizvodnje</a:t>
          </a:r>
          <a:endParaRPr lang="en-US"/>
        </a:p>
      </dgm:t>
    </dgm:pt>
    <dgm:pt modelId="{79D51757-CD93-4F95-BE7B-5FED24905FBB}" type="parTrans" cxnId="{36C73807-47DE-46E3-80B7-50B1BCD23359}">
      <dgm:prSet/>
      <dgm:spPr/>
      <dgm:t>
        <a:bodyPr/>
        <a:lstStyle/>
        <a:p>
          <a:endParaRPr lang="en-US"/>
        </a:p>
      </dgm:t>
    </dgm:pt>
    <dgm:pt modelId="{B3B202AE-3098-4391-AE53-8ABB5CD67B00}" type="sibTrans" cxnId="{36C73807-47DE-46E3-80B7-50B1BCD23359}">
      <dgm:prSet/>
      <dgm:spPr/>
      <dgm:t>
        <a:bodyPr/>
        <a:lstStyle/>
        <a:p>
          <a:endParaRPr lang="en-US"/>
        </a:p>
      </dgm:t>
    </dgm:pt>
    <dgm:pt modelId="{F655A40F-4082-460D-97D1-575CFDE2C054}">
      <dgm:prSet/>
      <dgm:spPr/>
      <dgm:t>
        <a:bodyPr/>
        <a:lstStyle/>
        <a:p>
          <a:r>
            <a:rPr lang="hr-HR"/>
            <a:t>Omogućava praćenje agrotehničkih mjera</a:t>
          </a:r>
          <a:endParaRPr lang="en-US"/>
        </a:p>
      </dgm:t>
    </dgm:pt>
    <dgm:pt modelId="{9B8C2415-B7CB-4346-820A-5B63FC75D564}" type="parTrans" cxnId="{90B9CD40-0CA9-40C2-AAB0-7F3F9345DE04}">
      <dgm:prSet/>
      <dgm:spPr/>
      <dgm:t>
        <a:bodyPr/>
        <a:lstStyle/>
        <a:p>
          <a:endParaRPr lang="en-US"/>
        </a:p>
      </dgm:t>
    </dgm:pt>
    <dgm:pt modelId="{54F56EB5-E442-4AFA-9037-7ED1248FE34E}" type="sibTrans" cxnId="{90B9CD40-0CA9-40C2-AAB0-7F3F9345DE04}">
      <dgm:prSet/>
      <dgm:spPr/>
      <dgm:t>
        <a:bodyPr/>
        <a:lstStyle/>
        <a:p>
          <a:endParaRPr lang="en-US"/>
        </a:p>
      </dgm:t>
    </dgm:pt>
    <dgm:pt modelId="{7E03DAAF-99F3-4B53-B353-1B632311E9B3}" type="pres">
      <dgm:prSet presAssocID="{D094C2C7-89EA-47FA-9460-285746CB4352}" presName="linear" presStyleCnt="0">
        <dgm:presLayoutVars>
          <dgm:animLvl val="lvl"/>
          <dgm:resizeHandles val="exact"/>
        </dgm:presLayoutVars>
      </dgm:prSet>
      <dgm:spPr/>
    </dgm:pt>
    <dgm:pt modelId="{0E53036E-02C3-43D1-A2F7-2F8803AF29B6}" type="pres">
      <dgm:prSet presAssocID="{DCF81658-1C37-4D60-BF6F-A1958E9D7D1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722B4FF-B9E5-4677-AC35-3CF37E7400FA}" type="pres">
      <dgm:prSet presAssocID="{DCF81658-1C37-4D60-BF6F-A1958E9D7D15}" presName="childText" presStyleLbl="revTx" presStyleIdx="0" presStyleCnt="2">
        <dgm:presLayoutVars>
          <dgm:bulletEnabled val="1"/>
        </dgm:presLayoutVars>
      </dgm:prSet>
      <dgm:spPr/>
    </dgm:pt>
    <dgm:pt modelId="{01C66CAF-281A-4426-9D61-3BC467627EF3}" type="pres">
      <dgm:prSet presAssocID="{3AC8901E-1FEF-4978-ABF9-A73F4310FCCF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67C8B712-1AB2-4732-8F3E-8FFED92090ED}" type="pres">
      <dgm:prSet presAssocID="{3AC8901E-1FEF-4978-ABF9-A73F4310FCCF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AFCE8B04-8995-4BB1-9A53-4AC93C474C94}" srcId="{DCF81658-1C37-4D60-BF6F-A1958E9D7D15}" destId="{68A1A35A-3F76-4351-8050-6E8310206ADB}" srcOrd="1" destOrd="0" parTransId="{27A15CF4-BCE1-411C-89C7-008F90C5A7B4}" sibTransId="{3A42B971-6745-4043-A3FB-BAF9E69D55FC}"/>
    <dgm:cxn modelId="{36C73807-47DE-46E3-80B7-50B1BCD23359}" srcId="{3AC8901E-1FEF-4978-ABF9-A73F4310FCCF}" destId="{99C88ED1-3E3A-4DD7-86C4-4F8AF8CB0146}" srcOrd="3" destOrd="0" parTransId="{79D51757-CD93-4F95-BE7B-5FED24905FBB}" sibTransId="{B3B202AE-3098-4391-AE53-8ABB5CD67B00}"/>
    <dgm:cxn modelId="{EE2C8009-0F48-4834-BE7A-368954D13620}" srcId="{D094C2C7-89EA-47FA-9460-285746CB4352}" destId="{3AC8901E-1FEF-4978-ABF9-A73F4310FCCF}" srcOrd="1" destOrd="0" parTransId="{8CFD65E5-1873-4101-A2BF-6D10269D20F6}" sibTransId="{FD4CE7F0-1A00-4CB1-BE05-181271F2C48A}"/>
    <dgm:cxn modelId="{79819C0A-245F-4E98-A7EB-368F39816425}" srcId="{DCF81658-1C37-4D60-BF6F-A1958E9D7D15}" destId="{0218C4AE-0108-4ECF-889B-8524142AA200}" srcOrd="0" destOrd="0" parTransId="{EA79E013-C608-4A57-95C0-8FC1461E77C6}" sibTransId="{69538780-0373-4DB4-8AAB-1A0B65DEF6C9}"/>
    <dgm:cxn modelId="{436A0318-C021-4BA9-989F-1C29670461AB}" type="presOf" srcId="{68A1A35A-3F76-4351-8050-6E8310206ADB}" destId="{4722B4FF-B9E5-4677-AC35-3CF37E7400FA}" srcOrd="0" destOrd="1" presId="urn:microsoft.com/office/officeart/2005/8/layout/vList2"/>
    <dgm:cxn modelId="{206E4C1A-2357-4DB9-9D1F-0E680AD6B315}" type="presOf" srcId="{0218C4AE-0108-4ECF-889B-8524142AA200}" destId="{4722B4FF-B9E5-4677-AC35-3CF37E7400FA}" srcOrd="0" destOrd="0" presId="urn:microsoft.com/office/officeart/2005/8/layout/vList2"/>
    <dgm:cxn modelId="{899F573C-8933-41C6-A481-A82A03A6CA99}" type="presOf" srcId="{99C88ED1-3E3A-4DD7-86C4-4F8AF8CB0146}" destId="{67C8B712-1AB2-4732-8F3E-8FFED92090ED}" srcOrd="0" destOrd="3" presId="urn:microsoft.com/office/officeart/2005/8/layout/vList2"/>
    <dgm:cxn modelId="{20281C3D-1EDE-4634-818C-EDDEB43B3B42}" type="presOf" srcId="{3AC8901E-1FEF-4978-ABF9-A73F4310FCCF}" destId="{01C66CAF-281A-4426-9D61-3BC467627EF3}" srcOrd="0" destOrd="0" presId="urn:microsoft.com/office/officeart/2005/8/layout/vList2"/>
    <dgm:cxn modelId="{90B9CD40-0CA9-40C2-AAB0-7F3F9345DE04}" srcId="{3AC8901E-1FEF-4978-ABF9-A73F4310FCCF}" destId="{F655A40F-4082-460D-97D1-575CFDE2C054}" srcOrd="4" destOrd="0" parTransId="{9B8C2415-B7CB-4346-820A-5B63FC75D564}" sibTransId="{54F56EB5-E442-4AFA-9037-7ED1248FE34E}"/>
    <dgm:cxn modelId="{6845555E-D701-4DB3-A531-CF6F4F6B9936}" srcId="{D094C2C7-89EA-47FA-9460-285746CB4352}" destId="{DCF81658-1C37-4D60-BF6F-A1958E9D7D15}" srcOrd="0" destOrd="0" parTransId="{0D692475-D4A1-4ABB-AF91-3CEE78F54FA6}" sibTransId="{6D718409-C826-48BC-BE72-E4D97330139B}"/>
    <dgm:cxn modelId="{2A1BB15E-5572-436A-A516-68AC7453F2F6}" type="presOf" srcId="{BA23C2BB-9022-4295-A9A8-5A08FF2A6703}" destId="{67C8B712-1AB2-4732-8F3E-8FFED92090ED}" srcOrd="0" destOrd="0" presId="urn:microsoft.com/office/officeart/2005/8/layout/vList2"/>
    <dgm:cxn modelId="{E761D94D-7959-4242-AA00-27912BB67CF0}" type="presOf" srcId="{F655A40F-4082-460D-97D1-575CFDE2C054}" destId="{67C8B712-1AB2-4732-8F3E-8FFED92090ED}" srcOrd="0" destOrd="4" presId="urn:microsoft.com/office/officeart/2005/8/layout/vList2"/>
    <dgm:cxn modelId="{C27EBD4E-8648-4C0A-9AF9-67E9C82FBE8E}" type="presOf" srcId="{D094C2C7-89EA-47FA-9460-285746CB4352}" destId="{7E03DAAF-99F3-4B53-B353-1B632311E9B3}" srcOrd="0" destOrd="0" presId="urn:microsoft.com/office/officeart/2005/8/layout/vList2"/>
    <dgm:cxn modelId="{F9728759-6E39-4C6B-844B-23DD16CDD607}" srcId="{3AC8901E-1FEF-4978-ABF9-A73F4310FCCF}" destId="{E67EE273-9BB2-4863-8E04-E67CDE31EC14}" srcOrd="2" destOrd="0" parTransId="{8E1E267F-86B8-45E4-A26C-CF159B0BB4B2}" sibTransId="{FE0C2CB4-C2F9-4CEB-A1C3-7913B33D29F8}"/>
    <dgm:cxn modelId="{72D77891-9D85-4095-BADB-A32A9555903C}" srcId="{DCF81658-1C37-4D60-BF6F-A1958E9D7D15}" destId="{A68A421A-71ED-440A-9B07-A855AB3E8920}" srcOrd="2" destOrd="0" parTransId="{8A464F02-D064-44F0-B6DF-97701DBB4802}" sibTransId="{22052F7A-A283-4C45-B64C-28800C3D92AA}"/>
    <dgm:cxn modelId="{B57730B9-F5D3-428C-8BB7-C13C9F29B4B1}" srcId="{3AC8901E-1FEF-4978-ABF9-A73F4310FCCF}" destId="{6BF03FAA-B44F-44DD-B64B-735461A9456F}" srcOrd="1" destOrd="0" parTransId="{5C0ECEFF-046E-40BE-B86C-6A60AB21B5E6}" sibTransId="{91E1E86A-EC49-4704-820F-C02996AE6B62}"/>
    <dgm:cxn modelId="{0BAB06C0-3AEA-41D7-B6A9-1D48A5F341B1}" type="presOf" srcId="{6BF03FAA-B44F-44DD-B64B-735461A9456F}" destId="{67C8B712-1AB2-4732-8F3E-8FFED92090ED}" srcOrd="0" destOrd="1" presId="urn:microsoft.com/office/officeart/2005/8/layout/vList2"/>
    <dgm:cxn modelId="{CC205AC5-52F4-435F-97EA-64D6F2B4F58B}" type="presOf" srcId="{DCF81658-1C37-4D60-BF6F-A1958E9D7D15}" destId="{0E53036E-02C3-43D1-A2F7-2F8803AF29B6}" srcOrd="0" destOrd="0" presId="urn:microsoft.com/office/officeart/2005/8/layout/vList2"/>
    <dgm:cxn modelId="{F815E7C7-7094-4279-ADEE-A8A753A1F5FA}" srcId="{3AC8901E-1FEF-4978-ABF9-A73F4310FCCF}" destId="{BA23C2BB-9022-4295-A9A8-5A08FF2A6703}" srcOrd="0" destOrd="0" parTransId="{22F08B30-AEBE-4335-B68C-71435E2F0B30}" sibTransId="{D482D577-1EDA-437E-9280-DCEF99BE8F13}"/>
    <dgm:cxn modelId="{4E0D1EDE-1ED2-4B17-BEEA-4ED367AE2A6E}" type="presOf" srcId="{A68A421A-71ED-440A-9B07-A855AB3E8920}" destId="{4722B4FF-B9E5-4677-AC35-3CF37E7400FA}" srcOrd="0" destOrd="2" presId="urn:microsoft.com/office/officeart/2005/8/layout/vList2"/>
    <dgm:cxn modelId="{38C4FDF4-BC8A-4623-A46D-56ACFF93FCE2}" type="presOf" srcId="{E67EE273-9BB2-4863-8E04-E67CDE31EC14}" destId="{67C8B712-1AB2-4732-8F3E-8FFED92090ED}" srcOrd="0" destOrd="2" presId="urn:microsoft.com/office/officeart/2005/8/layout/vList2"/>
    <dgm:cxn modelId="{027996C4-BF16-4919-B62A-9A4D1F9DAF97}" type="presParOf" srcId="{7E03DAAF-99F3-4B53-B353-1B632311E9B3}" destId="{0E53036E-02C3-43D1-A2F7-2F8803AF29B6}" srcOrd="0" destOrd="0" presId="urn:microsoft.com/office/officeart/2005/8/layout/vList2"/>
    <dgm:cxn modelId="{69FFE263-9DF2-4E88-86FA-33B12E9CD99F}" type="presParOf" srcId="{7E03DAAF-99F3-4B53-B353-1B632311E9B3}" destId="{4722B4FF-B9E5-4677-AC35-3CF37E7400FA}" srcOrd="1" destOrd="0" presId="urn:microsoft.com/office/officeart/2005/8/layout/vList2"/>
    <dgm:cxn modelId="{CED15D3D-8FD3-4B8D-8A15-AFAB823A1BE4}" type="presParOf" srcId="{7E03DAAF-99F3-4B53-B353-1B632311E9B3}" destId="{01C66CAF-281A-4426-9D61-3BC467627EF3}" srcOrd="2" destOrd="0" presId="urn:microsoft.com/office/officeart/2005/8/layout/vList2"/>
    <dgm:cxn modelId="{22423A92-9264-449F-BEA1-6AC338A0D48C}" type="presParOf" srcId="{7E03DAAF-99F3-4B53-B353-1B632311E9B3}" destId="{67C8B712-1AB2-4732-8F3E-8FFED92090ED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0147694-8E32-4869-AB46-F676E213AA85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28F183F-760C-48E0-BE8E-11B4DE308C3B}">
      <dgm:prSet/>
      <dgm:spPr/>
      <dgm:t>
        <a:bodyPr/>
        <a:lstStyle/>
        <a:p>
          <a:r>
            <a:rPr lang="hr-HR"/>
            <a:t>•Efikasnost resursa</a:t>
          </a:r>
          <a:endParaRPr lang="en-US"/>
        </a:p>
      </dgm:t>
    </dgm:pt>
    <dgm:pt modelId="{7546E8F7-529D-4CA0-B9B5-187B552E7947}" type="parTrans" cxnId="{3544F4C4-9278-46CF-91B5-938C1EA1F0E7}">
      <dgm:prSet/>
      <dgm:spPr/>
      <dgm:t>
        <a:bodyPr/>
        <a:lstStyle/>
        <a:p>
          <a:endParaRPr lang="en-US"/>
        </a:p>
      </dgm:t>
    </dgm:pt>
    <dgm:pt modelId="{24DCE421-2406-4147-84D5-B915F26538EB}" type="sibTrans" cxnId="{3544F4C4-9278-46CF-91B5-938C1EA1F0E7}">
      <dgm:prSet/>
      <dgm:spPr/>
      <dgm:t>
        <a:bodyPr/>
        <a:lstStyle/>
        <a:p>
          <a:endParaRPr lang="en-US"/>
        </a:p>
      </dgm:t>
    </dgm:pt>
    <dgm:pt modelId="{28B00188-537F-4348-B6D5-8F7F7439C13B}">
      <dgm:prSet/>
      <dgm:spPr/>
      <dgm:t>
        <a:bodyPr/>
        <a:lstStyle/>
        <a:p>
          <a:r>
            <a:rPr lang="hr-HR"/>
            <a:t>•Kvaliteta proizvoda</a:t>
          </a:r>
          <a:endParaRPr lang="en-US"/>
        </a:p>
      </dgm:t>
    </dgm:pt>
    <dgm:pt modelId="{515E92C0-1C3B-4B66-957E-9719ACECC06E}" type="parTrans" cxnId="{979009F6-6128-4D01-92BA-EDD940EA74B7}">
      <dgm:prSet/>
      <dgm:spPr/>
      <dgm:t>
        <a:bodyPr/>
        <a:lstStyle/>
        <a:p>
          <a:endParaRPr lang="en-US"/>
        </a:p>
      </dgm:t>
    </dgm:pt>
    <dgm:pt modelId="{374219E8-DA73-4B96-9E08-0B72D01D725D}" type="sibTrans" cxnId="{979009F6-6128-4D01-92BA-EDD940EA74B7}">
      <dgm:prSet/>
      <dgm:spPr/>
      <dgm:t>
        <a:bodyPr/>
        <a:lstStyle/>
        <a:p>
          <a:endParaRPr lang="en-US"/>
        </a:p>
      </dgm:t>
    </dgm:pt>
    <dgm:pt modelId="{584EF88E-94A5-4D7E-A083-E47248275A5D}">
      <dgm:prSet/>
      <dgm:spPr/>
      <dgm:t>
        <a:bodyPr/>
        <a:lstStyle/>
        <a:p>
          <a:r>
            <a:rPr lang="hr-HR"/>
            <a:t>•Operativna učinkovitost</a:t>
          </a:r>
          <a:endParaRPr lang="en-US"/>
        </a:p>
      </dgm:t>
    </dgm:pt>
    <dgm:pt modelId="{883F3C37-2361-4E68-9CA0-90AD98FF0A05}" type="parTrans" cxnId="{A7E52E9C-8E07-4F56-9C95-1ADE2BAD2AC9}">
      <dgm:prSet/>
      <dgm:spPr/>
      <dgm:t>
        <a:bodyPr/>
        <a:lstStyle/>
        <a:p>
          <a:endParaRPr lang="en-US"/>
        </a:p>
      </dgm:t>
    </dgm:pt>
    <dgm:pt modelId="{5CFFE6EE-6F0F-4C99-A143-3A12D7B7C8B9}" type="sibTrans" cxnId="{A7E52E9C-8E07-4F56-9C95-1ADE2BAD2AC9}">
      <dgm:prSet/>
      <dgm:spPr/>
      <dgm:t>
        <a:bodyPr/>
        <a:lstStyle/>
        <a:p>
          <a:endParaRPr lang="en-US"/>
        </a:p>
      </dgm:t>
    </dgm:pt>
    <dgm:pt modelId="{0CF5D6FE-02A7-40E6-BFBF-25E16A8DE62A}">
      <dgm:prSet/>
      <dgm:spPr/>
      <dgm:t>
        <a:bodyPr/>
        <a:lstStyle/>
        <a:p>
          <a:r>
            <a:rPr lang="hr-HR"/>
            <a:t>•Smanjenje rizika</a:t>
          </a:r>
          <a:endParaRPr lang="en-US"/>
        </a:p>
      </dgm:t>
    </dgm:pt>
    <dgm:pt modelId="{0FA8FABC-47D8-4788-9079-B75E54CBDF23}" type="parTrans" cxnId="{EA8BF865-3E9A-4558-AC8F-F8F0D66C4B69}">
      <dgm:prSet/>
      <dgm:spPr/>
      <dgm:t>
        <a:bodyPr/>
        <a:lstStyle/>
        <a:p>
          <a:endParaRPr lang="en-US"/>
        </a:p>
      </dgm:t>
    </dgm:pt>
    <dgm:pt modelId="{78F02796-A9F0-4166-8276-51652A79B2E4}" type="sibTrans" cxnId="{EA8BF865-3E9A-4558-AC8F-F8F0D66C4B69}">
      <dgm:prSet/>
      <dgm:spPr/>
      <dgm:t>
        <a:bodyPr/>
        <a:lstStyle/>
        <a:p>
          <a:endParaRPr lang="en-US"/>
        </a:p>
      </dgm:t>
    </dgm:pt>
    <dgm:pt modelId="{FB45008B-96B6-465F-AC74-6B9D25EFD993}" type="pres">
      <dgm:prSet presAssocID="{40147694-8E32-4869-AB46-F676E213AA85}" presName="vert0" presStyleCnt="0">
        <dgm:presLayoutVars>
          <dgm:dir/>
          <dgm:animOne val="branch"/>
          <dgm:animLvl val="lvl"/>
        </dgm:presLayoutVars>
      </dgm:prSet>
      <dgm:spPr/>
    </dgm:pt>
    <dgm:pt modelId="{5569CF4B-416A-4A73-9586-96655A0521AC}" type="pres">
      <dgm:prSet presAssocID="{128F183F-760C-48E0-BE8E-11B4DE308C3B}" presName="thickLine" presStyleLbl="alignNode1" presStyleIdx="0" presStyleCnt="4"/>
      <dgm:spPr/>
    </dgm:pt>
    <dgm:pt modelId="{E03A6A45-38D9-4DD9-BB12-51A76E3BC9CD}" type="pres">
      <dgm:prSet presAssocID="{128F183F-760C-48E0-BE8E-11B4DE308C3B}" presName="horz1" presStyleCnt="0"/>
      <dgm:spPr/>
    </dgm:pt>
    <dgm:pt modelId="{B50BBC0F-3BC3-4AFC-B2BD-D045BA99AE40}" type="pres">
      <dgm:prSet presAssocID="{128F183F-760C-48E0-BE8E-11B4DE308C3B}" presName="tx1" presStyleLbl="revTx" presStyleIdx="0" presStyleCnt="4"/>
      <dgm:spPr/>
    </dgm:pt>
    <dgm:pt modelId="{4B93AEEC-C6CF-4134-898D-CD7813C85A53}" type="pres">
      <dgm:prSet presAssocID="{128F183F-760C-48E0-BE8E-11B4DE308C3B}" presName="vert1" presStyleCnt="0"/>
      <dgm:spPr/>
    </dgm:pt>
    <dgm:pt modelId="{430D6D0B-53BD-4470-B573-A5D903B28850}" type="pres">
      <dgm:prSet presAssocID="{28B00188-537F-4348-B6D5-8F7F7439C13B}" presName="thickLine" presStyleLbl="alignNode1" presStyleIdx="1" presStyleCnt="4"/>
      <dgm:spPr/>
    </dgm:pt>
    <dgm:pt modelId="{E52B5673-5584-4A80-B3C5-9C86CB53EDD5}" type="pres">
      <dgm:prSet presAssocID="{28B00188-537F-4348-B6D5-8F7F7439C13B}" presName="horz1" presStyleCnt="0"/>
      <dgm:spPr/>
    </dgm:pt>
    <dgm:pt modelId="{C92FE95A-7DE6-4B13-BA73-F8ECBAEEF8B2}" type="pres">
      <dgm:prSet presAssocID="{28B00188-537F-4348-B6D5-8F7F7439C13B}" presName="tx1" presStyleLbl="revTx" presStyleIdx="1" presStyleCnt="4"/>
      <dgm:spPr/>
    </dgm:pt>
    <dgm:pt modelId="{3BFA5C6E-83F8-4D5B-AFCC-CDBCE8D58EC7}" type="pres">
      <dgm:prSet presAssocID="{28B00188-537F-4348-B6D5-8F7F7439C13B}" presName="vert1" presStyleCnt="0"/>
      <dgm:spPr/>
    </dgm:pt>
    <dgm:pt modelId="{17D87F96-4491-4DE6-9F41-F90411F9C671}" type="pres">
      <dgm:prSet presAssocID="{584EF88E-94A5-4D7E-A083-E47248275A5D}" presName="thickLine" presStyleLbl="alignNode1" presStyleIdx="2" presStyleCnt="4"/>
      <dgm:spPr/>
    </dgm:pt>
    <dgm:pt modelId="{F2DBC7D4-1292-459D-9249-A04459F8661D}" type="pres">
      <dgm:prSet presAssocID="{584EF88E-94A5-4D7E-A083-E47248275A5D}" presName="horz1" presStyleCnt="0"/>
      <dgm:spPr/>
    </dgm:pt>
    <dgm:pt modelId="{080C01A2-0657-4CFE-8828-530AECB67243}" type="pres">
      <dgm:prSet presAssocID="{584EF88E-94A5-4D7E-A083-E47248275A5D}" presName="tx1" presStyleLbl="revTx" presStyleIdx="2" presStyleCnt="4"/>
      <dgm:spPr/>
    </dgm:pt>
    <dgm:pt modelId="{0B500D0D-2EC4-4733-90BA-DC9133593BBC}" type="pres">
      <dgm:prSet presAssocID="{584EF88E-94A5-4D7E-A083-E47248275A5D}" presName="vert1" presStyleCnt="0"/>
      <dgm:spPr/>
    </dgm:pt>
    <dgm:pt modelId="{552C7CDE-2147-449D-AF0E-8372F66F836A}" type="pres">
      <dgm:prSet presAssocID="{0CF5D6FE-02A7-40E6-BFBF-25E16A8DE62A}" presName="thickLine" presStyleLbl="alignNode1" presStyleIdx="3" presStyleCnt="4"/>
      <dgm:spPr/>
    </dgm:pt>
    <dgm:pt modelId="{FBDF9A21-20B0-44F8-9EB8-735BE4289A0D}" type="pres">
      <dgm:prSet presAssocID="{0CF5D6FE-02A7-40E6-BFBF-25E16A8DE62A}" presName="horz1" presStyleCnt="0"/>
      <dgm:spPr/>
    </dgm:pt>
    <dgm:pt modelId="{B9ED7858-B21F-4B92-A723-75899A6669B6}" type="pres">
      <dgm:prSet presAssocID="{0CF5D6FE-02A7-40E6-BFBF-25E16A8DE62A}" presName="tx1" presStyleLbl="revTx" presStyleIdx="3" presStyleCnt="4"/>
      <dgm:spPr/>
    </dgm:pt>
    <dgm:pt modelId="{DFEF5173-D93D-42C9-95F9-2014AD298B34}" type="pres">
      <dgm:prSet presAssocID="{0CF5D6FE-02A7-40E6-BFBF-25E16A8DE62A}" presName="vert1" presStyleCnt="0"/>
      <dgm:spPr/>
    </dgm:pt>
  </dgm:ptLst>
  <dgm:cxnLst>
    <dgm:cxn modelId="{CA9BCB1F-59A1-4DA9-880A-845394976893}" type="presOf" srcId="{28B00188-537F-4348-B6D5-8F7F7439C13B}" destId="{C92FE95A-7DE6-4B13-BA73-F8ECBAEEF8B2}" srcOrd="0" destOrd="0" presId="urn:microsoft.com/office/officeart/2008/layout/LinedList"/>
    <dgm:cxn modelId="{EA8BF865-3E9A-4558-AC8F-F8F0D66C4B69}" srcId="{40147694-8E32-4869-AB46-F676E213AA85}" destId="{0CF5D6FE-02A7-40E6-BFBF-25E16A8DE62A}" srcOrd="3" destOrd="0" parTransId="{0FA8FABC-47D8-4788-9079-B75E54CBDF23}" sibTransId="{78F02796-A9F0-4166-8276-51652A79B2E4}"/>
    <dgm:cxn modelId="{D6252D7B-2B37-4167-8B63-955A71847B8F}" type="presOf" srcId="{128F183F-760C-48E0-BE8E-11B4DE308C3B}" destId="{B50BBC0F-3BC3-4AFC-B2BD-D045BA99AE40}" srcOrd="0" destOrd="0" presId="urn:microsoft.com/office/officeart/2008/layout/LinedList"/>
    <dgm:cxn modelId="{0864268E-E158-4C8F-8384-9FC7B83A7B0F}" type="presOf" srcId="{40147694-8E32-4869-AB46-F676E213AA85}" destId="{FB45008B-96B6-465F-AC74-6B9D25EFD993}" srcOrd="0" destOrd="0" presId="urn:microsoft.com/office/officeart/2008/layout/LinedList"/>
    <dgm:cxn modelId="{A7E52E9C-8E07-4F56-9C95-1ADE2BAD2AC9}" srcId="{40147694-8E32-4869-AB46-F676E213AA85}" destId="{584EF88E-94A5-4D7E-A083-E47248275A5D}" srcOrd="2" destOrd="0" parTransId="{883F3C37-2361-4E68-9CA0-90AD98FF0A05}" sibTransId="{5CFFE6EE-6F0F-4C99-A143-3A12D7B7C8B9}"/>
    <dgm:cxn modelId="{3544F4C4-9278-46CF-91B5-938C1EA1F0E7}" srcId="{40147694-8E32-4869-AB46-F676E213AA85}" destId="{128F183F-760C-48E0-BE8E-11B4DE308C3B}" srcOrd="0" destOrd="0" parTransId="{7546E8F7-529D-4CA0-B9B5-187B552E7947}" sibTransId="{24DCE421-2406-4147-84D5-B915F26538EB}"/>
    <dgm:cxn modelId="{A17F0DCF-2B9F-4A46-ABA1-B576440C891B}" type="presOf" srcId="{0CF5D6FE-02A7-40E6-BFBF-25E16A8DE62A}" destId="{B9ED7858-B21F-4B92-A723-75899A6669B6}" srcOrd="0" destOrd="0" presId="urn:microsoft.com/office/officeart/2008/layout/LinedList"/>
    <dgm:cxn modelId="{099B4FE9-694B-4F1A-810A-C515A86B65FF}" type="presOf" srcId="{584EF88E-94A5-4D7E-A083-E47248275A5D}" destId="{080C01A2-0657-4CFE-8828-530AECB67243}" srcOrd="0" destOrd="0" presId="urn:microsoft.com/office/officeart/2008/layout/LinedList"/>
    <dgm:cxn modelId="{979009F6-6128-4D01-92BA-EDD940EA74B7}" srcId="{40147694-8E32-4869-AB46-F676E213AA85}" destId="{28B00188-537F-4348-B6D5-8F7F7439C13B}" srcOrd="1" destOrd="0" parTransId="{515E92C0-1C3B-4B66-957E-9719ACECC06E}" sibTransId="{374219E8-DA73-4B96-9E08-0B72D01D725D}"/>
    <dgm:cxn modelId="{BCC05AA3-8B23-45AD-B7F2-461C8809AA0D}" type="presParOf" srcId="{FB45008B-96B6-465F-AC74-6B9D25EFD993}" destId="{5569CF4B-416A-4A73-9586-96655A0521AC}" srcOrd="0" destOrd="0" presId="urn:microsoft.com/office/officeart/2008/layout/LinedList"/>
    <dgm:cxn modelId="{7D820543-C2C5-4CA3-B2DB-515B2530B2A3}" type="presParOf" srcId="{FB45008B-96B6-465F-AC74-6B9D25EFD993}" destId="{E03A6A45-38D9-4DD9-BB12-51A76E3BC9CD}" srcOrd="1" destOrd="0" presId="urn:microsoft.com/office/officeart/2008/layout/LinedList"/>
    <dgm:cxn modelId="{58AEE42A-EC31-4983-A4FE-A28B9A7A1DE4}" type="presParOf" srcId="{E03A6A45-38D9-4DD9-BB12-51A76E3BC9CD}" destId="{B50BBC0F-3BC3-4AFC-B2BD-D045BA99AE40}" srcOrd="0" destOrd="0" presId="urn:microsoft.com/office/officeart/2008/layout/LinedList"/>
    <dgm:cxn modelId="{E35FC222-BAEA-417E-B43B-9B479D3AE233}" type="presParOf" srcId="{E03A6A45-38D9-4DD9-BB12-51A76E3BC9CD}" destId="{4B93AEEC-C6CF-4134-898D-CD7813C85A53}" srcOrd="1" destOrd="0" presId="urn:microsoft.com/office/officeart/2008/layout/LinedList"/>
    <dgm:cxn modelId="{B166E896-3FAA-4065-B8D0-D13A6E22544F}" type="presParOf" srcId="{FB45008B-96B6-465F-AC74-6B9D25EFD993}" destId="{430D6D0B-53BD-4470-B573-A5D903B28850}" srcOrd="2" destOrd="0" presId="urn:microsoft.com/office/officeart/2008/layout/LinedList"/>
    <dgm:cxn modelId="{57694368-EA08-4B6F-AA01-1C39E5B73AC8}" type="presParOf" srcId="{FB45008B-96B6-465F-AC74-6B9D25EFD993}" destId="{E52B5673-5584-4A80-B3C5-9C86CB53EDD5}" srcOrd="3" destOrd="0" presId="urn:microsoft.com/office/officeart/2008/layout/LinedList"/>
    <dgm:cxn modelId="{84BBF63C-9424-4E71-BFFA-420091ACB4F5}" type="presParOf" srcId="{E52B5673-5584-4A80-B3C5-9C86CB53EDD5}" destId="{C92FE95A-7DE6-4B13-BA73-F8ECBAEEF8B2}" srcOrd="0" destOrd="0" presId="urn:microsoft.com/office/officeart/2008/layout/LinedList"/>
    <dgm:cxn modelId="{3C77B8EC-156F-405C-92E5-18D694531E50}" type="presParOf" srcId="{E52B5673-5584-4A80-B3C5-9C86CB53EDD5}" destId="{3BFA5C6E-83F8-4D5B-AFCC-CDBCE8D58EC7}" srcOrd="1" destOrd="0" presId="urn:microsoft.com/office/officeart/2008/layout/LinedList"/>
    <dgm:cxn modelId="{3A729934-FC01-4176-923F-F6574DBA1079}" type="presParOf" srcId="{FB45008B-96B6-465F-AC74-6B9D25EFD993}" destId="{17D87F96-4491-4DE6-9F41-F90411F9C671}" srcOrd="4" destOrd="0" presId="urn:microsoft.com/office/officeart/2008/layout/LinedList"/>
    <dgm:cxn modelId="{A34E33EB-EE5D-450A-ABD3-5D052C64672E}" type="presParOf" srcId="{FB45008B-96B6-465F-AC74-6B9D25EFD993}" destId="{F2DBC7D4-1292-459D-9249-A04459F8661D}" srcOrd="5" destOrd="0" presId="urn:microsoft.com/office/officeart/2008/layout/LinedList"/>
    <dgm:cxn modelId="{7BDF8C76-2FEC-4FE0-8B55-B1BEB826F8B6}" type="presParOf" srcId="{F2DBC7D4-1292-459D-9249-A04459F8661D}" destId="{080C01A2-0657-4CFE-8828-530AECB67243}" srcOrd="0" destOrd="0" presId="urn:microsoft.com/office/officeart/2008/layout/LinedList"/>
    <dgm:cxn modelId="{A7330DA8-8F36-4677-8B4A-B15BF5C25226}" type="presParOf" srcId="{F2DBC7D4-1292-459D-9249-A04459F8661D}" destId="{0B500D0D-2EC4-4733-90BA-DC9133593BBC}" srcOrd="1" destOrd="0" presId="urn:microsoft.com/office/officeart/2008/layout/LinedList"/>
    <dgm:cxn modelId="{FECB62F7-2BD3-40ED-AABB-18A111C58846}" type="presParOf" srcId="{FB45008B-96B6-465F-AC74-6B9D25EFD993}" destId="{552C7CDE-2147-449D-AF0E-8372F66F836A}" srcOrd="6" destOrd="0" presId="urn:microsoft.com/office/officeart/2008/layout/LinedList"/>
    <dgm:cxn modelId="{56FD50A1-8A0A-413E-BAD2-84C81D218A44}" type="presParOf" srcId="{FB45008B-96B6-465F-AC74-6B9D25EFD993}" destId="{FBDF9A21-20B0-44F8-9EB8-735BE4289A0D}" srcOrd="7" destOrd="0" presId="urn:microsoft.com/office/officeart/2008/layout/LinedList"/>
    <dgm:cxn modelId="{42E70162-038C-4157-A624-9BE085A6260D}" type="presParOf" srcId="{FBDF9A21-20B0-44F8-9EB8-735BE4289A0D}" destId="{B9ED7858-B21F-4B92-A723-75899A6669B6}" srcOrd="0" destOrd="0" presId="urn:microsoft.com/office/officeart/2008/layout/LinedList"/>
    <dgm:cxn modelId="{46D41F38-C1AE-45C5-B207-4E0B5266CDD2}" type="presParOf" srcId="{FBDF9A21-20B0-44F8-9EB8-735BE4289A0D}" destId="{DFEF5173-D93D-42C9-95F9-2014AD298B3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879B1EB-836E-47BE-8C50-6DCEACD9F621}" type="doc">
      <dgm:prSet loTypeId="urn:microsoft.com/office/officeart/2005/8/layout/hList1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E53A903-EFB6-4D22-AF0D-4BF85132EF57}">
      <dgm:prSet/>
      <dgm:spPr/>
      <dgm:t>
        <a:bodyPr/>
        <a:lstStyle/>
        <a:p>
          <a:r>
            <a:rPr lang="hr-HR"/>
            <a:t>Prednosti:</a:t>
          </a:r>
          <a:endParaRPr lang="en-US"/>
        </a:p>
      </dgm:t>
    </dgm:pt>
    <dgm:pt modelId="{F5931EA1-E741-4716-A528-B557334BE0FB}" type="parTrans" cxnId="{E68E7B32-C9D4-4B1D-9328-B189C1F89B4E}">
      <dgm:prSet/>
      <dgm:spPr/>
      <dgm:t>
        <a:bodyPr/>
        <a:lstStyle/>
        <a:p>
          <a:endParaRPr lang="en-US"/>
        </a:p>
      </dgm:t>
    </dgm:pt>
    <dgm:pt modelId="{F53996B8-03E9-463C-8700-57A89E7152A5}" type="sibTrans" cxnId="{E68E7B32-C9D4-4B1D-9328-B189C1F89B4E}">
      <dgm:prSet/>
      <dgm:spPr/>
      <dgm:t>
        <a:bodyPr/>
        <a:lstStyle/>
        <a:p>
          <a:endParaRPr lang="en-US"/>
        </a:p>
      </dgm:t>
    </dgm:pt>
    <dgm:pt modelId="{66C2F090-B7D1-4A72-9FE4-5C6E4A270304}">
      <dgm:prSet/>
      <dgm:spPr/>
      <dgm:t>
        <a:bodyPr/>
        <a:lstStyle/>
        <a:p>
          <a:r>
            <a:rPr lang="hr-HR" dirty="0"/>
            <a:t>Prilagodljivost: Specifične </a:t>
          </a:r>
          <a:endParaRPr lang="en-US" dirty="0"/>
        </a:p>
      </dgm:t>
    </dgm:pt>
    <dgm:pt modelId="{6CEDA043-A8A7-4D01-BA12-3ED055C08180}" type="parTrans" cxnId="{5F18BAF6-FF66-4167-9A2F-873A8B63C0A0}">
      <dgm:prSet/>
      <dgm:spPr/>
      <dgm:t>
        <a:bodyPr/>
        <a:lstStyle/>
        <a:p>
          <a:endParaRPr lang="en-US"/>
        </a:p>
      </dgm:t>
    </dgm:pt>
    <dgm:pt modelId="{4A75A5C2-7229-473D-BCB9-09860A16F5B7}" type="sibTrans" cxnId="{5F18BAF6-FF66-4167-9A2F-873A8B63C0A0}">
      <dgm:prSet/>
      <dgm:spPr/>
      <dgm:t>
        <a:bodyPr/>
        <a:lstStyle/>
        <a:p>
          <a:endParaRPr lang="en-US"/>
        </a:p>
      </dgm:t>
    </dgm:pt>
    <dgm:pt modelId="{ADED5DF2-8D2F-4BE2-A67C-B47B616EB000}">
      <dgm:prSet/>
      <dgm:spPr/>
      <dgm:t>
        <a:bodyPr/>
        <a:lstStyle/>
        <a:p>
          <a:r>
            <a:rPr lang="hr-HR" dirty="0"/>
            <a:t>Kontrola: Potpuna funkcionalnost</a:t>
          </a:r>
          <a:endParaRPr lang="en-US" dirty="0"/>
        </a:p>
      </dgm:t>
    </dgm:pt>
    <dgm:pt modelId="{9AC70D9E-67A1-45F6-B875-6ACC4740415C}" type="parTrans" cxnId="{050F5823-16D4-4ED9-B92E-A252AFADCF9B}">
      <dgm:prSet/>
      <dgm:spPr/>
      <dgm:t>
        <a:bodyPr/>
        <a:lstStyle/>
        <a:p>
          <a:endParaRPr lang="en-US"/>
        </a:p>
      </dgm:t>
    </dgm:pt>
    <dgm:pt modelId="{1E90A3E4-6508-4D48-970F-5AE3F1FDA66A}" type="sibTrans" cxnId="{050F5823-16D4-4ED9-B92E-A252AFADCF9B}">
      <dgm:prSet/>
      <dgm:spPr/>
      <dgm:t>
        <a:bodyPr/>
        <a:lstStyle/>
        <a:p>
          <a:endParaRPr lang="en-US"/>
        </a:p>
      </dgm:t>
    </dgm:pt>
    <dgm:pt modelId="{927BE2C3-B4F5-4706-889F-325863476B43}">
      <dgm:prSet/>
      <dgm:spPr/>
      <dgm:t>
        <a:bodyPr/>
        <a:lstStyle/>
        <a:p>
          <a:r>
            <a:rPr lang="hr-HR" dirty="0"/>
            <a:t>Bez viška: Samo potrebne funkcije</a:t>
          </a:r>
          <a:endParaRPr lang="en-US" dirty="0"/>
        </a:p>
      </dgm:t>
    </dgm:pt>
    <dgm:pt modelId="{77CF44CE-65C6-41DC-9105-F35F196B74B3}" type="parTrans" cxnId="{A1919AD8-966B-4CBE-A279-7C26844BA546}">
      <dgm:prSet/>
      <dgm:spPr/>
      <dgm:t>
        <a:bodyPr/>
        <a:lstStyle/>
        <a:p>
          <a:endParaRPr lang="en-US"/>
        </a:p>
      </dgm:t>
    </dgm:pt>
    <dgm:pt modelId="{30D88346-6830-4D17-B5C4-7C5EE178B1B8}" type="sibTrans" cxnId="{A1919AD8-966B-4CBE-A279-7C26844BA546}">
      <dgm:prSet/>
      <dgm:spPr/>
      <dgm:t>
        <a:bodyPr/>
        <a:lstStyle/>
        <a:p>
          <a:endParaRPr lang="en-US"/>
        </a:p>
      </dgm:t>
    </dgm:pt>
    <dgm:pt modelId="{13E3EBD3-116D-4E4C-884F-FCC29EE61359}">
      <dgm:prSet/>
      <dgm:spPr/>
      <dgm:t>
        <a:bodyPr/>
        <a:lstStyle/>
        <a:p>
          <a:r>
            <a:rPr lang="hr-HR"/>
            <a:t>Mane:</a:t>
          </a:r>
          <a:endParaRPr lang="en-US"/>
        </a:p>
      </dgm:t>
    </dgm:pt>
    <dgm:pt modelId="{C2FD771F-3582-4685-82D2-CB681A519AAC}" type="parTrans" cxnId="{D4913D67-714E-4A39-8192-488EAA67CF54}">
      <dgm:prSet/>
      <dgm:spPr/>
      <dgm:t>
        <a:bodyPr/>
        <a:lstStyle/>
        <a:p>
          <a:endParaRPr lang="en-US"/>
        </a:p>
      </dgm:t>
    </dgm:pt>
    <dgm:pt modelId="{3C644E32-DC47-40F7-B857-196AB120ECA5}" type="sibTrans" cxnId="{D4913D67-714E-4A39-8192-488EAA67CF54}">
      <dgm:prSet/>
      <dgm:spPr/>
      <dgm:t>
        <a:bodyPr/>
        <a:lstStyle/>
        <a:p>
          <a:endParaRPr lang="en-US"/>
        </a:p>
      </dgm:t>
    </dgm:pt>
    <dgm:pt modelId="{1E075418-C54F-4F86-B992-06B4CC9EC7DE}">
      <dgm:prSet/>
      <dgm:spPr/>
      <dgm:t>
        <a:bodyPr/>
        <a:lstStyle/>
        <a:p>
          <a:r>
            <a:rPr lang="hr-HR"/>
            <a:t>Trošak: Viši inicijalni troškovi</a:t>
          </a:r>
          <a:endParaRPr lang="en-US"/>
        </a:p>
      </dgm:t>
    </dgm:pt>
    <dgm:pt modelId="{A3CEF743-1C8A-44FD-AD8A-19B4C3A1CE3D}" type="parTrans" cxnId="{DA62187B-87E9-4E24-8B12-9517DE87C474}">
      <dgm:prSet/>
      <dgm:spPr/>
      <dgm:t>
        <a:bodyPr/>
        <a:lstStyle/>
        <a:p>
          <a:endParaRPr lang="en-US"/>
        </a:p>
      </dgm:t>
    </dgm:pt>
    <dgm:pt modelId="{5849121E-28CB-489C-A024-8D55BE9F990A}" type="sibTrans" cxnId="{DA62187B-87E9-4E24-8B12-9517DE87C474}">
      <dgm:prSet/>
      <dgm:spPr/>
      <dgm:t>
        <a:bodyPr/>
        <a:lstStyle/>
        <a:p>
          <a:endParaRPr lang="en-US"/>
        </a:p>
      </dgm:t>
    </dgm:pt>
    <dgm:pt modelId="{9D7B2CA4-79FC-437D-A390-C02898A354EC}">
      <dgm:prSet/>
      <dgm:spPr/>
      <dgm:t>
        <a:bodyPr/>
        <a:lstStyle/>
        <a:p>
          <a:r>
            <a:rPr lang="hr-HR"/>
            <a:t>Vrijeme: Dulji razvojni period</a:t>
          </a:r>
          <a:endParaRPr lang="en-US"/>
        </a:p>
      </dgm:t>
    </dgm:pt>
    <dgm:pt modelId="{C62431B3-2A37-4174-8051-8E3EE9397484}" type="parTrans" cxnId="{EBED13A3-E48C-4E0E-AA45-F38FDCBD8E3C}">
      <dgm:prSet/>
      <dgm:spPr/>
      <dgm:t>
        <a:bodyPr/>
        <a:lstStyle/>
        <a:p>
          <a:endParaRPr lang="en-US"/>
        </a:p>
      </dgm:t>
    </dgm:pt>
    <dgm:pt modelId="{19F1EDE0-CEDA-4765-970F-D2529B6E8303}" type="sibTrans" cxnId="{EBED13A3-E48C-4E0E-AA45-F38FDCBD8E3C}">
      <dgm:prSet/>
      <dgm:spPr/>
      <dgm:t>
        <a:bodyPr/>
        <a:lstStyle/>
        <a:p>
          <a:endParaRPr lang="en-US"/>
        </a:p>
      </dgm:t>
    </dgm:pt>
    <dgm:pt modelId="{E6B20643-D8BE-4AB9-A49F-746B3F00BB23}">
      <dgm:prSet/>
      <dgm:spPr/>
      <dgm:t>
        <a:bodyPr/>
        <a:lstStyle/>
        <a:p>
          <a:r>
            <a:rPr lang="hr-HR"/>
            <a:t>Održavanje: Vlastiti resursi za podršku</a:t>
          </a:r>
          <a:endParaRPr lang="en-US"/>
        </a:p>
      </dgm:t>
    </dgm:pt>
    <dgm:pt modelId="{7A59669C-C85C-4C28-B89A-7B998E1BFC2E}" type="parTrans" cxnId="{BA7AFB08-CCFC-43A1-88C0-6BE169CB4E17}">
      <dgm:prSet/>
      <dgm:spPr/>
      <dgm:t>
        <a:bodyPr/>
        <a:lstStyle/>
        <a:p>
          <a:endParaRPr lang="en-US"/>
        </a:p>
      </dgm:t>
    </dgm:pt>
    <dgm:pt modelId="{E5E25495-2EDC-448C-9E41-B2E16FC2EEF5}" type="sibTrans" cxnId="{BA7AFB08-CCFC-43A1-88C0-6BE169CB4E17}">
      <dgm:prSet/>
      <dgm:spPr/>
      <dgm:t>
        <a:bodyPr/>
        <a:lstStyle/>
        <a:p>
          <a:endParaRPr lang="en-US"/>
        </a:p>
      </dgm:t>
    </dgm:pt>
    <dgm:pt modelId="{82034A62-D343-42F6-9519-7A7BA2295639}" type="pres">
      <dgm:prSet presAssocID="{D879B1EB-836E-47BE-8C50-6DCEACD9F621}" presName="Name0" presStyleCnt="0">
        <dgm:presLayoutVars>
          <dgm:dir/>
          <dgm:animLvl val="lvl"/>
          <dgm:resizeHandles val="exact"/>
        </dgm:presLayoutVars>
      </dgm:prSet>
      <dgm:spPr/>
    </dgm:pt>
    <dgm:pt modelId="{4B5D2155-5F92-4BDE-ADFA-867D61D5EFAD}" type="pres">
      <dgm:prSet presAssocID="{8E53A903-EFB6-4D22-AF0D-4BF85132EF57}" presName="composite" presStyleCnt="0"/>
      <dgm:spPr/>
    </dgm:pt>
    <dgm:pt modelId="{59A946A9-CA4D-4DED-8F55-DDBA4154B9AB}" type="pres">
      <dgm:prSet presAssocID="{8E53A903-EFB6-4D22-AF0D-4BF85132EF57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E26C0E8C-3266-4BA5-90C3-F5E22D1F2B6C}" type="pres">
      <dgm:prSet presAssocID="{8E53A903-EFB6-4D22-AF0D-4BF85132EF57}" presName="desTx" presStyleLbl="alignAccFollowNode1" presStyleIdx="0" presStyleCnt="2">
        <dgm:presLayoutVars>
          <dgm:bulletEnabled val="1"/>
        </dgm:presLayoutVars>
      </dgm:prSet>
      <dgm:spPr/>
    </dgm:pt>
    <dgm:pt modelId="{A7FAE407-BEEC-4F72-9256-9DE1BCCE8CF2}" type="pres">
      <dgm:prSet presAssocID="{F53996B8-03E9-463C-8700-57A89E7152A5}" presName="space" presStyleCnt="0"/>
      <dgm:spPr/>
    </dgm:pt>
    <dgm:pt modelId="{06B77318-868D-471D-96C6-1E5847EEE42A}" type="pres">
      <dgm:prSet presAssocID="{13E3EBD3-116D-4E4C-884F-FCC29EE61359}" presName="composite" presStyleCnt="0"/>
      <dgm:spPr/>
    </dgm:pt>
    <dgm:pt modelId="{677BDEAA-3F7E-4665-84BF-69345D7DFF09}" type="pres">
      <dgm:prSet presAssocID="{13E3EBD3-116D-4E4C-884F-FCC29EE61359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3A6B8395-8699-4668-A7FD-82C9A6C4FE66}" type="pres">
      <dgm:prSet presAssocID="{13E3EBD3-116D-4E4C-884F-FCC29EE61359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BA7AFB08-CCFC-43A1-88C0-6BE169CB4E17}" srcId="{13E3EBD3-116D-4E4C-884F-FCC29EE61359}" destId="{E6B20643-D8BE-4AB9-A49F-746B3F00BB23}" srcOrd="2" destOrd="0" parTransId="{7A59669C-C85C-4C28-B89A-7B998E1BFC2E}" sibTransId="{E5E25495-2EDC-448C-9E41-B2E16FC2EEF5}"/>
    <dgm:cxn modelId="{B5888E0C-3564-47B2-9CED-DA4201674F6C}" type="presOf" srcId="{E6B20643-D8BE-4AB9-A49F-746B3F00BB23}" destId="{3A6B8395-8699-4668-A7FD-82C9A6C4FE66}" srcOrd="0" destOrd="2" presId="urn:microsoft.com/office/officeart/2005/8/layout/hList1"/>
    <dgm:cxn modelId="{050F5823-16D4-4ED9-B92E-A252AFADCF9B}" srcId="{8E53A903-EFB6-4D22-AF0D-4BF85132EF57}" destId="{ADED5DF2-8D2F-4BE2-A67C-B47B616EB000}" srcOrd="1" destOrd="0" parTransId="{9AC70D9E-67A1-45F6-B875-6ACC4740415C}" sibTransId="{1E90A3E4-6508-4D48-970F-5AE3F1FDA66A}"/>
    <dgm:cxn modelId="{E68E7B32-C9D4-4B1D-9328-B189C1F89B4E}" srcId="{D879B1EB-836E-47BE-8C50-6DCEACD9F621}" destId="{8E53A903-EFB6-4D22-AF0D-4BF85132EF57}" srcOrd="0" destOrd="0" parTransId="{F5931EA1-E741-4716-A528-B557334BE0FB}" sibTransId="{F53996B8-03E9-463C-8700-57A89E7152A5}"/>
    <dgm:cxn modelId="{36EB2A3F-99B3-4685-A940-1584D8998889}" type="presOf" srcId="{66C2F090-B7D1-4A72-9FE4-5C6E4A270304}" destId="{E26C0E8C-3266-4BA5-90C3-F5E22D1F2B6C}" srcOrd="0" destOrd="0" presId="urn:microsoft.com/office/officeart/2005/8/layout/hList1"/>
    <dgm:cxn modelId="{D4913D67-714E-4A39-8192-488EAA67CF54}" srcId="{D879B1EB-836E-47BE-8C50-6DCEACD9F621}" destId="{13E3EBD3-116D-4E4C-884F-FCC29EE61359}" srcOrd="1" destOrd="0" parTransId="{C2FD771F-3582-4685-82D2-CB681A519AAC}" sibTransId="{3C644E32-DC47-40F7-B857-196AB120ECA5}"/>
    <dgm:cxn modelId="{4BB7C76D-B128-4733-93AE-557CC8EEABA5}" type="presOf" srcId="{9D7B2CA4-79FC-437D-A390-C02898A354EC}" destId="{3A6B8395-8699-4668-A7FD-82C9A6C4FE66}" srcOrd="0" destOrd="1" presId="urn:microsoft.com/office/officeart/2005/8/layout/hList1"/>
    <dgm:cxn modelId="{DA62187B-87E9-4E24-8B12-9517DE87C474}" srcId="{13E3EBD3-116D-4E4C-884F-FCC29EE61359}" destId="{1E075418-C54F-4F86-B992-06B4CC9EC7DE}" srcOrd="0" destOrd="0" parTransId="{A3CEF743-1C8A-44FD-AD8A-19B4C3A1CE3D}" sibTransId="{5849121E-28CB-489C-A024-8D55BE9F990A}"/>
    <dgm:cxn modelId="{04A4CF97-A691-4E32-8114-5B56430E0074}" type="presOf" srcId="{ADED5DF2-8D2F-4BE2-A67C-B47B616EB000}" destId="{E26C0E8C-3266-4BA5-90C3-F5E22D1F2B6C}" srcOrd="0" destOrd="1" presId="urn:microsoft.com/office/officeart/2005/8/layout/hList1"/>
    <dgm:cxn modelId="{45BD669C-4CF5-4E1B-B16A-F2BF7D3D7F31}" type="presOf" srcId="{8E53A903-EFB6-4D22-AF0D-4BF85132EF57}" destId="{59A946A9-CA4D-4DED-8F55-DDBA4154B9AB}" srcOrd="0" destOrd="0" presId="urn:microsoft.com/office/officeart/2005/8/layout/hList1"/>
    <dgm:cxn modelId="{285CA29E-08C3-43C4-9599-B2769FE003A5}" type="presOf" srcId="{1E075418-C54F-4F86-B992-06B4CC9EC7DE}" destId="{3A6B8395-8699-4668-A7FD-82C9A6C4FE66}" srcOrd="0" destOrd="0" presId="urn:microsoft.com/office/officeart/2005/8/layout/hList1"/>
    <dgm:cxn modelId="{EBED13A3-E48C-4E0E-AA45-F38FDCBD8E3C}" srcId="{13E3EBD3-116D-4E4C-884F-FCC29EE61359}" destId="{9D7B2CA4-79FC-437D-A390-C02898A354EC}" srcOrd="1" destOrd="0" parTransId="{C62431B3-2A37-4174-8051-8E3EE9397484}" sibTransId="{19F1EDE0-CEDA-4765-970F-D2529B6E8303}"/>
    <dgm:cxn modelId="{3527F2B7-B7C1-4B1D-9193-14BCBD8A31E5}" type="presOf" srcId="{927BE2C3-B4F5-4706-889F-325863476B43}" destId="{E26C0E8C-3266-4BA5-90C3-F5E22D1F2B6C}" srcOrd="0" destOrd="2" presId="urn:microsoft.com/office/officeart/2005/8/layout/hList1"/>
    <dgm:cxn modelId="{A1919AD8-966B-4CBE-A279-7C26844BA546}" srcId="{8E53A903-EFB6-4D22-AF0D-4BF85132EF57}" destId="{927BE2C3-B4F5-4706-889F-325863476B43}" srcOrd="2" destOrd="0" parTransId="{77CF44CE-65C6-41DC-9105-F35F196B74B3}" sibTransId="{30D88346-6830-4D17-B5C4-7C5EE178B1B8}"/>
    <dgm:cxn modelId="{34F326E7-C2E2-4B38-9B05-79D6C3713F76}" type="presOf" srcId="{13E3EBD3-116D-4E4C-884F-FCC29EE61359}" destId="{677BDEAA-3F7E-4665-84BF-69345D7DFF09}" srcOrd="0" destOrd="0" presId="urn:microsoft.com/office/officeart/2005/8/layout/hList1"/>
    <dgm:cxn modelId="{DD8A89ED-D2D6-4FC3-B201-02E05BD5A5E4}" type="presOf" srcId="{D879B1EB-836E-47BE-8C50-6DCEACD9F621}" destId="{82034A62-D343-42F6-9519-7A7BA2295639}" srcOrd="0" destOrd="0" presId="urn:microsoft.com/office/officeart/2005/8/layout/hList1"/>
    <dgm:cxn modelId="{5F18BAF6-FF66-4167-9A2F-873A8B63C0A0}" srcId="{8E53A903-EFB6-4D22-AF0D-4BF85132EF57}" destId="{66C2F090-B7D1-4A72-9FE4-5C6E4A270304}" srcOrd="0" destOrd="0" parTransId="{6CEDA043-A8A7-4D01-BA12-3ED055C08180}" sibTransId="{4A75A5C2-7229-473D-BCB9-09860A16F5B7}"/>
    <dgm:cxn modelId="{B7D5B399-CDCB-46C6-AD7A-93F9B3462D0E}" type="presParOf" srcId="{82034A62-D343-42F6-9519-7A7BA2295639}" destId="{4B5D2155-5F92-4BDE-ADFA-867D61D5EFAD}" srcOrd="0" destOrd="0" presId="urn:microsoft.com/office/officeart/2005/8/layout/hList1"/>
    <dgm:cxn modelId="{53234A7E-C3F2-4BC5-90CE-4C99E0177C9A}" type="presParOf" srcId="{4B5D2155-5F92-4BDE-ADFA-867D61D5EFAD}" destId="{59A946A9-CA4D-4DED-8F55-DDBA4154B9AB}" srcOrd="0" destOrd="0" presId="urn:microsoft.com/office/officeart/2005/8/layout/hList1"/>
    <dgm:cxn modelId="{EE16BE1E-B745-4925-BAF9-F53D2274BDA7}" type="presParOf" srcId="{4B5D2155-5F92-4BDE-ADFA-867D61D5EFAD}" destId="{E26C0E8C-3266-4BA5-90C3-F5E22D1F2B6C}" srcOrd="1" destOrd="0" presId="urn:microsoft.com/office/officeart/2005/8/layout/hList1"/>
    <dgm:cxn modelId="{5186E82D-B254-4E19-995A-6C56B853D139}" type="presParOf" srcId="{82034A62-D343-42F6-9519-7A7BA2295639}" destId="{A7FAE407-BEEC-4F72-9256-9DE1BCCE8CF2}" srcOrd="1" destOrd="0" presId="urn:microsoft.com/office/officeart/2005/8/layout/hList1"/>
    <dgm:cxn modelId="{8E0AEAB8-CA93-49B7-A86E-8FEEE825A6CA}" type="presParOf" srcId="{82034A62-D343-42F6-9519-7A7BA2295639}" destId="{06B77318-868D-471D-96C6-1E5847EEE42A}" srcOrd="2" destOrd="0" presId="urn:microsoft.com/office/officeart/2005/8/layout/hList1"/>
    <dgm:cxn modelId="{CCA269C4-1C00-42ED-81AF-452BE169D7B6}" type="presParOf" srcId="{06B77318-868D-471D-96C6-1E5847EEE42A}" destId="{677BDEAA-3F7E-4665-84BF-69345D7DFF09}" srcOrd="0" destOrd="0" presId="urn:microsoft.com/office/officeart/2005/8/layout/hList1"/>
    <dgm:cxn modelId="{3673C540-9261-43B7-80D7-8E7702BA78B7}" type="presParOf" srcId="{06B77318-868D-471D-96C6-1E5847EEE42A}" destId="{3A6B8395-8699-4668-A7FD-82C9A6C4FE66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53036E-02C3-43D1-A2F7-2F8803AF29B6}">
      <dsp:nvSpPr>
        <dsp:cNvPr id="0" name=""/>
        <dsp:cNvSpPr/>
      </dsp:nvSpPr>
      <dsp:spPr>
        <a:xfrm>
          <a:off x="0" y="117855"/>
          <a:ext cx="5924550" cy="6318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2">
                <a:hueOff val="0"/>
                <a:satOff val="0"/>
                <a:lumOff val="0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700" kern="1200"/>
            <a:t>Korisnici sustava</a:t>
          </a:r>
          <a:endParaRPr lang="en-US" sz="2700" kern="1200"/>
        </a:p>
      </dsp:txBody>
      <dsp:txXfrm>
        <a:off x="30842" y="148697"/>
        <a:ext cx="5862866" cy="570116"/>
      </dsp:txXfrm>
    </dsp:sp>
    <dsp:sp modelId="{4722B4FF-B9E5-4677-AC35-3CF37E7400FA}">
      <dsp:nvSpPr>
        <dsp:cNvPr id="0" name=""/>
        <dsp:cNvSpPr/>
      </dsp:nvSpPr>
      <dsp:spPr>
        <a:xfrm>
          <a:off x="0" y="749655"/>
          <a:ext cx="5924550" cy="10619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8104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hr-HR" sz="2100" kern="1200"/>
            <a:t>Vlasnik gospodarstva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hr-HR" sz="2100" kern="1200"/>
            <a:t>Upravitelji proizvodnje 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hr-HR" sz="2100" kern="1200"/>
            <a:t>Agronom </a:t>
          </a:r>
          <a:endParaRPr lang="en-US" sz="2100" kern="1200"/>
        </a:p>
      </dsp:txBody>
      <dsp:txXfrm>
        <a:off x="0" y="749655"/>
        <a:ext cx="5924550" cy="1061909"/>
      </dsp:txXfrm>
    </dsp:sp>
    <dsp:sp modelId="{01C66CAF-281A-4426-9D61-3BC467627EF3}">
      <dsp:nvSpPr>
        <dsp:cNvPr id="0" name=""/>
        <dsp:cNvSpPr/>
      </dsp:nvSpPr>
      <dsp:spPr>
        <a:xfrm>
          <a:off x="0" y="1811565"/>
          <a:ext cx="5924550" cy="631800"/>
        </a:xfrm>
        <a:prstGeom prst="roundRect">
          <a:avLst/>
        </a:prstGeom>
        <a:gradFill rotWithShape="0">
          <a:gsLst>
            <a:gs pos="0">
              <a:schemeClr val="accent2">
                <a:hueOff val="2212920"/>
                <a:satOff val="10201"/>
                <a:lumOff val="1569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2">
                <a:hueOff val="2212920"/>
                <a:satOff val="10201"/>
                <a:lumOff val="1569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2">
                <a:hueOff val="2212920"/>
                <a:satOff val="10201"/>
                <a:lumOff val="1569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700" kern="1200"/>
            <a:t>Koristi sustava</a:t>
          </a:r>
          <a:endParaRPr lang="en-US" sz="2700" kern="1200"/>
        </a:p>
      </dsp:txBody>
      <dsp:txXfrm>
        <a:off x="30842" y="1842407"/>
        <a:ext cx="5862866" cy="570116"/>
      </dsp:txXfrm>
    </dsp:sp>
    <dsp:sp modelId="{67C8B712-1AB2-4732-8F3E-8FFED92090ED}">
      <dsp:nvSpPr>
        <dsp:cNvPr id="0" name=""/>
        <dsp:cNvSpPr/>
      </dsp:nvSpPr>
      <dsp:spPr>
        <a:xfrm>
          <a:off x="0" y="2443365"/>
          <a:ext cx="5924550" cy="20679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8104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hr-HR" sz="2100" kern="1200"/>
            <a:t>Smanjenje troškova i povećanje efikasnosti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hr-HR" sz="2100" kern="1200"/>
            <a:t>Bolje upravljanje radnom snagom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hr-HR" sz="2100" kern="1200"/>
            <a:t>Bolje donošenje odluka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hr-HR" sz="2100" kern="1200"/>
            <a:t>Omogućava praćenje parametara proizvodnje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hr-HR" sz="2100" kern="1200"/>
            <a:t>Omogućava praćenje agrotehničkih mjera</a:t>
          </a:r>
          <a:endParaRPr lang="en-US" sz="2100" kern="1200"/>
        </a:p>
      </dsp:txBody>
      <dsp:txXfrm>
        <a:off x="0" y="2443365"/>
        <a:ext cx="5924550" cy="206792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69CF4B-416A-4A73-9586-96655A0521AC}">
      <dsp:nvSpPr>
        <dsp:cNvPr id="0" name=""/>
        <dsp:cNvSpPr/>
      </dsp:nvSpPr>
      <dsp:spPr>
        <a:xfrm>
          <a:off x="0" y="0"/>
          <a:ext cx="5924550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2">
                <a:hueOff val="0"/>
                <a:satOff val="0"/>
                <a:lumOff val="0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50BBC0F-3BC3-4AFC-B2BD-D045BA99AE40}">
      <dsp:nvSpPr>
        <dsp:cNvPr id="0" name=""/>
        <dsp:cNvSpPr/>
      </dsp:nvSpPr>
      <dsp:spPr>
        <a:xfrm>
          <a:off x="0" y="0"/>
          <a:ext cx="5924550" cy="11572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3900" kern="1200"/>
            <a:t>•Efikasnost resursa</a:t>
          </a:r>
          <a:endParaRPr lang="en-US" sz="3900" kern="1200"/>
        </a:p>
      </dsp:txBody>
      <dsp:txXfrm>
        <a:off x="0" y="0"/>
        <a:ext cx="5924550" cy="1157287"/>
      </dsp:txXfrm>
    </dsp:sp>
    <dsp:sp modelId="{430D6D0B-53BD-4470-B573-A5D903B28850}">
      <dsp:nvSpPr>
        <dsp:cNvPr id="0" name=""/>
        <dsp:cNvSpPr/>
      </dsp:nvSpPr>
      <dsp:spPr>
        <a:xfrm>
          <a:off x="0" y="1157287"/>
          <a:ext cx="5924550" cy="0"/>
        </a:xfrm>
        <a:prstGeom prst="line">
          <a:avLst/>
        </a:prstGeom>
        <a:gradFill rotWithShape="0">
          <a:gsLst>
            <a:gs pos="0">
              <a:schemeClr val="accent2">
                <a:hueOff val="737640"/>
                <a:satOff val="3400"/>
                <a:lumOff val="523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2">
                <a:hueOff val="737640"/>
                <a:satOff val="3400"/>
                <a:lumOff val="523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2">
                <a:hueOff val="737640"/>
                <a:satOff val="3400"/>
                <a:lumOff val="523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737640"/>
              <a:satOff val="3400"/>
              <a:lumOff val="523"/>
              <a:alphaOff val="0"/>
            </a:schemeClr>
          </a:solidFill>
          <a:prstDash val="solid"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92FE95A-7DE6-4B13-BA73-F8ECBAEEF8B2}">
      <dsp:nvSpPr>
        <dsp:cNvPr id="0" name=""/>
        <dsp:cNvSpPr/>
      </dsp:nvSpPr>
      <dsp:spPr>
        <a:xfrm>
          <a:off x="0" y="1157287"/>
          <a:ext cx="5924550" cy="11572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3900" kern="1200"/>
            <a:t>•Kvaliteta proizvoda</a:t>
          </a:r>
          <a:endParaRPr lang="en-US" sz="3900" kern="1200"/>
        </a:p>
      </dsp:txBody>
      <dsp:txXfrm>
        <a:off x="0" y="1157287"/>
        <a:ext cx="5924550" cy="1157287"/>
      </dsp:txXfrm>
    </dsp:sp>
    <dsp:sp modelId="{17D87F96-4491-4DE6-9F41-F90411F9C671}">
      <dsp:nvSpPr>
        <dsp:cNvPr id="0" name=""/>
        <dsp:cNvSpPr/>
      </dsp:nvSpPr>
      <dsp:spPr>
        <a:xfrm>
          <a:off x="0" y="2314574"/>
          <a:ext cx="5924550" cy="0"/>
        </a:xfrm>
        <a:prstGeom prst="line">
          <a:avLst/>
        </a:prstGeom>
        <a:gradFill rotWithShape="0">
          <a:gsLst>
            <a:gs pos="0">
              <a:schemeClr val="accent2">
                <a:hueOff val="1475280"/>
                <a:satOff val="6801"/>
                <a:lumOff val="1046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2">
                <a:hueOff val="1475280"/>
                <a:satOff val="6801"/>
                <a:lumOff val="1046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2">
                <a:hueOff val="1475280"/>
                <a:satOff val="6801"/>
                <a:lumOff val="1046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1475280"/>
              <a:satOff val="6801"/>
              <a:lumOff val="1046"/>
              <a:alphaOff val="0"/>
            </a:schemeClr>
          </a:solidFill>
          <a:prstDash val="solid"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80C01A2-0657-4CFE-8828-530AECB67243}">
      <dsp:nvSpPr>
        <dsp:cNvPr id="0" name=""/>
        <dsp:cNvSpPr/>
      </dsp:nvSpPr>
      <dsp:spPr>
        <a:xfrm>
          <a:off x="0" y="2314574"/>
          <a:ext cx="5924550" cy="11572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3900" kern="1200"/>
            <a:t>•Operativna učinkovitost</a:t>
          </a:r>
          <a:endParaRPr lang="en-US" sz="3900" kern="1200"/>
        </a:p>
      </dsp:txBody>
      <dsp:txXfrm>
        <a:off x="0" y="2314574"/>
        <a:ext cx="5924550" cy="1157287"/>
      </dsp:txXfrm>
    </dsp:sp>
    <dsp:sp modelId="{552C7CDE-2147-449D-AF0E-8372F66F836A}">
      <dsp:nvSpPr>
        <dsp:cNvPr id="0" name=""/>
        <dsp:cNvSpPr/>
      </dsp:nvSpPr>
      <dsp:spPr>
        <a:xfrm>
          <a:off x="0" y="3471862"/>
          <a:ext cx="5924550" cy="0"/>
        </a:xfrm>
        <a:prstGeom prst="line">
          <a:avLst/>
        </a:prstGeom>
        <a:gradFill rotWithShape="0">
          <a:gsLst>
            <a:gs pos="0">
              <a:schemeClr val="accent2">
                <a:hueOff val="2212920"/>
                <a:satOff val="10201"/>
                <a:lumOff val="1569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2">
                <a:hueOff val="2212920"/>
                <a:satOff val="10201"/>
                <a:lumOff val="1569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2">
                <a:hueOff val="2212920"/>
                <a:satOff val="10201"/>
                <a:lumOff val="1569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2212920"/>
              <a:satOff val="10201"/>
              <a:lumOff val="1569"/>
              <a:alphaOff val="0"/>
            </a:schemeClr>
          </a:solidFill>
          <a:prstDash val="solid"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9ED7858-B21F-4B92-A723-75899A6669B6}">
      <dsp:nvSpPr>
        <dsp:cNvPr id="0" name=""/>
        <dsp:cNvSpPr/>
      </dsp:nvSpPr>
      <dsp:spPr>
        <a:xfrm>
          <a:off x="0" y="3471862"/>
          <a:ext cx="5924550" cy="11572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3900" kern="1200"/>
            <a:t>•Smanjenje rizika</a:t>
          </a:r>
          <a:endParaRPr lang="en-US" sz="3900" kern="1200"/>
        </a:p>
      </dsp:txBody>
      <dsp:txXfrm>
        <a:off x="0" y="3471862"/>
        <a:ext cx="5924550" cy="115728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A946A9-CA4D-4DED-8F55-DDBA4154B9AB}">
      <dsp:nvSpPr>
        <dsp:cNvPr id="0" name=""/>
        <dsp:cNvSpPr/>
      </dsp:nvSpPr>
      <dsp:spPr>
        <a:xfrm>
          <a:off x="50" y="228256"/>
          <a:ext cx="4838118" cy="72000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2">
                <a:hueOff val="0"/>
                <a:satOff val="0"/>
                <a:lumOff val="0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500" kern="1200"/>
            <a:t>Prednosti:</a:t>
          </a:r>
          <a:endParaRPr lang="en-US" sz="2500" kern="1200"/>
        </a:p>
      </dsp:txBody>
      <dsp:txXfrm>
        <a:off x="50" y="228256"/>
        <a:ext cx="4838118" cy="720000"/>
      </dsp:txXfrm>
    </dsp:sp>
    <dsp:sp modelId="{E26C0E8C-3266-4BA5-90C3-F5E22D1F2B6C}">
      <dsp:nvSpPr>
        <dsp:cNvPr id="0" name=""/>
        <dsp:cNvSpPr/>
      </dsp:nvSpPr>
      <dsp:spPr>
        <a:xfrm>
          <a:off x="50" y="948256"/>
          <a:ext cx="4838118" cy="212737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r-HR" sz="2500" kern="1200" dirty="0"/>
            <a:t>Prilagodljivost: Specifične </a:t>
          </a:r>
          <a:endParaRPr lang="en-US" sz="250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r-HR" sz="2500" kern="1200" dirty="0"/>
            <a:t>Kontrola: Potpuna funkcionalnost</a:t>
          </a:r>
          <a:endParaRPr lang="en-US" sz="250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r-HR" sz="2500" kern="1200" dirty="0"/>
            <a:t>Bez viška: Samo potrebne funkcije</a:t>
          </a:r>
          <a:endParaRPr lang="en-US" sz="2500" kern="1200" dirty="0"/>
        </a:p>
      </dsp:txBody>
      <dsp:txXfrm>
        <a:off x="50" y="948256"/>
        <a:ext cx="4838118" cy="2127375"/>
      </dsp:txXfrm>
    </dsp:sp>
    <dsp:sp modelId="{677BDEAA-3F7E-4665-84BF-69345D7DFF09}">
      <dsp:nvSpPr>
        <dsp:cNvPr id="0" name=""/>
        <dsp:cNvSpPr/>
      </dsp:nvSpPr>
      <dsp:spPr>
        <a:xfrm>
          <a:off x="5515505" y="228256"/>
          <a:ext cx="4838118" cy="720000"/>
        </a:xfrm>
        <a:prstGeom prst="rect">
          <a:avLst/>
        </a:prstGeom>
        <a:gradFill rotWithShape="0">
          <a:gsLst>
            <a:gs pos="0">
              <a:schemeClr val="accent2">
                <a:hueOff val="2212920"/>
                <a:satOff val="10201"/>
                <a:lumOff val="1569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2">
                <a:hueOff val="2212920"/>
                <a:satOff val="10201"/>
                <a:lumOff val="1569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2">
                <a:hueOff val="2212920"/>
                <a:satOff val="10201"/>
                <a:lumOff val="1569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2212920"/>
              <a:satOff val="10201"/>
              <a:lumOff val="1569"/>
              <a:alphaOff val="0"/>
            </a:schemeClr>
          </a:solidFill>
          <a:prstDash val="solid"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500" kern="1200"/>
            <a:t>Mane:</a:t>
          </a:r>
          <a:endParaRPr lang="en-US" sz="2500" kern="1200"/>
        </a:p>
      </dsp:txBody>
      <dsp:txXfrm>
        <a:off x="5515505" y="228256"/>
        <a:ext cx="4838118" cy="720000"/>
      </dsp:txXfrm>
    </dsp:sp>
    <dsp:sp modelId="{3A6B8395-8699-4668-A7FD-82C9A6C4FE66}">
      <dsp:nvSpPr>
        <dsp:cNvPr id="0" name=""/>
        <dsp:cNvSpPr/>
      </dsp:nvSpPr>
      <dsp:spPr>
        <a:xfrm>
          <a:off x="5515505" y="948256"/>
          <a:ext cx="4838118" cy="2127375"/>
        </a:xfrm>
        <a:prstGeom prst="rect">
          <a:avLst/>
        </a:prstGeom>
        <a:solidFill>
          <a:schemeClr val="accent2">
            <a:tint val="40000"/>
            <a:alpha val="90000"/>
            <a:hueOff val="2923067"/>
            <a:satOff val="9722"/>
            <a:lumOff val="74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2923067"/>
              <a:satOff val="9722"/>
              <a:lumOff val="74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r-HR" sz="2500" kern="1200"/>
            <a:t>Trošak: Viši inicijalni troškovi</a:t>
          </a:r>
          <a:endParaRPr lang="en-US" sz="2500" kern="120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r-HR" sz="2500" kern="1200"/>
            <a:t>Vrijeme: Dulji razvojni period</a:t>
          </a:r>
          <a:endParaRPr lang="en-US" sz="2500" kern="120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r-HR" sz="2500" kern="1200"/>
            <a:t>Održavanje: Vlastiti resursi za podršku</a:t>
          </a:r>
          <a:endParaRPr lang="en-US" sz="2500" kern="1200"/>
        </a:p>
      </dsp:txBody>
      <dsp:txXfrm>
        <a:off x="5515505" y="948256"/>
        <a:ext cx="4838118" cy="21273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zaglavlj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Rezervirano mjesto datum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33B6E5-9979-44DF-87B5-582849CFA00A}" type="datetimeFigureOut">
              <a:rPr lang="hr-HR" smtClean="0"/>
              <a:t>13.6.2024.</a:t>
            </a:fld>
            <a:endParaRPr lang="hr-HR"/>
          </a:p>
        </p:txBody>
      </p:sp>
      <p:sp>
        <p:nvSpPr>
          <p:cNvPr id="4" name="Rezervirano mjesto slike slajd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Rezervirano mjesto bilježaka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6" name="Rezervirano mjesto podnožj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Rezervirano mjesto broja slajd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994E30-53FD-4F5C-AD0B-AF8D4FC0187B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377736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994E30-53FD-4F5C-AD0B-AF8D4FC0187B}" type="slidenum">
              <a:rPr lang="hr-HR" smtClean="0"/>
              <a:t>3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7013532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hr-HR" dirty="0"/>
              <a:t>Efikasnost resursa: Praćenje korištenja resursa omogućuje identifikaciju područja za optimizaciju i poboljšanje produktivnosti.</a:t>
            </a:r>
          </a:p>
          <a:p>
            <a:pPr marL="228600" indent="-228600">
              <a:buFont typeface="+mj-lt"/>
              <a:buAutoNum type="arabicPeriod"/>
            </a:pPr>
            <a:endParaRPr lang="hr-HR" dirty="0"/>
          </a:p>
          <a:p>
            <a:pPr marL="228600" indent="-228600">
              <a:buFont typeface="+mj-lt"/>
              <a:buAutoNum type="arabicPeriod"/>
            </a:pPr>
            <a:r>
              <a:rPr lang="hr-HR" dirty="0"/>
              <a:t>Kvaliteta proizvoda: Analiza kvalitete proizvoda u usporedbi s postavljenim standardima i povratne informacije kupaca ključne su za kontinuirano poboljšanje.</a:t>
            </a:r>
          </a:p>
          <a:p>
            <a:pPr marL="228600" indent="-228600">
              <a:buFont typeface="+mj-lt"/>
              <a:buAutoNum type="arabicPeriod"/>
            </a:pPr>
            <a:endParaRPr lang="hr-HR" dirty="0"/>
          </a:p>
          <a:p>
            <a:pPr marL="228600" indent="-228600">
              <a:buFont typeface="+mj-lt"/>
              <a:buAutoNum type="arabicPeriod"/>
            </a:pPr>
            <a:r>
              <a:rPr lang="hr-HR" dirty="0"/>
              <a:t>Operativna učinkovitost: Praćenje vremena izvršenja operativnih zadataka omogućuje identifikaciju područja za optimizaciju radnih procesa i povećanje produktivnosti.</a:t>
            </a:r>
          </a:p>
          <a:p>
            <a:pPr marL="228600" indent="-228600">
              <a:buFont typeface="+mj-lt"/>
              <a:buAutoNum type="arabicPeriod"/>
            </a:pPr>
            <a:endParaRPr lang="hr-HR" dirty="0"/>
          </a:p>
          <a:p>
            <a:pPr marL="228600" indent="-228600">
              <a:buFont typeface="+mj-lt"/>
              <a:buAutoNum type="arabicPeriod"/>
            </a:pPr>
            <a:r>
              <a:rPr lang="hr-HR" dirty="0"/>
              <a:t>Smanjenje rizika: Evaluacija napretka u smanjenju operativnih rizika i identifikacija potencijalnih rizika ključni su za osiguranje stabilnosti i sigurnosti poslovanja.</a:t>
            </a:r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994E30-53FD-4F5C-AD0B-AF8D4FC0187B}" type="slidenum">
              <a:rPr lang="hr-HR" smtClean="0"/>
              <a:t>4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6725652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Zaposlenici se mogu opirati novim načinima rada, što može smanjiti učinkovitost i </a:t>
            </a:r>
            <a:r>
              <a:rPr lang="hr-HR" dirty="0" err="1"/>
              <a:t>produktivnos</a:t>
            </a:r>
            <a:endParaRPr lang="hr-HR" dirty="0"/>
          </a:p>
          <a:p>
            <a:endParaRPr lang="hr-HR" dirty="0"/>
          </a:p>
          <a:p>
            <a:pPr marL="228600" indent="-228600">
              <a:buFont typeface="+mj-lt"/>
              <a:buAutoNum type="arabicPeriod"/>
            </a:pPr>
            <a:r>
              <a:rPr lang="hr-HR" dirty="0"/>
              <a:t>Transparentna komunikacija i jasna prezentacija prednosti novog sustava ključni su za prevladavanje otpora.</a:t>
            </a:r>
          </a:p>
          <a:p>
            <a:pPr marL="228600" indent="-228600">
              <a:buFont typeface="+mj-lt"/>
              <a:buAutoNum type="arabicPeriod"/>
            </a:pPr>
            <a:endParaRPr lang="hr-HR" dirty="0"/>
          </a:p>
          <a:p>
            <a:pPr marL="228600" indent="-228600">
              <a:buFont typeface="+mj-lt"/>
              <a:buAutoNum type="arabicPeriod"/>
            </a:pPr>
            <a:r>
              <a:rPr lang="hr-HR" dirty="0"/>
              <a:t>Obuka zaposlenika ključna je za osiguranje da svi razumiju i učinkovito koriste novi sustav</a:t>
            </a:r>
          </a:p>
          <a:p>
            <a:pPr marL="228600" indent="-228600">
              <a:buFont typeface="+mj-lt"/>
              <a:buAutoNum type="arabicPeriod"/>
            </a:pPr>
            <a:endParaRPr lang="hr-HR" dirty="0"/>
          </a:p>
          <a:p>
            <a:pPr marL="228600" indent="-228600">
              <a:buFont typeface="+mj-lt"/>
              <a:buAutoNum type="arabicPeriod"/>
            </a:pPr>
            <a:r>
              <a:rPr lang="hr-HR" dirty="0"/>
              <a:t>Tehnički rizici: Problemi s integracijom sustava i nedostatak pouzdanosti tehnoloških rješenja mogu otežati implementaciju.</a:t>
            </a:r>
          </a:p>
          <a:p>
            <a:pPr marL="228600" indent="-228600">
              <a:buFont typeface="+mj-lt"/>
              <a:buAutoNum type="arabicPeriod"/>
            </a:pPr>
            <a:endParaRPr lang="hr-HR" dirty="0"/>
          </a:p>
          <a:p>
            <a:pPr marL="228600" indent="-228600">
              <a:buFont typeface="+mj-lt"/>
              <a:buAutoNum type="arabicPeriod"/>
            </a:pPr>
            <a:r>
              <a:rPr lang="hr-HR" dirty="0"/>
              <a:t>Nedostatak obuke ili otpor prema novoj tehnologiji predstavljaju izazove koji se mogu prevladati investiranjem u edukaciju zaposlenika.</a:t>
            </a:r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994E30-53FD-4F5C-AD0B-AF8D4FC0187B}" type="slidenum">
              <a:rPr lang="hr-HR" smtClean="0"/>
              <a:t>5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7768118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hr-HR" dirty="0"/>
              <a:t>Berba lješnjaka: Ključno razdoblje u godišnjem ciklusu proizvodnje na gospodarstvu </a:t>
            </a:r>
            <a:r>
              <a:rPr lang="hr-HR" dirty="0" err="1"/>
              <a:t>Moulis</a:t>
            </a:r>
            <a:r>
              <a:rPr lang="hr-HR" dirty="0"/>
              <a:t> koje uključuje mobilizaciju radne snage, pripremu opreme za berbu i koordinaciju logistike za skladištenje i obradu lješnjaka.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hr-H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r-HR" dirty="0"/>
              <a:t>Obrada lješnjaka: Proces čišćenja i sortiranja lješnjaka radi uklanjanja nečistoća te razvrstavanja prema veličini i kvaliteti kako bi se osigurao visokokvalitetni proizvod.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hr-H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r-HR" dirty="0"/>
              <a:t>Narudžba lješnjaka: Aktivnosti od obrade narudžbe, pripreme lješnjaka do isporuke kupcu, pokrenute narudžbom lješnjaka od kupca.</a:t>
            </a:r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994E30-53FD-4F5C-AD0B-AF8D4FC0187B}" type="slidenum">
              <a:rPr lang="hr-HR" smtClean="0"/>
              <a:t>6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3315475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o	Prvi razred: Veličina 16 mm ili veći, bez oštećenja.</a:t>
            </a:r>
          </a:p>
          <a:p>
            <a:r>
              <a:rPr lang="hr-HR" dirty="0"/>
              <a:t>o	Drugi razred: Veličina između 14 mm i 16 mm.</a:t>
            </a:r>
          </a:p>
          <a:p>
            <a:r>
              <a:rPr lang="hr-HR" dirty="0"/>
              <a:t>o	Treći razred: Manji od 14 mm ili s vidljivim deformacijama</a:t>
            </a:r>
          </a:p>
          <a:p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994E30-53FD-4F5C-AD0B-AF8D4FC0187B}" type="slidenum">
              <a:rPr lang="hr-HR" smtClean="0"/>
              <a:t>10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6480612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hr-HR" dirty="0"/>
              <a:t>P15 : Berba plodova se smije vršiti kada plodovi počnu mijenjati boju i kada počnu ispadati iz ljuske.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r-HR" dirty="0"/>
              <a:t>P16: Berači prije početka berbe moraju proći kroz obuku o sigurnosti i radu sa strojevima.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r-HR" dirty="0"/>
              <a:t>P17: Prilikom berbe plodovi imaju vlagu između 30-35%, te ih je potrebno osušiti u sušari pri temperaturi od 40°C da se postotak vlage spusti na 10%, što je optimalna vlaga za daljnju obradu.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r-HR" dirty="0"/>
              <a:t>P18: Ako dođe nepovoljnih vremenskih uvjeta (kiša, vjetar), berba mora biti zaustavljena, te se može nastaviti tek kada plodovi u nasadu budu imali vlagu između 30-35%.</a:t>
            </a:r>
          </a:p>
          <a:p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994E30-53FD-4F5C-AD0B-AF8D4FC0187B}" type="slidenum">
              <a:rPr lang="hr-HR" smtClean="0"/>
              <a:t>17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2141808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hr-HR" dirty="0"/>
              <a:t>P1: Lješnjaci prije pakiranja moraju biti oprani i osušeni te postotak vlage mora biti između 8 i 10%.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r-HR" dirty="0"/>
              <a:t>P2: Da bi strojevi za obradu ostali čisti i funkcionalni, moraju biti očišćeni nakon svake smjene, tako što se uklanjaju ostatci lješnjaka, te se svi dijelovi stroja ispiru pomoću tople vode, na temperaturi od 50°C, pod visokim pritiskom od 100 do 200 bara.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r-HR" dirty="0"/>
              <a:t>P3: Lješnjaci prije obrade moraju odstojati 10-12 dana, te se za to vrijeme stalno miješaju da bi se sušenje ubrzalo.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r-HR" dirty="0"/>
              <a:t>P4: Lješnjaci moraju biti sortirani po veličini, od čega je 12-14 mm treća klasa, 14-16 mm druga klasa i 16-18 mm prva klasa.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r-HR" dirty="0"/>
              <a:t>P5: Ukupan urod lješnjaka se računa tako da se zbroje sve tri klase očišćenih lješnjaka</a:t>
            </a:r>
          </a:p>
          <a:p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994E30-53FD-4F5C-AD0B-AF8D4FC0187B}" type="slidenum">
              <a:rPr lang="hr-HR" smtClean="0"/>
              <a:t>18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0320051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994E30-53FD-4F5C-AD0B-AF8D4FC0187B}" type="slidenum">
              <a:rPr lang="hr-HR" smtClean="0"/>
              <a:t>20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6289683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994E30-53FD-4F5C-AD0B-AF8D4FC0187B}" type="slidenum">
              <a:rPr lang="hr-HR" smtClean="0"/>
              <a:t>23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6728612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994E30-53FD-4F5C-AD0B-AF8D4FC0187B}" type="slidenum">
              <a:rPr lang="hr-HR" smtClean="0"/>
              <a:t>29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793488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994E30-53FD-4F5C-AD0B-AF8D4FC0187B}" type="slidenum">
              <a:rPr lang="hr-HR" smtClean="0"/>
              <a:t>30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1513677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/>
              <a:t>Kliknite da biste uredili stil podnaslova matrice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EB2F4-012D-41C0-B1D4-F9BA6A3A8F39}" type="datetimeFigureOut">
              <a:rPr lang="hr-HR" smtClean="0"/>
              <a:t>13.6.2024.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B764A-C821-4F3A-93A5-0ECC38F0DEA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276512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EB2F4-012D-41C0-B1D4-F9BA6A3A8F39}" type="datetimeFigureOut">
              <a:rPr lang="hr-HR" smtClean="0"/>
              <a:t>13.6.2024.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B764A-C821-4F3A-93A5-0ECC38F0DEA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253663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aglavlje sekci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EB2F4-012D-41C0-B1D4-F9BA6A3A8F39}" type="datetimeFigureOut">
              <a:rPr lang="hr-HR" smtClean="0"/>
              <a:t>13.6.2024.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B764A-C821-4F3A-93A5-0ECC38F0DEA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806674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EB2F4-012D-41C0-B1D4-F9BA6A3A8F39}" type="datetimeFigureOut">
              <a:rPr lang="hr-HR" smtClean="0"/>
              <a:t>13.6.2024.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B764A-C821-4F3A-93A5-0ECC38F0DEA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942717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Usporedb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EB2F4-012D-41C0-B1D4-F9BA6A3A8F39}" type="datetimeFigureOut">
              <a:rPr lang="hr-HR" smtClean="0"/>
              <a:t>13.6.2024.</a:t>
            </a:fld>
            <a:endParaRPr lang="hr-H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B764A-C821-4F3A-93A5-0ECC38F0DEA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182348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EB2F4-012D-41C0-B1D4-F9BA6A3A8F39}" type="datetimeFigureOut">
              <a:rPr lang="hr-HR" smtClean="0"/>
              <a:t>13.6.2024.</a:t>
            </a:fld>
            <a:endParaRPr lang="hr-H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B764A-C821-4F3A-93A5-0ECC38F0DEA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834438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EB2F4-012D-41C0-B1D4-F9BA6A3A8F39}" type="datetimeFigureOut">
              <a:rPr lang="hr-HR" smtClean="0"/>
              <a:t>13.6.2024.</a:t>
            </a:fld>
            <a:endParaRPr lang="hr-H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B764A-C821-4F3A-93A5-0ECC38F0DEA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515171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Sadržaj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EB2F4-012D-41C0-B1D4-F9BA6A3A8F39}" type="datetimeFigureOut">
              <a:rPr lang="hr-HR" smtClean="0"/>
              <a:t>13.6.2024.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B764A-C821-4F3A-93A5-0ECC38F0DEA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241943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Slika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r-HR"/>
              <a:t>Kliknite ikonu da biste dodali  sliku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EB2F4-012D-41C0-B1D4-F9BA6A3A8F39}" type="datetimeFigureOut">
              <a:rPr lang="hr-HR" smtClean="0"/>
              <a:t>13.6.2024.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B764A-C821-4F3A-93A5-0ECC38F0DEA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022780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ska slika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r-HR"/>
              <a:t>Kliknite ikonu da biste dodali  sliku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EB2F4-012D-41C0-B1D4-F9BA6A3A8F39}" type="datetimeFigureOut">
              <a:rPr lang="hr-HR" smtClean="0"/>
              <a:t>13.6.2024.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B764A-C821-4F3A-93A5-0ECC38F0DEA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946959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slov i o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EB2F4-012D-41C0-B1D4-F9BA6A3A8F39}" type="datetimeFigureOut">
              <a:rPr lang="hr-HR" smtClean="0"/>
              <a:t>13.6.2024.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B764A-C821-4F3A-93A5-0ECC38F0DEA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8465774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EB2F4-012D-41C0-B1D4-F9BA6A3A8F39}" type="datetimeFigureOut">
              <a:rPr lang="hr-HR" smtClean="0"/>
              <a:t>13.6.2024.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B764A-C821-4F3A-93A5-0ECC38F0DEA9}" type="slidenum">
              <a:rPr lang="hr-HR" smtClean="0"/>
              <a:t>‹#›</a:t>
            </a:fld>
            <a:endParaRPr lang="hr-HR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70448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ica s naziv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EB2F4-012D-41C0-B1D4-F9BA6A3A8F39}" type="datetimeFigureOut">
              <a:rPr lang="hr-HR" smtClean="0"/>
              <a:t>13.6.2024.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B764A-C821-4F3A-93A5-0ECC38F0DEA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7717175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tup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EB2F4-012D-41C0-B1D4-F9BA6A3A8F39}" type="datetimeFigureOut">
              <a:rPr lang="hr-HR" smtClean="0"/>
              <a:t>13.6.2024.</a:t>
            </a:fld>
            <a:endParaRPr lang="hr-H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B764A-C821-4F3A-93A5-0ECC38F0DEA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7217137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tupca sa slika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r-HR"/>
              <a:t>Kliknite ikonu da biste dodali  sliku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r-HR"/>
              <a:t>Kliknite ikonu da biste dodali  sliku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r-HR"/>
              <a:t>Kliknite ikonu da biste dodali  sliku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EB2F4-012D-41C0-B1D4-F9BA6A3A8F39}" type="datetimeFigureOut">
              <a:rPr lang="hr-HR" smtClean="0"/>
              <a:t>13.6.2024.</a:t>
            </a:fld>
            <a:endParaRPr lang="hr-H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B764A-C821-4F3A-93A5-0ECC38F0DEA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3663392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 okomit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EB2F4-012D-41C0-B1D4-F9BA6A3A8F39}" type="datetimeFigureOut">
              <a:rPr lang="hr-HR" smtClean="0"/>
              <a:t>13.6.2024.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B764A-C821-4F3A-93A5-0ECC38F0DEA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2319900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Okomiti naslov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EB2F4-012D-41C0-B1D4-F9BA6A3A8F39}" type="datetimeFigureOut">
              <a:rPr lang="hr-HR" smtClean="0"/>
              <a:t>13.6.2024.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B764A-C821-4F3A-93A5-0ECC38F0DEA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981491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FEB2F4-012D-41C0-B1D4-F9BA6A3A8F39}" type="datetimeFigureOut">
              <a:rPr lang="hr-HR" smtClean="0"/>
              <a:t>13.6.2024.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8B764A-C821-4F3A-93A5-0ECC38F0DEA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5721612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50647B0-9B87-DAE7-932B-A2CDA13AD9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9" y="1427163"/>
            <a:ext cx="9001462" cy="2387600"/>
          </a:xfrm>
        </p:spPr>
        <p:txBody>
          <a:bodyPr>
            <a:normAutofit fontScale="90000"/>
          </a:bodyPr>
          <a:lstStyle/>
          <a:p>
            <a:r>
              <a:rPr lang="hr-HR" dirty="0"/>
              <a:t>GOSPODARSTVO ZA EKOLOŠKU PROIZVODNJU I PRERADU LJEŠNJAKA MOULIS</a:t>
            </a: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1D67B229-FBA2-D034-7548-73472040C1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90611" y="3987048"/>
            <a:ext cx="3336758" cy="793499"/>
          </a:xfrm>
        </p:spPr>
        <p:txBody>
          <a:bodyPr>
            <a:normAutofit fontScale="92500"/>
          </a:bodyPr>
          <a:lstStyle/>
          <a:p>
            <a:r>
              <a:rPr lang="hr-HR" dirty="0"/>
              <a:t>Autor: Zdravko Blažević</a:t>
            </a:r>
          </a:p>
        </p:txBody>
      </p:sp>
    </p:spTree>
    <p:extLst>
      <p:ext uri="{BB962C8B-B14F-4D97-AF65-F5344CB8AC3E}">
        <p14:creationId xmlns:p14="http://schemas.microsoft.com/office/powerpoint/2010/main" val="3612831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4FD8D610-DCFA-8C9F-00E8-5B3C8A692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Gospodarstvo </a:t>
            </a:r>
            <a:r>
              <a:rPr lang="hr-HR" dirty="0" err="1"/>
              <a:t>Moulsi</a:t>
            </a:r>
            <a:endParaRPr lang="hr-HR" dirty="0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69E97EE9-7208-8863-CB20-B15EEB1F55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99764"/>
          </a:xfrm>
        </p:spPr>
        <p:txBody>
          <a:bodyPr>
            <a:normAutofit/>
          </a:bodyPr>
          <a:lstStyle/>
          <a:p>
            <a:r>
              <a:rPr lang="hr-HR" dirty="0"/>
              <a:t>Uzgoj 100% ekoloških lješnjaka za održivi razvoj poljoprivrede.</a:t>
            </a:r>
          </a:p>
          <a:p>
            <a:r>
              <a:rPr lang="hr-HR" dirty="0"/>
              <a:t>Započeli 1985. godine sa skromnih pola hektara lješnjaka.</a:t>
            </a:r>
          </a:p>
          <a:p>
            <a:r>
              <a:rPr lang="hr-HR" dirty="0"/>
              <a:t>Danas pokrivaju 130 hektara, kontinuirano usavršavajući tehnologiju uzgoja</a:t>
            </a:r>
          </a:p>
          <a:p>
            <a:r>
              <a:rPr lang="hr-HR" dirty="0"/>
              <a:t>Od 2004. godine, proizvodnja 500,000 sadnica godišnje, najveći proizvođač u Hrvatskoj.</a:t>
            </a:r>
          </a:p>
          <a:p>
            <a:r>
              <a:rPr lang="hr-HR" dirty="0"/>
              <a:t>Sadnice s europskim deklaracijama kvalitete.</a:t>
            </a:r>
          </a:p>
          <a:p>
            <a:r>
              <a:rPr lang="hr-HR" dirty="0"/>
              <a:t>Pružanje savjeta kupcima za kvalitetan uzgoj lješnjaka.</a:t>
            </a:r>
          </a:p>
        </p:txBody>
      </p:sp>
    </p:spTree>
    <p:extLst>
      <p:ext uri="{BB962C8B-B14F-4D97-AF65-F5344CB8AC3E}">
        <p14:creationId xmlns:p14="http://schemas.microsoft.com/office/powerpoint/2010/main" val="2831759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80A44ADF-4F65-DDC7-C309-2ACCB1399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475" y="609600"/>
            <a:ext cx="3643150" cy="5603310"/>
          </a:xfrm>
        </p:spPr>
        <p:txBody>
          <a:bodyPr>
            <a:normAutofit/>
          </a:bodyPr>
          <a:lstStyle/>
          <a:p>
            <a:r>
              <a:rPr lang="hr-HR" dirty="0"/>
              <a:t>Korisnici</a:t>
            </a:r>
            <a:r>
              <a:rPr lang="fi-FI" dirty="0"/>
              <a:t> sustava i koristi sustava</a:t>
            </a:r>
            <a:endParaRPr lang="hr-HR" dirty="0"/>
          </a:p>
        </p:txBody>
      </p:sp>
      <p:graphicFrame>
        <p:nvGraphicFramePr>
          <p:cNvPr id="5" name="Rezervirano mjesto sadržaja 2">
            <a:extLst>
              <a:ext uri="{FF2B5EF4-FFF2-40B4-BE49-F238E27FC236}">
                <a16:creationId xmlns:a16="http://schemas.microsoft.com/office/drawing/2014/main" id="{4BF64063-FCC8-5C81-DFE2-D41F4FB7FD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5501897"/>
              </p:ext>
            </p:extLst>
          </p:nvPr>
        </p:nvGraphicFramePr>
        <p:xfrm>
          <a:off x="5127625" y="1114425"/>
          <a:ext cx="5924550" cy="4629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703039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AA1685DB-F984-8F05-CD6A-E4B45B225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475" y="609600"/>
            <a:ext cx="3643150" cy="5603310"/>
          </a:xfrm>
        </p:spPr>
        <p:txBody>
          <a:bodyPr>
            <a:normAutofit/>
          </a:bodyPr>
          <a:lstStyle/>
          <a:p>
            <a:r>
              <a:rPr lang="hr-HR" dirty="0"/>
              <a:t>Mjerenje uspješnosti sustava</a:t>
            </a:r>
          </a:p>
        </p:txBody>
      </p:sp>
      <p:graphicFrame>
        <p:nvGraphicFramePr>
          <p:cNvPr id="5" name="Rezervirano mjesto sadržaja 2">
            <a:extLst>
              <a:ext uri="{FF2B5EF4-FFF2-40B4-BE49-F238E27FC236}">
                <a16:creationId xmlns:a16="http://schemas.microsoft.com/office/drawing/2014/main" id="{90653E72-0D5E-ED71-3EF6-800C239CD8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8988596"/>
              </p:ext>
            </p:extLst>
          </p:nvPr>
        </p:nvGraphicFramePr>
        <p:xfrm>
          <a:off x="5127625" y="1114425"/>
          <a:ext cx="5924550" cy="4629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93038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BFBA67F-0D4D-4C2E-A1D7-82D080A4B3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54CFB1B3-49F7-680D-ED92-D066EFC1F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>
            <a:normAutofit/>
          </a:bodyPr>
          <a:lstStyle/>
          <a:p>
            <a:r>
              <a:rPr lang="hr-HR" dirty="0"/>
              <a:t>Ograničenja i rizici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A2AC96-1E47-421C-A03F-F98E354EB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95500"/>
            <a:ext cx="12192000" cy="4762500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AB92B5D1-36E1-EEBC-46F1-466308886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6850" y="2463800"/>
            <a:ext cx="9247652" cy="3327400"/>
          </a:xfrm>
        </p:spPr>
        <p:txBody>
          <a:bodyPr>
            <a:normAutofit/>
          </a:bodyPr>
          <a:lstStyle/>
          <a:p>
            <a:r>
              <a:rPr lang="hr-HR" dirty="0"/>
              <a:t>Ljudski faktori</a:t>
            </a:r>
          </a:p>
          <a:p>
            <a:r>
              <a:rPr lang="hr-HR" dirty="0"/>
              <a:t>Tehnički rizici uključuju probleme s integracijom sustava </a:t>
            </a:r>
          </a:p>
          <a:p>
            <a:r>
              <a:rPr lang="hr-HR" dirty="0"/>
              <a:t>Operativni rizici </a:t>
            </a:r>
          </a:p>
        </p:txBody>
      </p:sp>
    </p:spTree>
    <p:extLst>
      <p:ext uri="{BB962C8B-B14F-4D97-AF65-F5344CB8AC3E}">
        <p14:creationId xmlns:p14="http://schemas.microsoft.com/office/powerpoint/2010/main" val="4256985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C052280-388E-4151-A1EB-5236D4FCCA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12D96566-8CFE-D54B-B816-92EED8C82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6" y="927100"/>
            <a:ext cx="3418766" cy="4616450"/>
          </a:xfrm>
        </p:spPr>
        <p:txBody>
          <a:bodyPr>
            <a:normAutofit/>
          </a:bodyPr>
          <a:lstStyle/>
          <a:p>
            <a:r>
              <a:rPr lang="hr-HR" dirty="0"/>
              <a:t>Poslovni događaji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44251C3-E720-4363-8AF0-20AD319374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301359"/>
            <a:ext cx="0" cy="191135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AB725DF7-F214-342F-C80D-41A7E851A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6029" y="971549"/>
            <a:ext cx="6291528" cy="4616450"/>
          </a:xfrm>
        </p:spPr>
        <p:txBody>
          <a:bodyPr anchor="ctr">
            <a:normAutofit/>
          </a:bodyPr>
          <a:lstStyle/>
          <a:p>
            <a:r>
              <a:rPr lang="hr-HR" dirty="0"/>
              <a:t>Berba lješnjaka</a:t>
            </a:r>
          </a:p>
          <a:p>
            <a:r>
              <a:rPr lang="hr-HR" dirty="0"/>
              <a:t>Obrada lješnjaka</a:t>
            </a:r>
          </a:p>
          <a:p>
            <a:r>
              <a:rPr lang="hr-HR" dirty="0"/>
              <a:t>Narudžba Lješnjaka</a:t>
            </a:r>
          </a:p>
        </p:txBody>
      </p:sp>
    </p:spTree>
    <p:extLst>
      <p:ext uri="{BB962C8B-B14F-4D97-AF65-F5344CB8AC3E}">
        <p14:creationId xmlns:p14="http://schemas.microsoft.com/office/powerpoint/2010/main" val="2762172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C052280-388E-4151-A1EB-5236D4FCCA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C738C120-9CF3-5CF8-EBB9-FF56A9169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6" y="927100"/>
            <a:ext cx="3418766" cy="4616450"/>
          </a:xfrm>
        </p:spPr>
        <p:txBody>
          <a:bodyPr>
            <a:normAutofit/>
          </a:bodyPr>
          <a:lstStyle/>
          <a:p>
            <a:r>
              <a:rPr lang="hr-HR" dirty="0"/>
              <a:t>Ljudski resursi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44251C3-E720-4363-8AF0-20AD319374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301359"/>
            <a:ext cx="0" cy="191135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25ACE794-8E7A-F537-0A74-1178ECCB6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6029" y="971549"/>
            <a:ext cx="6291528" cy="461645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hr-HR" dirty="0"/>
              <a:t>Tim za razvoj projekta </a:t>
            </a:r>
          </a:p>
          <a:p>
            <a:r>
              <a:rPr lang="hr-HR" dirty="0"/>
              <a:t>Inženjer za razvoj softvera</a:t>
            </a:r>
          </a:p>
          <a:p>
            <a:r>
              <a:rPr lang="hr-HR" dirty="0"/>
              <a:t>Administrator baze podataka </a:t>
            </a:r>
          </a:p>
          <a:p>
            <a:r>
              <a:rPr lang="hr-HR" dirty="0"/>
              <a:t>Tester sustava</a:t>
            </a:r>
          </a:p>
          <a:p>
            <a:r>
              <a:rPr lang="hr-HR" dirty="0"/>
              <a:t>Administrator sustava</a:t>
            </a:r>
          </a:p>
        </p:txBody>
      </p:sp>
    </p:spTree>
    <p:extLst>
      <p:ext uri="{BB962C8B-B14F-4D97-AF65-F5344CB8AC3E}">
        <p14:creationId xmlns:p14="http://schemas.microsoft.com/office/powerpoint/2010/main" val="1749019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C052280-388E-4151-A1EB-5236D4FCCA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B58A9816-A6C0-4E07-2338-37B10C032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6" y="927100"/>
            <a:ext cx="3418766" cy="4616450"/>
          </a:xfrm>
        </p:spPr>
        <p:txBody>
          <a:bodyPr>
            <a:normAutofit/>
          </a:bodyPr>
          <a:lstStyle/>
          <a:p>
            <a:r>
              <a:rPr lang="hr-HR" dirty="0"/>
              <a:t>Materijalni resursi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44251C3-E720-4363-8AF0-20AD319374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301359"/>
            <a:ext cx="0" cy="191135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0A4FB29F-A6BC-B324-736C-085F49BE8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6029" y="971549"/>
            <a:ext cx="6291528" cy="4616450"/>
          </a:xfrm>
        </p:spPr>
        <p:txBody>
          <a:bodyPr anchor="ctr">
            <a:normAutofit/>
          </a:bodyPr>
          <a:lstStyle/>
          <a:p>
            <a:r>
              <a:rPr lang="hr-HR" dirty="0"/>
              <a:t>Računala</a:t>
            </a:r>
          </a:p>
          <a:p>
            <a:r>
              <a:rPr lang="hr-HR" dirty="0"/>
              <a:t>Serveri</a:t>
            </a:r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078425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40267D5E-EADA-18E2-63DF-20BA01360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218" y="2074363"/>
            <a:ext cx="3297382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Vremenski</a:t>
            </a:r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plan </a:t>
            </a:r>
            <a:r>
              <a:rPr lang="en-US" sz="2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projekta</a:t>
            </a:r>
            <a:endParaRPr lang="en-US" sz="2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Rezervirano mjesto sadržaja 3">
            <a:extLst>
              <a:ext uri="{FF2B5EF4-FFF2-40B4-BE49-F238E27FC236}">
                <a16:creationId xmlns:a16="http://schemas.microsoft.com/office/drawing/2014/main" id="{29035730-AA59-02DD-D89B-DBFA4AB7B3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8600" y="1015830"/>
            <a:ext cx="7188199" cy="482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246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BFBA67F-0D4D-4C2E-A1D7-82D080A4B3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CC09FA64-2A63-0890-1507-396AADBB3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>
            <a:normAutofit/>
          </a:bodyPr>
          <a:lstStyle/>
          <a:p>
            <a:r>
              <a:rPr lang="hr-HR" dirty="0"/>
              <a:t>Slučajevi uporabe i scenariji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A2AC96-1E47-421C-A03F-F98E354EB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95500"/>
            <a:ext cx="12192000" cy="4762500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8FD08324-FE3C-771A-A58A-6A9E02AFB2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6850" y="2463800"/>
            <a:ext cx="9247652" cy="3327400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hr-HR" sz="1400" dirty="0"/>
              <a:t>Uspješna Priprema i Berba</a:t>
            </a:r>
          </a:p>
          <a:p>
            <a:pPr>
              <a:lnSpc>
                <a:spcPct val="110000"/>
              </a:lnSpc>
            </a:pPr>
            <a:r>
              <a:rPr lang="hr-HR" sz="1400" dirty="0"/>
              <a:t>Radnici trebaju proći obuku prije početka berbe</a:t>
            </a:r>
          </a:p>
          <a:p>
            <a:pPr>
              <a:lnSpc>
                <a:spcPct val="110000"/>
              </a:lnSpc>
            </a:pPr>
            <a:r>
              <a:rPr lang="hr-HR" sz="1400" dirty="0"/>
              <a:t>Prilikom berbe vlažnost plodova treba biti između 30-35%</a:t>
            </a:r>
          </a:p>
          <a:p>
            <a:pPr>
              <a:lnSpc>
                <a:spcPct val="110000"/>
              </a:lnSpc>
            </a:pPr>
            <a:endParaRPr lang="hr-HR" sz="1400" dirty="0"/>
          </a:p>
          <a:p>
            <a:pPr marL="0" indent="0">
              <a:lnSpc>
                <a:spcPct val="110000"/>
              </a:lnSpc>
              <a:buNone/>
            </a:pPr>
            <a:r>
              <a:rPr lang="hr-HR" sz="1400" dirty="0"/>
              <a:t>Čišćenje lješnjaka</a:t>
            </a:r>
          </a:p>
          <a:p>
            <a:pPr>
              <a:lnSpc>
                <a:spcPct val="110000"/>
              </a:lnSpc>
            </a:pPr>
            <a:r>
              <a:rPr lang="hr-HR" sz="1400" dirty="0"/>
              <a:t>Lješnjaci prije pakiranja moraju biti oprani i osušeni</a:t>
            </a:r>
          </a:p>
          <a:p>
            <a:pPr>
              <a:lnSpc>
                <a:spcPct val="110000"/>
              </a:lnSpc>
            </a:pPr>
            <a:r>
              <a:rPr lang="it-IT" sz="1400" dirty="0" err="1"/>
              <a:t>Lješnjaci</a:t>
            </a:r>
            <a:r>
              <a:rPr lang="it-IT" sz="1400" dirty="0"/>
              <a:t> </a:t>
            </a:r>
            <a:r>
              <a:rPr lang="it-IT" sz="1400" dirty="0" err="1"/>
              <a:t>moraju</a:t>
            </a:r>
            <a:r>
              <a:rPr lang="it-IT" sz="1400" dirty="0"/>
              <a:t> </a:t>
            </a:r>
            <a:r>
              <a:rPr lang="it-IT" sz="1400" dirty="0" err="1"/>
              <a:t>biti</a:t>
            </a:r>
            <a:r>
              <a:rPr lang="it-IT" sz="1400" dirty="0"/>
              <a:t> </a:t>
            </a:r>
            <a:r>
              <a:rPr lang="it-IT" sz="1400" dirty="0" err="1"/>
              <a:t>sortirani</a:t>
            </a:r>
            <a:r>
              <a:rPr lang="it-IT" sz="1400" dirty="0"/>
              <a:t> </a:t>
            </a:r>
            <a:r>
              <a:rPr lang="hr-HR" sz="1400" dirty="0"/>
              <a:t>prema</a:t>
            </a:r>
            <a:r>
              <a:rPr lang="it-IT" sz="1400" dirty="0"/>
              <a:t> </a:t>
            </a:r>
            <a:r>
              <a:rPr lang="it-IT" sz="1400" dirty="0" err="1"/>
              <a:t>veličini</a:t>
            </a:r>
            <a:endParaRPr lang="hr-HR" sz="1400" dirty="0"/>
          </a:p>
          <a:p>
            <a:pPr>
              <a:lnSpc>
                <a:spcPct val="110000"/>
              </a:lnSpc>
            </a:pPr>
            <a:r>
              <a:rPr lang="hr-HR" sz="1400" dirty="0"/>
              <a:t>U slučaju otkrivanja većeg broja nečistoća, lješnjaci prolaze kroz dodatno ručno čišćenje i pregledavanje prije sortiranja</a:t>
            </a:r>
          </a:p>
          <a:p>
            <a:pPr marL="0" indent="0">
              <a:lnSpc>
                <a:spcPct val="110000"/>
              </a:lnSpc>
              <a:buNone/>
            </a:pPr>
            <a:endParaRPr lang="hr-HR" sz="1400" dirty="0"/>
          </a:p>
        </p:txBody>
      </p:sp>
    </p:spTree>
    <p:extLst>
      <p:ext uri="{BB962C8B-B14F-4D97-AF65-F5344CB8AC3E}">
        <p14:creationId xmlns:p14="http://schemas.microsoft.com/office/powerpoint/2010/main" val="4009834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18000"/>
                <a:satMod val="160000"/>
                <a:lumMod val="28000"/>
              </a:schemeClr>
              <a:schemeClr val="bg1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614B3CA-90F3-4EDF-BC5F-C8B35F4CD7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BF6EE575-BB24-981B-2267-ED1FFBB59A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674914"/>
            <a:ext cx="7859545" cy="389708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hr-HR" sz="1800"/>
              <a:t>Narudžba lješnjaka</a:t>
            </a:r>
          </a:p>
          <a:p>
            <a:r>
              <a:rPr lang="hr-HR" sz="1800"/>
              <a:t>Lješnjaci moraju biti pripremljeni i pregledani prije isporuke</a:t>
            </a:r>
          </a:p>
          <a:p>
            <a:r>
              <a:rPr lang="hr-HR" sz="1800"/>
              <a:t>Kupcu se lješnjaci isporučuju najkasnije 15 dana od zaprimljene narudžbe</a:t>
            </a:r>
          </a:p>
        </p:txBody>
      </p:sp>
    </p:spTree>
    <p:extLst>
      <p:ext uri="{BB962C8B-B14F-4D97-AF65-F5344CB8AC3E}">
        <p14:creationId xmlns:p14="http://schemas.microsoft.com/office/powerpoint/2010/main" val="31884091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8B97DF4D-A278-2FA2-7F7D-8BCD099D1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58984" y="2766218"/>
            <a:ext cx="10169237" cy="1325563"/>
          </a:xfrm>
        </p:spPr>
        <p:txBody>
          <a:bodyPr/>
          <a:lstStyle/>
          <a:p>
            <a:pPr algn="r"/>
            <a:r>
              <a:rPr lang="hr-HR" dirty="0"/>
              <a:t>			Poslovna pravila -BGR 2 </a:t>
            </a:r>
          </a:p>
        </p:txBody>
      </p:sp>
    </p:spTree>
    <p:extLst>
      <p:ext uri="{BB962C8B-B14F-4D97-AF65-F5344CB8AC3E}">
        <p14:creationId xmlns:p14="http://schemas.microsoft.com/office/powerpoint/2010/main" val="3665107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144EDDB-39CE-9A35-6C80-6915C2157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Ograničenja ili </a:t>
            </a:r>
            <a:r>
              <a:rPr lang="hr-HR" dirty="0" err="1"/>
              <a:t>odbijači</a:t>
            </a:r>
            <a:endParaRPr lang="hr-HR" dirty="0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3CF51C80-CC4D-C75D-EB67-59F4C5C1F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Autofit/>
          </a:bodyPr>
          <a:lstStyle/>
          <a:p>
            <a:r>
              <a:rPr lang="hr-HR" sz="2000" dirty="0"/>
              <a:t>P1. Lješnjaci prije pakiranja moraju biti oprani i osušeni te postotak vlage mora biti između 8 i 10%.</a:t>
            </a:r>
          </a:p>
          <a:p>
            <a:r>
              <a:rPr lang="hr-HR" sz="2000" dirty="0"/>
              <a:t>P2. Strojevi za obradu moraju biti očišćeni nakon svake smjene, tako da se uklanjaju ostaci lješnjaka i svi dijelovi stroja </a:t>
            </a:r>
            <a:r>
              <a:rPr lang="hr-HR" sz="2000" dirty="0" err="1"/>
              <a:t>ispiraju</a:t>
            </a:r>
            <a:r>
              <a:rPr lang="hr-HR" sz="2000" dirty="0"/>
              <a:t> pomoću tople vode, na temperaturi od 50°C, pod visokim pritiskom od 100 do 200 bara.</a:t>
            </a:r>
          </a:p>
          <a:p>
            <a:r>
              <a:rPr lang="hr-HR" sz="2000" dirty="0"/>
              <a:t>P3. Lješnjaci prije obrade moraju odstajati 10-12 dana, te se za to vrijeme stalno miješaju da bi se sušenje ubrzalo.</a:t>
            </a:r>
          </a:p>
          <a:p>
            <a:r>
              <a:rPr lang="hr-HR" sz="2000" dirty="0"/>
              <a:t>P10. Narudžba lješnjaka mora biti napravljena 15 dana prije željenog datuma isporuke. P11. Svaka narudžba mora sadržavati minimalno 10 kg očišćenog lješnjaka.</a:t>
            </a:r>
          </a:p>
          <a:p>
            <a:r>
              <a:rPr lang="hr-HR" sz="2000" dirty="0"/>
              <a:t>P15. Berba plodova se smije vršiti kada plodovi počnu mijenjati boju i kada počnu ispadati iz ljuske.</a:t>
            </a:r>
          </a:p>
          <a:p>
            <a:r>
              <a:rPr lang="hr-HR" sz="2000" dirty="0"/>
              <a:t>P16. Sezonski radnici prije početka berbe moraju proći kroz obuku o sigurnosti i radu sa strojevima.</a:t>
            </a:r>
          </a:p>
          <a:p>
            <a:r>
              <a:rPr lang="hr-HR" sz="2000" dirty="0"/>
              <a:t>P17. Prilikom berbe plodovi imaju vlagu između 30-35%, te ih je potrebno osušiti u sušari pri temperaturi od 40°C da se postotak vlage spusti na 10%, što je optimalna vlaga za daljnju obradu.</a:t>
            </a:r>
          </a:p>
          <a:p>
            <a:r>
              <a:rPr lang="hr-HR" sz="2000" dirty="0"/>
              <a:t>P18. Ako dođe do nepovoljnih vremenskih uvjeta (kiša, vjetar), berba mora biti zaustavljena, te se može nastaviti tek kada plodovi u nasadu budu imali vlagu između 30-35%.</a:t>
            </a:r>
          </a:p>
        </p:txBody>
      </p:sp>
    </p:spTree>
    <p:extLst>
      <p:ext uri="{BB962C8B-B14F-4D97-AF65-F5344CB8AC3E}">
        <p14:creationId xmlns:p14="http://schemas.microsoft.com/office/powerpoint/2010/main" val="29416667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A83C68E-232E-92C3-9F97-55C760A00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Produkcijska Pravila ili Proizvođač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7B758CB9-A679-1975-60A3-8027E4C9DF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46838"/>
          </a:xfrm>
        </p:spPr>
        <p:txBody>
          <a:bodyPr>
            <a:normAutofit/>
          </a:bodyPr>
          <a:lstStyle/>
          <a:p>
            <a:r>
              <a:rPr lang="hr-HR" dirty="0"/>
              <a:t>P4. Lješnjaci moraju biti sortirani po veličini: 12-14 mm treća klasa, 14-16 mm druga klasa i 16-18 mm prva klasa.</a:t>
            </a:r>
          </a:p>
          <a:p>
            <a:r>
              <a:rPr lang="hr-HR" dirty="0"/>
              <a:t>P5. Ukupan urod lješnjaka se računa tako da se zbroje sve tri klase očišćenih lješnjaka.</a:t>
            </a:r>
          </a:p>
          <a:p>
            <a:r>
              <a:rPr lang="hr-HR" dirty="0"/>
              <a:t>P6. Nakon sortiranja, lješnjaci treće klase moraju biti dodatno pregledani ručno kako bi se uklonili svi oštećeni ili neispravni plodovi prije daljnje obrade.</a:t>
            </a:r>
          </a:p>
          <a:p>
            <a:r>
              <a:rPr lang="hr-HR" dirty="0"/>
              <a:t>P12. Ukoliko kupac naruči lješnjake te je ustanovljeno da na zalihi nema dovoljan broj lješnjaka, kupca se obavještava o nedostatku, te mu se isporučuje dostupan broj, a ostatak se dostavlja naknadno.</a:t>
            </a:r>
          </a:p>
          <a:p>
            <a:r>
              <a:rPr lang="hr-HR" dirty="0"/>
              <a:t>P13. Lješnjaci moraju biti pripremljeni i pregledani 2 dana prije dogovorenog datuma isporuke.</a:t>
            </a:r>
          </a:p>
        </p:txBody>
      </p:sp>
    </p:spTree>
    <p:extLst>
      <p:ext uri="{BB962C8B-B14F-4D97-AF65-F5344CB8AC3E}">
        <p14:creationId xmlns:p14="http://schemas.microsoft.com/office/powerpoint/2010/main" val="21124834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B515206-6479-4EEB-2ED4-B497988F3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Pravila Događaja ili Projektanti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D27DD5DB-CE3B-859C-7FD6-983711EB2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r-HR" dirty="0"/>
              <a:t>P7. Ako se tijekom rada otkrije kvar stroja za obradu lješnjaka, sve aktivnosti moraju biti zaustavljene, svi lješnjaci u sistemu uklonjeni, a stroj se mora popraviti prije daljnje upotrebe.</a:t>
            </a:r>
          </a:p>
          <a:p>
            <a:r>
              <a:rPr lang="hr-HR" dirty="0"/>
              <a:t>P8. Svaki put kada dođu lješnjaci iz novog nasada u kojem lješnjaci još nisu sakupljeni, agronom mora napraviti kontrolu kvalitete prije nastavka obrade.</a:t>
            </a:r>
          </a:p>
          <a:p>
            <a:r>
              <a:rPr lang="hr-HR" dirty="0"/>
              <a:t>P9. Dok su strojevi za obradu lješnjaka upaljeni, radnici ne smiju prolaziti bliže od 3 metra.</a:t>
            </a:r>
          </a:p>
          <a:p>
            <a:r>
              <a:rPr lang="hr-HR" dirty="0"/>
              <a:t>P14. Sve narudžbe koje su veće od 50 kg, kupac će dobiti posebnu cijenu koja je umanjena za 5%.</a:t>
            </a:r>
          </a:p>
        </p:txBody>
      </p:sp>
    </p:spTree>
    <p:extLst>
      <p:ext uri="{BB962C8B-B14F-4D97-AF65-F5344CB8AC3E}">
        <p14:creationId xmlns:p14="http://schemas.microsoft.com/office/powerpoint/2010/main" val="2708290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D01AFFFA-866C-9E7C-A594-A04C43896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ER model</a:t>
            </a:r>
          </a:p>
        </p:txBody>
      </p:sp>
      <p:pic>
        <p:nvPicPr>
          <p:cNvPr id="4" name="Rezervirano mjesto sadržaja 3">
            <a:extLst>
              <a:ext uri="{FF2B5EF4-FFF2-40B4-BE49-F238E27FC236}">
                <a16:creationId xmlns:a16="http://schemas.microsoft.com/office/drawing/2014/main" id="{9B5DFFC4-211B-A027-B1A7-6AF3C7EE84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27158" y="1543271"/>
            <a:ext cx="6085584" cy="4504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0258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D10F33B-24DB-5AD1-9FEE-5AC7E19EC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Tablica odlučivanja za obradu lješnjaka</a:t>
            </a:r>
          </a:p>
        </p:txBody>
      </p:sp>
      <p:pic>
        <p:nvPicPr>
          <p:cNvPr id="7" name="Rezervirano mjesto sadržaja 6">
            <a:extLst>
              <a:ext uri="{FF2B5EF4-FFF2-40B4-BE49-F238E27FC236}">
                <a16:creationId xmlns:a16="http://schemas.microsoft.com/office/drawing/2014/main" id="{103C59CA-9974-81FC-4517-2D7E25F967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73264" y="2398121"/>
            <a:ext cx="10297973" cy="1743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4030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5F345E92-C21B-6149-0C20-E966C5404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Tablica odlučivanja za berbu lješnjaka</a:t>
            </a:r>
          </a:p>
        </p:txBody>
      </p:sp>
      <p:pic>
        <p:nvPicPr>
          <p:cNvPr id="4" name="Rezervirano mjesto sadržaja 3">
            <a:extLst>
              <a:ext uri="{FF2B5EF4-FFF2-40B4-BE49-F238E27FC236}">
                <a16:creationId xmlns:a16="http://schemas.microsoft.com/office/drawing/2014/main" id="{74791E1A-45CE-8B51-496D-3EB269A1CE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2427513"/>
            <a:ext cx="10976665" cy="1579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8672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3FD9EFA-88DD-AE52-0719-39D8B34CD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Stablo odlučivanja za obradu lješnjaka</a:t>
            </a:r>
          </a:p>
        </p:txBody>
      </p:sp>
      <p:pic>
        <p:nvPicPr>
          <p:cNvPr id="4" name="Rezervirano mjesto sadržaja 3">
            <a:extLst>
              <a:ext uri="{FF2B5EF4-FFF2-40B4-BE49-F238E27FC236}">
                <a16:creationId xmlns:a16="http://schemas.microsoft.com/office/drawing/2014/main" id="{4770667A-39DD-AF39-6C67-CD6112CA1E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0251" y="1860884"/>
            <a:ext cx="7773450" cy="4042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7757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29BE81E-2657-8E9E-6382-EF62B04CD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Stablo odlučivanja za berbu lješnjaka</a:t>
            </a:r>
            <a:endParaRPr lang="hr-HR" dirty="0"/>
          </a:p>
        </p:txBody>
      </p:sp>
      <p:pic>
        <p:nvPicPr>
          <p:cNvPr id="7" name="Rezervirano mjesto sadržaja 6">
            <a:extLst>
              <a:ext uri="{FF2B5EF4-FFF2-40B4-BE49-F238E27FC236}">
                <a16:creationId xmlns:a16="http://schemas.microsoft.com/office/drawing/2014/main" id="{D101FDF4-B335-5DB6-C073-D03BFB618F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34837" y="2097308"/>
            <a:ext cx="8700654" cy="3713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4522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6E8E57E-11BA-37FA-5DD0-632E93FB0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Dijagram ovisnosti za obradu lješnjaka</a:t>
            </a:r>
          </a:p>
        </p:txBody>
      </p:sp>
      <p:pic>
        <p:nvPicPr>
          <p:cNvPr id="7" name="Slika 6">
            <a:extLst>
              <a:ext uri="{FF2B5EF4-FFF2-40B4-BE49-F238E27FC236}">
                <a16:creationId xmlns:a16="http://schemas.microsoft.com/office/drawing/2014/main" id="{92E73E8A-992E-CFBE-111F-F887D01C17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9856" y="3309730"/>
            <a:ext cx="10113944" cy="132556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224925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D5C65C26-8747-645E-38FD-3A6BDCDE5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Dijagram ovisnosti za narudžbu lješnjaka</a:t>
            </a:r>
          </a:p>
        </p:txBody>
      </p:sp>
      <p:pic>
        <p:nvPicPr>
          <p:cNvPr id="6" name="Rezervirano mjesto sadržaja 5">
            <a:extLst>
              <a:ext uri="{FF2B5EF4-FFF2-40B4-BE49-F238E27FC236}">
                <a16:creationId xmlns:a16="http://schemas.microsoft.com/office/drawing/2014/main" id="{621CA7D6-3925-4D14-1557-236575AD0A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7246" y="3176338"/>
            <a:ext cx="8134725" cy="1128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2339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5CF4C8A5-C386-A7B0-40E9-1E152BD1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37913" y="4668982"/>
            <a:ext cx="8742822" cy="1737360"/>
          </a:xfrm>
        </p:spPr>
        <p:txBody>
          <a:bodyPr>
            <a:normAutofit/>
          </a:bodyPr>
          <a:lstStyle/>
          <a:p>
            <a:pPr algn="r"/>
            <a:r>
              <a:rPr lang="hr-HR" sz="1800" dirty="0"/>
              <a:t>Klasifikacija pravila - BGR 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10F2A3-17E2-43F4-9483-468E43A60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3367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Slika 5">
            <a:extLst>
              <a:ext uri="{FF2B5EF4-FFF2-40B4-BE49-F238E27FC236}">
                <a16:creationId xmlns:a16="http://schemas.microsoft.com/office/drawing/2014/main" id="{CE3BF6E7-75FB-B0CC-0A83-A9254B1007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814" y="2092036"/>
            <a:ext cx="10156371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1624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9F785978-6FAB-DF1B-EDFE-38FAC5A0E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>
            <a:normAutofit/>
          </a:bodyPr>
          <a:lstStyle/>
          <a:p>
            <a:r>
              <a:rPr lang="hr-HR" dirty="0"/>
              <a:t>Razvoj vlastitog sustava</a:t>
            </a:r>
          </a:p>
        </p:txBody>
      </p:sp>
      <p:graphicFrame>
        <p:nvGraphicFramePr>
          <p:cNvPr id="5" name="Rezervirano mjesto sadržaja 2">
            <a:extLst>
              <a:ext uri="{FF2B5EF4-FFF2-40B4-BE49-F238E27FC236}">
                <a16:creationId xmlns:a16="http://schemas.microsoft.com/office/drawing/2014/main" id="{5597849D-480F-6936-3506-7B0234A3CB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693940"/>
              </p:ext>
            </p:extLst>
          </p:nvPr>
        </p:nvGraphicFramePr>
        <p:xfrm>
          <a:off x="914400" y="2257654"/>
          <a:ext cx="10353675" cy="33038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977567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31576936-47D3-63BF-3760-4B7C96703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Sustav</a:t>
            </a:r>
          </a:p>
        </p:txBody>
      </p:sp>
      <p:pic>
        <p:nvPicPr>
          <p:cNvPr id="4" name="Rezervirano mjesto sadržaja 3" descr="Slika na kojoj se prikazuje tekst, snimka zaslona, Font, dokument&#10;&#10;Opis je automatski generiran">
            <a:extLst>
              <a:ext uri="{FF2B5EF4-FFF2-40B4-BE49-F238E27FC236}">
                <a16:creationId xmlns:a16="http://schemas.microsoft.com/office/drawing/2014/main" id="{97AAA859-D7D7-A24A-B67C-6AAC4A5717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60440" y="467208"/>
            <a:ext cx="3509723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456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ka 4" descr="Slika na kojoj se prikazuje tekst, snimka zaslona, Font, crta&#10;&#10;Opis je automatski generiran">
            <a:extLst>
              <a:ext uri="{FF2B5EF4-FFF2-40B4-BE49-F238E27FC236}">
                <a16:creationId xmlns:a16="http://schemas.microsoft.com/office/drawing/2014/main" id="{660C0878-D2B4-5F8E-3DF1-5CFA5F44AD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40934" y="1704062"/>
            <a:ext cx="4616434" cy="3270754"/>
          </a:xfrm>
          <a:prstGeom prst="rect">
            <a:avLst/>
          </a:prstGeom>
          <a:noFill/>
        </p:spPr>
      </p:pic>
      <p:pic>
        <p:nvPicPr>
          <p:cNvPr id="4" name="Slika 3" descr="Slika na kojoj se prikazuje tekst, snimka zaslona, Font, crta&#10;&#10;Opis je automatski generiran">
            <a:extLst>
              <a:ext uri="{FF2B5EF4-FFF2-40B4-BE49-F238E27FC236}">
                <a16:creationId xmlns:a16="http://schemas.microsoft.com/office/drawing/2014/main" id="{63BE5104-CC28-C8F2-AACC-CF1195FC2A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33" y="2633311"/>
            <a:ext cx="4644528" cy="1412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3819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ka 4" descr="Slika na kojoj se prikazuje tekst, snimka zaslona, Font, broj&#10;&#10;Opis je automatski generiran">
            <a:extLst>
              <a:ext uri="{FF2B5EF4-FFF2-40B4-BE49-F238E27FC236}">
                <a16:creationId xmlns:a16="http://schemas.microsoft.com/office/drawing/2014/main" id="{65B2046C-8A95-E1AF-A84C-2D4A4CC0BA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40934" y="1310862"/>
            <a:ext cx="4616434" cy="4057153"/>
          </a:xfrm>
          <a:prstGeom prst="rect">
            <a:avLst/>
          </a:prstGeom>
          <a:noFill/>
        </p:spPr>
      </p:pic>
      <p:pic>
        <p:nvPicPr>
          <p:cNvPr id="4" name="Rezervirano mjesto sadržaja 3" descr="Slika na kojoj se prikazuje tekst, snimka zaslona, Font&#10;&#10;Opis je automatski generiran">
            <a:extLst>
              <a:ext uri="{FF2B5EF4-FFF2-40B4-BE49-F238E27FC236}">
                <a16:creationId xmlns:a16="http://schemas.microsoft.com/office/drawing/2014/main" id="{897ABB5C-D0D6-CF98-E181-271F6FA444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34633" y="2178307"/>
            <a:ext cx="4644528" cy="2322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0995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ka 4">
            <a:extLst>
              <a:ext uri="{FF2B5EF4-FFF2-40B4-BE49-F238E27FC236}">
                <a16:creationId xmlns:a16="http://schemas.microsoft.com/office/drawing/2014/main" id="{8E9613F6-E313-6060-72EA-3D7E4737BA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63063" y="1132764"/>
            <a:ext cx="2372176" cy="4413350"/>
          </a:xfrm>
          <a:prstGeom prst="rect">
            <a:avLst/>
          </a:prstGeom>
          <a:noFill/>
        </p:spPr>
      </p:pic>
      <p:pic>
        <p:nvPicPr>
          <p:cNvPr id="4" name="Slika 3">
            <a:extLst>
              <a:ext uri="{FF2B5EF4-FFF2-40B4-BE49-F238E27FC236}">
                <a16:creationId xmlns:a16="http://schemas.microsoft.com/office/drawing/2014/main" id="{9306F126-89F4-3427-5BBC-FB77180571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33" y="1858995"/>
            <a:ext cx="4644528" cy="2960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5531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zervirano mjesto sadržaja 4" descr="Slika na kojoj se prikazuje tekst, snimka zaslona, Font, broj&#10;&#10;Opis je automatski generiran">
            <a:extLst>
              <a:ext uri="{FF2B5EF4-FFF2-40B4-BE49-F238E27FC236}">
                <a16:creationId xmlns:a16="http://schemas.microsoft.com/office/drawing/2014/main" id="{67E83C09-9BCD-2029-4C4F-4DDCE2C494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40934" y="1909169"/>
            <a:ext cx="4616434" cy="2860540"/>
          </a:xfrm>
          <a:prstGeom prst="rect">
            <a:avLst/>
          </a:prstGeom>
          <a:noFill/>
        </p:spPr>
      </p:pic>
      <p:pic>
        <p:nvPicPr>
          <p:cNvPr id="4" name="Slika 3" descr="Slika na kojoj se prikazuje tekst, snimka zaslona, Font&#10;&#10;Opis je automatski generiran">
            <a:extLst>
              <a:ext uri="{FF2B5EF4-FFF2-40B4-BE49-F238E27FC236}">
                <a16:creationId xmlns:a16="http://schemas.microsoft.com/office/drawing/2014/main" id="{AEA3B09F-0922-331C-3F87-FD66088D8C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4633" y="2445367"/>
            <a:ext cx="4644528" cy="1788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2101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64FEB72-E0DA-88B8-A553-DD35960C6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6410" y="2979988"/>
            <a:ext cx="3862137" cy="1325563"/>
          </a:xfrm>
        </p:spPr>
        <p:txBody>
          <a:bodyPr/>
          <a:lstStyle/>
          <a:p>
            <a:r>
              <a:rPr lang="hr-HR" dirty="0"/>
              <a:t>Hvala na pažnji!</a:t>
            </a:r>
          </a:p>
        </p:txBody>
      </p:sp>
    </p:spTree>
    <p:extLst>
      <p:ext uri="{BB962C8B-B14F-4D97-AF65-F5344CB8AC3E}">
        <p14:creationId xmlns:p14="http://schemas.microsoft.com/office/powerpoint/2010/main" val="24900861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Tema sustava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433</TotalTime>
  <Words>1305</Words>
  <Application>Microsoft Office PowerPoint</Application>
  <PresentationFormat>Široki zaslon</PresentationFormat>
  <Paragraphs>139</Paragraphs>
  <Slides>30</Slides>
  <Notes>11</Notes>
  <HiddenSlides>0</HiddenSlides>
  <MMClips>0</MMClips>
  <ScaleCrop>false</ScaleCrop>
  <HeadingPairs>
    <vt:vector size="6" baseType="variant">
      <vt:variant>
        <vt:lpstr>Korišteni fontovi</vt:lpstr>
      </vt:variant>
      <vt:variant>
        <vt:i4>4</vt:i4>
      </vt:variant>
      <vt:variant>
        <vt:lpstr>Tema</vt:lpstr>
      </vt:variant>
      <vt:variant>
        <vt:i4>1</vt:i4>
      </vt:variant>
      <vt:variant>
        <vt:lpstr>Naslovi slajdova</vt:lpstr>
      </vt:variant>
      <vt:variant>
        <vt:i4>30</vt:i4>
      </vt:variant>
    </vt:vector>
  </HeadingPairs>
  <TitlesOfParts>
    <vt:vector size="35" baseType="lpstr">
      <vt:lpstr>Aptos</vt:lpstr>
      <vt:lpstr>Arial</vt:lpstr>
      <vt:lpstr>Bookman Old Style</vt:lpstr>
      <vt:lpstr>Rockwell</vt:lpstr>
      <vt:lpstr>Damask</vt:lpstr>
      <vt:lpstr>GOSPODARSTVO ZA EKOLOŠKU PROIZVODNJU I PRERADU LJEŠNJAKA MOULIS</vt:lpstr>
      <vt:lpstr>Gospodarstvo Moulsi</vt:lpstr>
      <vt:lpstr>Korisnici sustava i koristi sustava</vt:lpstr>
      <vt:lpstr>Mjerenje uspješnosti sustava</vt:lpstr>
      <vt:lpstr>Ograničenja i rizici</vt:lpstr>
      <vt:lpstr>Poslovni događaji</vt:lpstr>
      <vt:lpstr>Ljudski resursi</vt:lpstr>
      <vt:lpstr>Materijalni resursi</vt:lpstr>
      <vt:lpstr>Vremenski plan projekta</vt:lpstr>
      <vt:lpstr>Slučajevi uporabe i scenariji</vt:lpstr>
      <vt:lpstr>PowerPoint prezentacija</vt:lpstr>
      <vt:lpstr>   Poslovna pravila -BGR 2 </vt:lpstr>
      <vt:lpstr>Ograničenja ili odbijači</vt:lpstr>
      <vt:lpstr>Produkcijska Pravila ili Proizvođač</vt:lpstr>
      <vt:lpstr>Pravila Događaja ili Projektanti</vt:lpstr>
      <vt:lpstr>ER model</vt:lpstr>
      <vt:lpstr>Tablica odlučivanja za obradu lješnjaka</vt:lpstr>
      <vt:lpstr>Tablica odlučivanja za berbu lješnjaka</vt:lpstr>
      <vt:lpstr>Stablo odlučivanja za obradu lješnjaka</vt:lpstr>
      <vt:lpstr>Stablo odlučivanja za berbu lješnjaka</vt:lpstr>
      <vt:lpstr>Dijagram ovisnosti za obradu lješnjaka</vt:lpstr>
      <vt:lpstr>Dijagram ovisnosti za narudžbu lješnjaka</vt:lpstr>
      <vt:lpstr>Klasifikacija pravila - BGR 2</vt:lpstr>
      <vt:lpstr>Razvoj vlastitog sustava</vt:lpstr>
      <vt:lpstr>Sustav</vt:lpstr>
      <vt:lpstr>PowerPoint prezentacija</vt:lpstr>
      <vt:lpstr>PowerPoint prezentacija</vt:lpstr>
      <vt:lpstr>PowerPoint prezentacija</vt:lpstr>
      <vt:lpstr>PowerPoint prezentacija</vt:lpstr>
      <vt:lpstr>Hvala na pažnji!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Zdravko Blažević</dc:creator>
  <cp:lastModifiedBy>Zdravko Blažević</cp:lastModifiedBy>
  <cp:revision>7</cp:revision>
  <dcterms:created xsi:type="dcterms:W3CDTF">2024-06-13T12:31:24Z</dcterms:created>
  <dcterms:modified xsi:type="dcterms:W3CDTF">2024-06-13T19:45:21Z</dcterms:modified>
</cp:coreProperties>
</file>