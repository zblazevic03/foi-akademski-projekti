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2"/>
  </p:notesMasterIdLst>
  <p:sldIdLst>
    <p:sldId id="268" r:id="rId2"/>
    <p:sldId id="269" r:id="rId3"/>
    <p:sldId id="272" r:id="rId4"/>
    <p:sldId id="270" r:id="rId5"/>
    <p:sldId id="273" r:id="rId6"/>
    <p:sldId id="274" r:id="rId7"/>
    <p:sldId id="271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97" r:id="rId29"/>
    <p:sldId id="298" r:id="rId30"/>
    <p:sldId id="296" r:id="rId31"/>
  </p:sldIdLst>
  <p:sldSz cx="18288000" cy="10287000"/>
  <p:notesSz cx="6858000" cy="9144000"/>
  <p:embeddedFontLst>
    <p:embeddedFont>
      <p:font typeface="Glacial Indifference" panose="020B0604020202020204" charset="0"/>
      <p:regular r:id="rId33"/>
    </p:embeddedFont>
    <p:embeddedFont>
      <p:font typeface="Glacial Indifference Bold" panose="020B0604020202020204" charset="0"/>
      <p:regular r:id="rId34"/>
    </p:embeddedFont>
    <p:embeddedFont>
      <p:font typeface="League Spartan" panose="020B0604020202020204" charset="-18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Zadana sekcija" id="{99C24E4D-B717-40CF-928A-F56E267F93A0}">
          <p14:sldIdLst>
            <p14:sldId id="268"/>
            <p14:sldId id="269"/>
            <p14:sldId id="272"/>
            <p14:sldId id="270"/>
            <p14:sldId id="273"/>
            <p14:sldId id="274"/>
            <p14:sldId id="271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7"/>
            <p14:sldId id="298"/>
            <p14:sldId id="2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70588" autoAdjust="0"/>
  </p:normalViewPr>
  <p:slideViewPr>
    <p:cSldViewPr>
      <p:cViewPr varScale="1">
        <p:scale>
          <a:sx n="39" d="100"/>
          <a:sy n="39" d="100"/>
        </p:scale>
        <p:origin x="1613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3A0FA-065D-4B45-BE46-4B99F2E7FD0D}" type="datetimeFigureOut">
              <a:rPr lang="hr-HR" smtClean="0"/>
              <a:t>8.4.2026.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A5BBBA-C1BB-40F0-B1FA-CD146B557E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6428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U današnjem poslovanju tehnologija je ključna za konkurentnost.</a:t>
            </a:r>
            <a:br>
              <a:rPr lang="hr-HR" dirty="0"/>
            </a:br>
            <a:r>
              <a:rPr lang="hr-HR" dirty="0"/>
              <a:t>Tehnologije poput umjetne inteligencije, clouda i analitike podataka brzo se razvijaju i mijenjaju način poslovanja.</a:t>
            </a:r>
          </a:p>
          <a:p>
            <a:r>
              <a:rPr lang="hr-HR" dirty="0"/>
              <a:t>Problem nastaje kada poduzeća ne prate taj razvoj – dolazi do tehnološkog zaostajanja.</a:t>
            </a:r>
            <a:br>
              <a:rPr lang="hr-HR" dirty="0"/>
            </a:br>
            <a:r>
              <a:rPr lang="hr-HR" dirty="0"/>
              <a:t>To dovodi do većih troškova, manje učinkovitosti i gubitka konkurentnosti.”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73758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Digitalna transformacija znači korištenje tehnologije za promjenu načina poslovanja.</a:t>
            </a:r>
            <a:br>
              <a:rPr lang="hr-HR" dirty="0"/>
            </a:br>
            <a:r>
              <a:rPr lang="hr-HR" dirty="0"/>
              <a:t>Ne radi se samo o tehnologiji, nego i o promjenama u organizaciji, strategiji i procesima.</a:t>
            </a:r>
          </a:p>
          <a:p>
            <a:r>
              <a:rPr lang="hr-HR" dirty="0"/>
              <a:t>Važno je razlikovati digitalizaciju i transformaciju – digitalizacija je pretvaranje podataka u digitalni oblik, dok transformacija mijenja cijeli poslovni model.</a:t>
            </a:r>
          </a:p>
          <a:p>
            <a:r>
              <a:rPr lang="hr-HR" dirty="0"/>
              <a:t>Rezultat toga su brži procesi, bolje odluke i bolje korisničko iskustvo.”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4668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„Prva faza je digitalizacija – pretvaranje podataka u digitalni oblik, npr. dokumenti ili baze podataka.</a:t>
            </a:r>
            <a:br>
              <a:rPr lang="hr-HR" dirty="0"/>
            </a:br>
            <a:r>
              <a:rPr lang="hr-HR" dirty="0"/>
              <a:t>Ova faza ne mijenja poslovanje, nego ga samo olakšava.”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418496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„Druga faza je digitalizacija poslovnih procesa, gdje poduzeća koriste tehnologiju za poboljšanje postojećih aktivnosti, primjerice automatizaciju ili online komunikaciju.</a:t>
            </a:r>
          </a:p>
          <a:p>
            <a:r>
              <a:rPr lang="hr-HR" dirty="0"/>
              <a:t>Treća faza je digitalna transformacija, koja uključuje potpunu promjenu poslovnog modela, razvoj novih proizvoda i usluga te fokus na inovacije i korisnike.”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69154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„Jedan od glavnih uzroka tehnološkog zaostajanja je izuzetno brz razvoj tehnologije.</a:t>
            </a:r>
            <a:br>
              <a:rPr lang="hr-HR" dirty="0"/>
            </a:br>
            <a:r>
              <a:rPr lang="hr-HR" dirty="0"/>
              <a:t>Nove tehnologije stalno se pojavljuju, a poduzeća često nemaju dovoljno vremena ili resursa da ih implementiraju.”</a:t>
            </a:r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82419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„Drugi važan uzrok su promjene u ponašanju korisnika.</a:t>
            </a:r>
            <a:br>
              <a:rPr lang="hr-HR" dirty="0"/>
            </a:br>
            <a:r>
              <a:rPr lang="hr-HR" dirty="0"/>
              <a:t>Današnji korisnici očekuju brze, dostupne i digitalne usluge.</a:t>
            </a:r>
          </a:p>
          <a:p>
            <a:r>
              <a:rPr lang="hr-HR" dirty="0"/>
              <a:t>Treći problem je nedovoljna primjena ICT-a.</a:t>
            </a:r>
            <a:br>
              <a:rPr lang="hr-HR" dirty="0"/>
            </a:br>
            <a:r>
              <a:rPr lang="hr-HR" dirty="0"/>
              <a:t>Iako su tehnologije dostupne, mnoga poduzeća ih ne koriste u potpunosti ili ih uvode presporo.”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45248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</a:t>
            </a:r>
            <a:r>
              <a:rPr lang="hr-HR" dirty="0" err="1"/>
              <a:t>Legacy</a:t>
            </a:r>
            <a:r>
              <a:rPr lang="hr-HR" dirty="0"/>
              <a:t> sustavi su zastarjeli informacijski sustavi koji se i dalje koriste u poslovanju.</a:t>
            </a:r>
            <a:br>
              <a:rPr lang="hr-HR" dirty="0"/>
            </a:br>
            <a:r>
              <a:rPr lang="hr-HR" dirty="0"/>
              <a:t>Problem je što su temeljeni na starim tehnologijama i teško ih je nadograditi ili povezati s modernim rješenjima.</a:t>
            </a:r>
          </a:p>
          <a:p>
            <a:r>
              <a:rPr lang="hr-HR" dirty="0"/>
              <a:t>Zbog toga predstavljaju ozbiljnu prepreku digitalnoj transformaciji.”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03421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„Najveći problemi </a:t>
            </a:r>
            <a:r>
              <a:rPr lang="hr-HR" dirty="0" err="1"/>
              <a:t>legacy</a:t>
            </a:r>
            <a:r>
              <a:rPr lang="hr-HR" dirty="0"/>
              <a:t> sustava su nemogućnost integracije s novim tehnologijama, visoki troškovi održavanja i sigurnosni rizici.</a:t>
            </a:r>
          </a:p>
          <a:p>
            <a:r>
              <a:rPr lang="hr-HR" dirty="0"/>
              <a:t>Takvi sustavi usporavaju poslovanje, otežavaju razmjenu podataka i povećavaju rizik od grešaka i napada.”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19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10692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„Tehnološko zaostajanje stvara različite vrste rizika.</a:t>
            </a:r>
          </a:p>
          <a:p>
            <a:r>
              <a:rPr lang="hr-HR" dirty="0"/>
              <a:t>Operativni rizici uključuju sporije procese i manju učinkovitost.</a:t>
            </a:r>
            <a:br>
              <a:rPr lang="hr-HR" dirty="0"/>
            </a:br>
            <a:r>
              <a:rPr lang="hr-HR" dirty="0"/>
              <a:t>Financijski rizici odnose se na povećane troškove i smanjenje prihoda.</a:t>
            </a:r>
            <a:br>
              <a:rPr lang="hr-HR" dirty="0"/>
            </a:br>
            <a:r>
              <a:rPr lang="hr-HR" dirty="0"/>
              <a:t>Strateški rizici su najopasniji jer mogu dovesti do gubitka tržišta i nemogućnosti inovacija.”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22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219329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„Iako je digitalna transformacija nužna, ona je vrlo rizična.</a:t>
            </a:r>
            <a:br>
              <a:rPr lang="hr-HR" dirty="0"/>
            </a:br>
            <a:r>
              <a:rPr lang="hr-HR" dirty="0"/>
              <a:t>Istraživanja pokazuju da manje od 30% transformacija uspije.</a:t>
            </a:r>
          </a:p>
          <a:p>
            <a:r>
              <a:rPr lang="hr-HR" dirty="0"/>
              <a:t>Razlog tome je velika kompleksnost procesa koji uključuje tehnologiju, ljude i organizaciju.”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25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695798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„Glavni razlozi neuspjeha su nedostatak liderstva, nedostatak digitalnih znanja i loša komunikacija.</a:t>
            </a:r>
          </a:p>
          <a:p>
            <a:r>
              <a:rPr lang="hr-HR" dirty="0"/>
              <a:t>Zaposlenici često ne razumiju promjene, što dovodi do otpora i smanjenja učinkovitosti.”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26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546615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„Rizik tehnološkog zaostajanja može se smanjiti na nekoliko načina.</a:t>
            </a:r>
          </a:p>
          <a:p>
            <a:r>
              <a:rPr lang="hr-HR" dirty="0"/>
              <a:t>To uključuje ulaganje u IT i podatke, prilagodbu organizacijske strukture te razvoj kompetencija zaposlenika.</a:t>
            </a:r>
          </a:p>
          <a:p>
            <a:r>
              <a:rPr lang="hr-HR" dirty="0"/>
              <a:t>Važno je kontinuirano ulaganje i spremnost na promjene.”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27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80585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„Zaključno, tehnološko zaostajanje predstavlja ozbiljan problem za poduzeća jer utječe na sve razine poslovanja.</a:t>
            </a:r>
          </a:p>
          <a:p>
            <a:r>
              <a:rPr lang="hr-HR" dirty="0"/>
              <a:t>Poduzeća koja ulažu u tehnologiju, znanje i organizacijske promjene imaju veću šansu za uspjeh i dugoročnu konkurentnost.”</a:t>
            </a:r>
          </a:p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A5BBBA-C1BB-40F0-B1FA-CD146B557E8F}" type="slidenum">
              <a:rPr lang="hr-HR" smtClean="0"/>
              <a:t>28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9173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D21C9-DECD-B9A1-5247-5C624219A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A2E7751-1664-47F8-76BF-8AFC1ACBB4DD}"/>
              </a:ext>
            </a:extLst>
          </p:cNvPr>
          <p:cNvSpPr/>
          <p:nvPr/>
        </p:nvSpPr>
        <p:spPr>
          <a:xfrm>
            <a:off x="23609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335E4860-49CB-AE26-6B80-4532953C6908}"/>
              </a:ext>
            </a:extLst>
          </p:cNvPr>
          <p:cNvGrpSpPr/>
          <p:nvPr/>
        </p:nvGrpSpPr>
        <p:grpSpPr>
          <a:xfrm rot="-2088381">
            <a:off x="6234676" y="5034634"/>
            <a:ext cx="7946576" cy="1601596"/>
            <a:chOff x="0" y="0"/>
            <a:chExt cx="3539030" cy="71327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849EE302-00EE-6FFD-E9E3-D4389A48C521}"/>
                </a:ext>
              </a:extLst>
            </p:cNvPr>
            <p:cNvSpPr/>
            <p:nvPr/>
          </p:nvSpPr>
          <p:spPr>
            <a:xfrm>
              <a:off x="0" y="0"/>
              <a:ext cx="3539030" cy="713275"/>
            </a:xfrm>
            <a:custGeom>
              <a:avLst/>
              <a:gdLst/>
              <a:ahLst/>
              <a:cxnLst/>
              <a:rect l="l" t="t" r="r" b="b"/>
              <a:pathLst>
                <a:path w="3539030" h="713275">
                  <a:moveTo>
                    <a:pt x="203200" y="0"/>
                  </a:moveTo>
                  <a:lnTo>
                    <a:pt x="3539030" y="0"/>
                  </a:lnTo>
                  <a:lnTo>
                    <a:pt x="3335830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B3B1B25-5EB5-8633-4DFA-69CB8905B664}"/>
                </a:ext>
              </a:extLst>
            </p:cNvPr>
            <p:cNvSpPr txBox="1"/>
            <p:nvPr/>
          </p:nvSpPr>
          <p:spPr>
            <a:xfrm>
              <a:off x="101600" y="-38100"/>
              <a:ext cx="3335830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CBDF4606-7313-9BBF-734C-D911E66B0A81}"/>
              </a:ext>
            </a:extLst>
          </p:cNvPr>
          <p:cNvGrpSpPr/>
          <p:nvPr/>
        </p:nvGrpSpPr>
        <p:grpSpPr>
          <a:xfrm>
            <a:off x="6869839" y="905009"/>
            <a:ext cx="14248619" cy="8476983"/>
            <a:chOff x="0" y="0"/>
            <a:chExt cx="1024652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7A895A2-A95C-E3C0-9BE1-94AE347A16B0}"/>
                </a:ext>
              </a:extLst>
            </p:cNvPr>
            <p:cNvSpPr/>
            <p:nvPr/>
          </p:nvSpPr>
          <p:spPr>
            <a:xfrm>
              <a:off x="0" y="0"/>
              <a:ext cx="1024652" cy="609600"/>
            </a:xfrm>
            <a:custGeom>
              <a:avLst/>
              <a:gdLst/>
              <a:ahLst/>
              <a:cxnLst/>
              <a:rect l="l" t="t" r="r" b="b"/>
              <a:pathLst>
                <a:path w="1024652" h="609600">
                  <a:moveTo>
                    <a:pt x="821452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024652" y="609600"/>
                  </a:lnTo>
                  <a:lnTo>
                    <a:pt x="821452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B3C2797-D4A8-3C9D-F332-86B423CEC6D0}"/>
                </a:ext>
              </a:extLst>
            </p:cNvPr>
            <p:cNvSpPr txBox="1"/>
            <p:nvPr/>
          </p:nvSpPr>
          <p:spPr>
            <a:xfrm>
              <a:off x="101600" y="-38100"/>
              <a:ext cx="82145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8CBDB21-B08E-E29C-1A4A-04929F069979}"/>
              </a:ext>
            </a:extLst>
          </p:cNvPr>
          <p:cNvGrpSpPr/>
          <p:nvPr/>
        </p:nvGrpSpPr>
        <p:grpSpPr>
          <a:xfrm>
            <a:off x="6869839" y="7206282"/>
            <a:ext cx="13689960" cy="1554646"/>
            <a:chOff x="0" y="0"/>
            <a:chExt cx="5368038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33D5E1E-FDB6-256A-DC1A-C4C72797607A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FEE0A199-BE2C-F15E-384D-F152F60159D9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987F80C-EB18-A167-838B-67EB8334CDC0}"/>
              </a:ext>
            </a:extLst>
          </p:cNvPr>
          <p:cNvGrpSpPr/>
          <p:nvPr/>
        </p:nvGrpSpPr>
        <p:grpSpPr>
          <a:xfrm rot="8711618">
            <a:off x="-4404721" y="9273126"/>
            <a:ext cx="7946576" cy="1601596"/>
            <a:chOff x="0" y="0"/>
            <a:chExt cx="3539030" cy="71327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A24AF915-90CA-4769-92BE-98604CF46638}"/>
                </a:ext>
              </a:extLst>
            </p:cNvPr>
            <p:cNvSpPr/>
            <p:nvPr/>
          </p:nvSpPr>
          <p:spPr>
            <a:xfrm>
              <a:off x="0" y="0"/>
              <a:ext cx="3539030" cy="713275"/>
            </a:xfrm>
            <a:custGeom>
              <a:avLst/>
              <a:gdLst/>
              <a:ahLst/>
              <a:cxnLst/>
              <a:rect l="l" t="t" r="r" b="b"/>
              <a:pathLst>
                <a:path w="3539030" h="713275">
                  <a:moveTo>
                    <a:pt x="203200" y="0"/>
                  </a:moveTo>
                  <a:lnTo>
                    <a:pt x="3539030" y="0"/>
                  </a:lnTo>
                  <a:lnTo>
                    <a:pt x="3335830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34F97A4-5A79-BEF8-7675-020D053F9E2C}"/>
                </a:ext>
              </a:extLst>
            </p:cNvPr>
            <p:cNvSpPr txBox="1"/>
            <p:nvPr/>
          </p:nvSpPr>
          <p:spPr>
            <a:xfrm>
              <a:off x="101600" y="-38100"/>
              <a:ext cx="3335830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E54FD9F-4B44-6882-650C-1E7A96267939}"/>
              </a:ext>
            </a:extLst>
          </p:cNvPr>
          <p:cNvGrpSpPr/>
          <p:nvPr/>
        </p:nvGrpSpPr>
        <p:grpSpPr>
          <a:xfrm>
            <a:off x="-10960542" y="5835432"/>
            <a:ext cx="14248619" cy="8476983"/>
            <a:chOff x="0" y="0"/>
            <a:chExt cx="1024652" cy="6096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B436A9B9-DD30-4EC0-D99F-354C25888494}"/>
                </a:ext>
              </a:extLst>
            </p:cNvPr>
            <p:cNvSpPr/>
            <p:nvPr/>
          </p:nvSpPr>
          <p:spPr>
            <a:xfrm>
              <a:off x="0" y="0"/>
              <a:ext cx="1024652" cy="609600"/>
            </a:xfrm>
            <a:custGeom>
              <a:avLst/>
              <a:gdLst/>
              <a:ahLst/>
              <a:cxnLst/>
              <a:rect l="l" t="t" r="r" b="b"/>
              <a:pathLst>
                <a:path w="1024652" h="609600">
                  <a:moveTo>
                    <a:pt x="821452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024652" y="609600"/>
                  </a:lnTo>
                  <a:lnTo>
                    <a:pt x="821452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4DE8E7F6-32A1-13D6-8E57-E47DA57A1C17}"/>
                </a:ext>
              </a:extLst>
            </p:cNvPr>
            <p:cNvSpPr txBox="1"/>
            <p:nvPr/>
          </p:nvSpPr>
          <p:spPr>
            <a:xfrm>
              <a:off x="101600" y="-38100"/>
              <a:ext cx="821452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D110E7E3-D0DC-DA21-5886-BA716F29FB6E}"/>
              </a:ext>
            </a:extLst>
          </p:cNvPr>
          <p:cNvGrpSpPr/>
          <p:nvPr/>
        </p:nvGrpSpPr>
        <p:grpSpPr>
          <a:xfrm rot="-10800000">
            <a:off x="-10792952" y="7148428"/>
            <a:ext cx="13689960" cy="1554646"/>
            <a:chOff x="0" y="0"/>
            <a:chExt cx="5368038" cy="6096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2ABE40D-F758-A5B2-395D-67E44B2F5022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FD403908-83CD-0B3D-1925-133D03226286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5DA7D4A3-4FA8-4B30-F82F-AB057B3F041E}"/>
              </a:ext>
            </a:extLst>
          </p:cNvPr>
          <p:cNvSpPr txBox="1"/>
          <p:nvPr/>
        </p:nvSpPr>
        <p:spPr>
          <a:xfrm>
            <a:off x="13822699" y="1738175"/>
            <a:ext cx="3315799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37"/>
              </a:lnSpc>
            </a:pPr>
            <a:r>
              <a:rPr lang="hr-HR" sz="23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Zdravko Blažević</a:t>
            </a:r>
            <a:endParaRPr lang="en-US" sz="2300" dirty="0">
              <a:solidFill>
                <a:srgbClr val="E9E1D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2E42E1AE-A1DD-3001-C4F9-35186B21784D}"/>
              </a:ext>
            </a:extLst>
          </p:cNvPr>
          <p:cNvSpPr txBox="1"/>
          <p:nvPr/>
        </p:nvSpPr>
        <p:spPr>
          <a:xfrm>
            <a:off x="12835788" y="5825907"/>
            <a:ext cx="4423512" cy="6924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737"/>
              </a:lnSpc>
            </a:pPr>
            <a:r>
              <a:rPr lang="hr-HR" sz="23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Menotrica</a:t>
            </a:r>
            <a:r>
              <a:rPr lang="hr-HR" sz="23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Dr. sc. Ivana Dvorski </a:t>
            </a:r>
            <a:r>
              <a:rPr lang="hr-HR" sz="23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Lackovicr</a:t>
            </a:r>
            <a:r>
              <a:rPr lang="hr-HR" sz="23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</a:t>
            </a:r>
            <a:endParaRPr lang="en-US" sz="2300" dirty="0">
              <a:solidFill>
                <a:srgbClr val="E9E1D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54C2641-1829-BAEB-BF43-E20B33F7D94C}"/>
              </a:ext>
            </a:extLst>
          </p:cNvPr>
          <p:cNvSpPr txBox="1"/>
          <p:nvPr/>
        </p:nvSpPr>
        <p:spPr>
          <a:xfrm>
            <a:off x="12238158" y="7719445"/>
            <a:ext cx="5021142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 dirty="0" err="1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Varaždin</a:t>
            </a:r>
            <a:r>
              <a:rPr lang="en-US" sz="3500" dirty="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500" dirty="0" err="1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travanj</a:t>
            </a:r>
            <a:r>
              <a:rPr lang="en-US" sz="3500" dirty="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2025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20C2F15-F934-115A-348C-5305EB427B87}"/>
              </a:ext>
            </a:extLst>
          </p:cNvPr>
          <p:cNvSpPr txBox="1"/>
          <p:nvPr/>
        </p:nvSpPr>
        <p:spPr>
          <a:xfrm>
            <a:off x="6860635" y="2595936"/>
            <a:ext cx="10648602" cy="2654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6000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RIZIK TEHNOLOŠKOG ZOSTAJANJA</a:t>
            </a:r>
          </a:p>
        </p:txBody>
      </p:sp>
    </p:spTree>
    <p:extLst>
      <p:ext uri="{BB962C8B-B14F-4D97-AF65-F5344CB8AC3E}">
        <p14:creationId xmlns:p14="http://schemas.microsoft.com/office/powerpoint/2010/main" val="3764067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F77B1-897F-CF0F-6751-8FE3D1649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1401614-6845-BD40-B5FB-2A4245EB7636}"/>
              </a:ext>
            </a:extLst>
          </p:cNvPr>
          <p:cNvGrpSpPr/>
          <p:nvPr/>
        </p:nvGrpSpPr>
        <p:grpSpPr>
          <a:xfrm rot="-2088381">
            <a:off x="1108315" y="3605466"/>
            <a:ext cx="2550451" cy="889721"/>
            <a:chOff x="0" y="0"/>
            <a:chExt cx="1920982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163F7C6-C154-1245-16AC-29F4848A3CB1}"/>
                </a:ext>
              </a:extLst>
            </p:cNvPr>
            <p:cNvSpPr/>
            <p:nvPr/>
          </p:nvSpPr>
          <p:spPr>
            <a:xfrm>
              <a:off x="0" y="0"/>
              <a:ext cx="1920982" cy="713275"/>
            </a:xfrm>
            <a:custGeom>
              <a:avLst/>
              <a:gdLst/>
              <a:ahLst/>
              <a:cxnLst/>
              <a:rect l="l" t="t" r="r" b="b"/>
              <a:pathLst>
                <a:path w="1920982" h="713275">
                  <a:moveTo>
                    <a:pt x="203200" y="0"/>
                  </a:moveTo>
                  <a:lnTo>
                    <a:pt x="1920982" y="0"/>
                  </a:lnTo>
                  <a:lnTo>
                    <a:pt x="1717782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45EC4FD-34F7-3EF6-6897-B2218300EC2B}"/>
                </a:ext>
              </a:extLst>
            </p:cNvPr>
            <p:cNvSpPr txBox="1"/>
            <p:nvPr/>
          </p:nvSpPr>
          <p:spPr>
            <a:xfrm>
              <a:off x="101600" y="-38100"/>
              <a:ext cx="1717782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40E6CD48-87F8-2F51-B07F-1F29F522AA84}"/>
              </a:ext>
            </a:extLst>
          </p:cNvPr>
          <p:cNvGrpSpPr/>
          <p:nvPr/>
        </p:nvGrpSpPr>
        <p:grpSpPr>
          <a:xfrm>
            <a:off x="1347071" y="4199679"/>
            <a:ext cx="3996247" cy="863640"/>
            <a:chOff x="0" y="0"/>
            <a:chExt cx="2650134" cy="6096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D1EB2B9-8510-0E4E-7D93-22EAAE596A90}"/>
                </a:ext>
              </a:extLst>
            </p:cNvPr>
            <p:cNvSpPr/>
            <p:nvPr/>
          </p:nvSpPr>
          <p:spPr>
            <a:xfrm>
              <a:off x="0" y="0"/>
              <a:ext cx="2650134" cy="609600"/>
            </a:xfrm>
            <a:custGeom>
              <a:avLst/>
              <a:gdLst/>
              <a:ahLst/>
              <a:cxnLst/>
              <a:rect l="l" t="t" r="r" b="b"/>
              <a:pathLst>
                <a:path w="2650134" h="609600">
                  <a:moveTo>
                    <a:pt x="244693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650134" y="609600"/>
                  </a:lnTo>
                  <a:lnTo>
                    <a:pt x="24469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A80423F-F68B-4B04-859C-26A130FBBBF5}"/>
                </a:ext>
              </a:extLst>
            </p:cNvPr>
            <p:cNvSpPr txBox="1"/>
            <p:nvPr/>
          </p:nvSpPr>
          <p:spPr>
            <a:xfrm>
              <a:off x="101600" y="-38100"/>
              <a:ext cx="244693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B6BBEE3-141B-1C6C-6DBA-57970B04EA78}"/>
              </a:ext>
            </a:extLst>
          </p:cNvPr>
          <p:cNvGrpSpPr/>
          <p:nvPr/>
        </p:nvGrpSpPr>
        <p:grpSpPr>
          <a:xfrm rot="-2088381">
            <a:off x="6596978" y="3567492"/>
            <a:ext cx="2550451" cy="889721"/>
            <a:chOff x="0" y="0"/>
            <a:chExt cx="1920982" cy="713275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0157EF24-CE46-CA89-AF29-9F1F250EA6D2}"/>
                </a:ext>
              </a:extLst>
            </p:cNvPr>
            <p:cNvSpPr/>
            <p:nvPr/>
          </p:nvSpPr>
          <p:spPr>
            <a:xfrm>
              <a:off x="0" y="0"/>
              <a:ext cx="1920982" cy="713275"/>
            </a:xfrm>
            <a:custGeom>
              <a:avLst/>
              <a:gdLst/>
              <a:ahLst/>
              <a:cxnLst/>
              <a:rect l="l" t="t" r="r" b="b"/>
              <a:pathLst>
                <a:path w="1920982" h="713275">
                  <a:moveTo>
                    <a:pt x="203200" y="0"/>
                  </a:moveTo>
                  <a:lnTo>
                    <a:pt x="1920982" y="0"/>
                  </a:lnTo>
                  <a:lnTo>
                    <a:pt x="1717782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AF4B110-5035-D8F2-4026-F3D63ED1B9FE}"/>
                </a:ext>
              </a:extLst>
            </p:cNvPr>
            <p:cNvSpPr txBox="1"/>
            <p:nvPr/>
          </p:nvSpPr>
          <p:spPr>
            <a:xfrm>
              <a:off x="101600" y="-38100"/>
              <a:ext cx="1717782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492D4628-0EE2-16D9-0E51-E9528DEDB127}"/>
              </a:ext>
            </a:extLst>
          </p:cNvPr>
          <p:cNvGrpSpPr/>
          <p:nvPr/>
        </p:nvGrpSpPr>
        <p:grpSpPr>
          <a:xfrm>
            <a:off x="6850260" y="4199679"/>
            <a:ext cx="3996247" cy="863640"/>
            <a:chOff x="0" y="0"/>
            <a:chExt cx="2650134" cy="609600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BA8DA66-7B1F-CA16-0F3E-7820A31C44B7}"/>
                </a:ext>
              </a:extLst>
            </p:cNvPr>
            <p:cNvSpPr/>
            <p:nvPr/>
          </p:nvSpPr>
          <p:spPr>
            <a:xfrm>
              <a:off x="0" y="0"/>
              <a:ext cx="2650134" cy="609600"/>
            </a:xfrm>
            <a:custGeom>
              <a:avLst/>
              <a:gdLst/>
              <a:ahLst/>
              <a:cxnLst/>
              <a:rect l="l" t="t" r="r" b="b"/>
              <a:pathLst>
                <a:path w="2650134" h="609600">
                  <a:moveTo>
                    <a:pt x="244693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650134" y="609600"/>
                  </a:lnTo>
                  <a:lnTo>
                    <a:pt x="24469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79F63DA2-F6B4-A5DD-BC4E-32CE64BEE8BB}"/>
                </a:ext>
              </a:extLst>
            </p:cNvPr>
            <p:cNvSpPr txBox="1"/>
            <p:nvPr/>
          </p:nvSpPr>
          <p:spPr>
            <a:xfrm>
              <a:off x="101600" y="-38100"/>
              <a:ext cx="244693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B720E2C1-23C6-2051-7EEC-BA5A88A344F5}"/>
              </a:ext>
            </a:extLst>
          </p:cNvPr>
          <p:cNvGrpSpPr/>
          <p:nvPr/>
        </p:nvGrpSpPr>
        <p:grpSpPr>
          <a:xfrm rot="-2088381">
            <a:off x="12097424" y="3567492"/>
            <a:ext cx="2550451" cy="889721"/>
            <a:chOff x="0" y="0"/>
            <a:chExt cx="1920982" cy="713275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132F06A5-65A7-3D6A-A684-372325B769E7}"/>
                </a:ext>
              </a:extLst>
            </p:cNvPr>
            <p:cNvSpPr/>
            <p:nvPr/>
          </p:nvSpPr>
          <p:spPr>
            <a:xfrm>
              <a:off x="0" y="0"/>
              <a:ext cx="1920982" cy="713275"/>
            </a:xfrm>
            <a:custGeom>
              <a:avLst/>
              <a:gdLst/>
              <a:ahLst/>
              <a:cxnLst/>
              <a:rect l="l" t="t" r="r" b="b"/>
              <a:pathLst>
                <a:path w="1920982" h="713275">
                  <a:moveTo>
                    <a:pt x="203200" y="0"/>
                  </a:moveTo>
                  <a:lnTo>
                    <a:pt x="1920982" y="0"/>
                  </a:lnTo>
                  <a:lnTo>
                    <a:pt x="1717782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ED3CBBE3-098A-72B2-6478-DEE528C417DC}"/>
                </a:ext>
              </a:extLst>
            </p:cNvPr>
            <p:cNvSpPr txBox="1"/>
            <p:nvPr/>
          </p:nvSpPr>
          <p:spPr>
            <a:xfrm>
              <a:off x="101600" y="-38100"/>
              <a:ext cx="1717782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1178C306-A493-B83E-4494-8056FF350BB9}"/>
              </a:ext>
            </a:extLst>
          </p:cNvPr>
          <p:cNvGrpSpPr/>
          <p:nvPr/>
        </p:nvGrpSpPr>
        <p:grpSpPr>
          <a:xfrm>
            <a:off x="12350707" y="4199679"/>
            <a:ext cx="3996247" cy="863640"/>
            <a:chOff x="0" y="0"/>
            <a:chExt cx="2650134" cy="6096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044DD97-EE6E-A4E9-7363-AACD8DB9F855}"/>
                </a:ext>
              </a:extLst>
            </p:cNvPr>
            <p:cNvSpPr/>
            <p:nvPr/>
          </p:nvSpPr>
          <p:spPr>
            <a:xfrm>
              <a:off x="0" y="0"/>
              <a:ext cx="2650134" cy="609600"/>
            </a:xfrm>
            <a:custGeom>
              <a:avLst/>
              <a:gdLst/>
              <a:ahLst/>
              <a:cxnLst/>
              <a:rect l="l" t="t" r="r" b="b"/>
              <a:pathLst>
                <a:path w="2650134" h="609600">
                  <a:moveTo>
                    <a:pt x="244693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650134" y="609600"/>
                  </a:lnTo>
                  <a:lnTo>
                    <a:pt x="24469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ADB8A9F7-7979-984F-F014-2A8EDCA7FDB9}"/>
                </a:ext>
              </a:extLst>
            </p:cNvPr>
            <p:cNvSpPr txBox="1"/>
            <p:nvPr/>
          </p:nvSpPr>
          <p:spPr>
            <a:xfrm>
              <a:off x="101600" y="-38100"/>
              <a:ext cx="244693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>
            <a:extLst>
              <a:ext uri="{FF2B5EF4-FFF2-40B4-BE49-F238E27FC236}">
                <a16:creationId xmlns:a16="http://schemas.microsoft.com/office/drawing/2014/main" id="{9E1F1004-0400-A75B-8DDD-7F9AC0DF566A}"/>
              </a:ext>
            </a:extLst>
          </p:cNvPr>
          <p:cNvSpPr txBox="1"/>
          <p:nvPr/>
        </p:nvSpPr>
        <p:spPr>
          <a:xfrm>
            <a:off x="1936679" y="4369635"/>
            <a:ext cx="341067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1. UVOD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A83206A6-76FF-34B2-0418-F33B947BB101}"/>
              </a:ext>
            </a:extLst>
          </p:cNvPr>
          <p:cNvSpPr txBox="1"/>
          <p:nvPr/>
        </p:nvSpPr>
        <p:spPr>
          <a:xfrm>
            <a:off x="7564979" y="4369635"/>
            <a:ext cx="3713789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en-US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</a:t>
            </a: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IGITALNA TRANSFORMACIJA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7A5D9911-92D6-4F27-6544-3AE59394524E}"/>
              </a:ext>
            </a:extLst>
          </p:cNvPr>
          <p:cNvSpPr txBox="1"/>
          <p:nvPr/>
        </p:nvSpPr>
        <p:spPr>
          <a:xfrm>
            <a:off x="13089489" y="4369635"/>
            <a:ext cx="341067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UZROCI TEHNOLOŠKOG ZAOSTAJANJA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C04FA161-2FCE-4BB2-2240-4CF9C9F783F2}"/>
              </a:ext>
            </a:extLst>
          </p:cNvPr>
          <p:cNvSpPr txBox="1"/>
          <p:nvPr/>
        </p:nvSpPr>
        <p:spPr>
          <a:xfrm>
            <a:off x="1997193" y="895350"/>
            <a:ext cx="14293614" cy="1178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864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SADRŽAJ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34" name="Group 2">
            <a:extLst>
              <a:ext uri="{FF2B5EF4-FFF2-40B4-BE49-F238E27FC236}">
                <a16:creationId xmlns:a16="http://schemas.microsoft.com/office/drawing/2014/main" id="{0F5DB9BB-FF21-AE8C-68BC-AFB52BA4BB42}"/>
              </a:ext>
            </a:extLst>
          </p:cNvPr>
          <p:cNvGrpSpPr/>
          <p:nvPr/>
        </p:nvGrpSpPr>
        <p:grpSpPr>
          <a:xfrm rot="-2088381">
            <a:off x="1084252" y="7078329"/>
            <a:ext cx="2550451" cy="889721"/>
            <a:chOff x="0" y="0"/>
            <a:chExt cx="1920982" cy="713275"/>
          </a:xfrm>
        </p:grpSpPr>
        <p:sp>
          <p:nvSpPr>
            <p:cNvPr id="35" name="Freeform 3">
              <a:extLst>
                <a:ext uri="{FF2B5EF4-FFF2-40B4-BE49-F238E27FC236}">
                  <a16:creationId xmlns:a16="http://schemas.microsoft.com/office/drawing/2014/main" id="{E483320F-E254-0483-47E2-22A37FDE6DF3}"/>
                </a:ext>
              </a:extLst>
            </p:cNvPr>
            <p:cNvSpPr/>
            <p:nvPr/>
          </p:nvSpPr>
          <p:spPr>
            <a:xfrm>
              <a:off x="0" y="0"/>
              <a:ext cx="1920982" cy="713275"/>
            </a:xfrm>
            <a:custGeom>
              <a:avLst/>
              <a:gdLst/>
              <a:ahLst/>
              <a:cxnLst/>
              <a:rect l="l" t="t" r="r" b="b"/>
              <a:pathLst>
                <a:path w="1920982" h="713275">
                  <a:moveTo>
                    <a:pt x="203200" y="0"/>
                  </a:moveTo>
                  <a:lnTo>
                    <a:pt x="1920982" y="0"/>
                  </a:lnTo>
                  <a:lnTo>
                    <a:pt x="1717782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36" name="TextBox 4">
              <a:extLst>
                <a:ext uri="{FF2B5EF4-FFF2-40B4-BE49-F238E27FC236}">
                  <a16:creationId xmlns:a16="http://schemas.microsoft.com/office/drawing/2014/main" id="{3A743408-F73D-3C74-34E0-CB4D0295314B}"/>
                </a:ext>
              </a:extLst>
            </p:cNvPr>
            <p:cNvSpPr txBox="1"/>
            <p:nvPr/>
          </p:nvSpPr>
          <p:spPr>
            <a:xfrm>
              <a:off x="101600" y="-38100"/>
              <a:ext cx="1717782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9" name="Group 7">
            <a:extLst>
              <a:ext uri="{FF2B5EF4-FFF2-40B4-BE49-F238E27FC236}">
                <a16:creationId xmlns:a16="http://schemas.microsoft.com/office/drawing/2014/main" id="{B4FA237A-3BE5-FD01-3ABD-55EF378CDA85}"/>
              </a:ext>
            </a:extLst>
          </p:cNvPr>
          <p:cNvGrpSpPr/>
          <p:nvPr/>
        </p:nvGrpSpPr>
        <p:grpSpPr>
          <a:xfrm>
            <a:off x="1323008" y="7672542"/>
            <a:ext cx="3996247" cy="863640"/>
            <a:chOff x="0" y="0"/>
            <a:chExt cx="2650134" cy="609600"/>
          </a:xfrm>
        </p:grpSpPr>
        <p:sp>
          <p:nvSpPr>
            <p:cNvPr id="40" name="Freeform 8">
              <a:extLst>
                <a:ext uri="{FF2B5EF4-FFF2-40B4-BE49-F238E27FC236}">
                  <a16:creationId xmlns:a16="http://schemas.microsoft.com/office/drawing/2014/main" id="{7E66ED59-BCB9-A9C3-5038-11C1EE61A1A8}"/>
                </a:ext>
              </a:extLst>
            </p:cNvPr>
            <p:cNvSpPr/>
            <p:nvPr/>
          </p:nvSpPr>
          <p:spPr>
            <a:xfrm>
              <a:off x="0" y="0"/>
              <a:ext cx="2650134" cy="609600"/>
            </a:xfrm>
            <a:custGeom>
              <a:avLst/>
              <a:gdLst/>
              <a:ahLst/>
              <a:cxnLst/>
              <a:rect l="l" t="t" r="r" b="b"/>
              <a:pathLst>
                <a:path w="2650134" h="609600">
                  <a:moveTo>
                    <a:pt x="244693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650134" y="609600"/>
                  </a:lnTo>
                  <a:lnTo>
                    <a:pt x="24469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1" name="TextBox 9">
              <a:extLst>
                <a:ext uri="{FF2B5EF4-FFF2-40B4-BE49-F238E27FC236}">
                  <a16:creationId xmlns:a16="http://schemas.microsoft.com/office/drawing/2014/main" id="{83645E54-C51E-ABE4-0DD0-6C5322A36E72}"/>
                </a:ext>
              </a:extLst>
            </p:cNvPr>
            <p:cNvSpPr txBox="1"/>
            <p:nvPr/>
          </p:nvSpPr>
          <p:spPr>
            <a:xfrm>
              <a:off x="101600" y="-38100"/>
              <a:ext cx="244693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42" name="Group 10">
            <a:extLst>
              <a:ext uri="{FF2B5EF4-FFF2-40B4-BE49-F238E27FC236}">
                <a16:creationId xmlns:a16="http://schemas.microsoft.com/office/drawing/2014/main" id="{4981A917-2697-EDE8-72CC-07583BB6FB7E}"/>
              </a:ext>
            </a:extLst>
          </p:cNvPr>
          <p:cNvGrpSpPr/>
          <p:nvPr/>
        </p:nvGrpSpPr>
        <p:grpSpPr>
          <a:xfrm rot="-2088381">
            <a:off x="6572915" y="7040355"/>
            <a:ext cx="2550451" cy="889721"/>
            <a:chOff x="0" y="0"/>
            <a:chExt cx="1920982" cy="713275"/>
          </a:xfrm>
        </p:grpSpPr>
        <p:sp>
          <p:nvSpPr>
            <p:cNvPr id="43" name="Freeform 11">
              <a:extLst>
                <a:ext uri="{FF2B5EF4-FFF2-40B4-BE49-F238E27FC236}">
                  <a16:creationId xmlns:a16="http://schemas.microsoft.com/office/drawing/2014/main" id="{3E7EDE00-EE1F-F6E3-39C8-3B122B3E4BFF}"/>
                </a:ext>
              </a:extLst>
            </p:cNvPr>
            <p:cNvSpPr/>
            <p:nvPr/>
          </p:nvSpPr>
          <p:spPr>
            <a:xfrm>
              <a:off x="0" y="0"/>
              <a:ext cx="1920982" cy="713275"/>
            </a:xfrm>
            <a:custGeom>
              <a:avLst/>
              <a:gdLst/>
              <a:ahLst/>
              <a:cxnLst/>
              <a:rect l="l" t="t" r="r" b="b"/>
              <a:pathLst>
                <a:path w="1920982" h="713275">
                  <a:moveTo>
                    <a:pt x="203200" y="0"/>
                  </a:moveTo>
                  <a:lnTo>
                    <a:pt x="1920982" y="0"/>
                  </a:lnTo>
                  <a:lnTo>
                    <a:pt x="1717782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4" name="TextBox 12">
              <a:extLst>
                <a:ext uri="{FF2B5EF4-FFF2-40B4-BE49-F238E27FC236}">
                  <a16:creationId xmlns:a16="http://schemas.microsoft.com/office/drawing/2014/main" id="{E6A78018-C2C6-127A-5501-46A314873508}"/>
                </a:ext>
              </a:extLst>
            </p:cNvPr>
            <p:cNvSpPr txBox="1"/>
            <p:nvPr/>
          </p:nvSpPr>
          <p:spPr>
            <a:xfrm>
              <a:off x="101600" y="-38100"/>
              <a:ext cx="1717782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7" name="Group 15">
            <a:extLst>
              <a:ext uri="{FF2B5EF4-FFF2-40B4-BE49-F238E27FC236}">
                <a16:creationId xmlns:a16="http://schemas.microsoft.com/office/drawing/2014/main" id="{CC4C4D7F-E7FE-77E3-C5E2-C583CC7C09FE}"/>
              </a:ext>
            </a:extLst>
          </p:cNvPr>
          <p:cNvGrpSpPr/>
          <p:nvPr/>
        </p:nvGrpSpPr>
        <p:grpSpPr>
          <a:xfrm>
            <a:off x="6826197" y="7672542"/>
            <a:ext cx="3996247" cy="863640"/>
            <a:chOff x="0" y="0"/>
            <a:chExt cx="2650134" cy="609600"/>
          </a:xfrm>
        </p:grpSpPr>
        <p:sp>
          <p:nvSpPr>
            <p:cNvPr id="48" name="Freeform 16">
              <a:extLst>
                <a:ext uri="{FF2B5EF4-FFF2-40B4-BE49-F238E27FC236}">
                  <a16:creationId xmlns:a16="http://schemas.microsoft.com/office/drawing/2014/main" id="{3884087A-E95D-B235-9232-E7DE558565F2}"/>
                </a:ext>
              </a:extLst>
            </p:cNvPr>
            <p:cNvSpPr/>
            <p:nvPr/>
          </p:nvSpPr>
          <p:spPr>
            <a:xfrm>
              <a:off x="0" y="0"/>
              <a:ext cx="2650134" cy="609600"/>
            </a:xfrm>
            <a:custGeom>
              <a:avLst/>
              <a:gdLst/>
              <a:ahLst/>
              <a:cxnLst/>
              <a:rect l="l" t="t" r="r" b="b"/>
              <a:pathLst>
                <a:path w="2650134" h="609600">
                  <a:moveTo>
                    <a:pt x="244693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650134" y="609600"/>
                  </a:lnTo>
                  <a:lnTo>
                    <a:pt x="24469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9" name="TextBox 17">
              <a:extLst>
                <a:ext uri="{FF2B5EF4-FFF2-40B4-BE49-F238E27FC236}">
                  <a16:creationId xmlns:a16="http://schemas.microsoft.com/office/drawing/2014/main" id="{F4D608A9-5235-A300-5159-C9B211399347}"/>
                </a:ext>
              </a:extLst>
            </p:cNvPr>
            <p:cNvSpPr txBox="1"/>
            <p:nvPr/>
          </p:nvSpPr>
          <p:spPr>
            <a:xfrm>
              <a:off x="101600" y="-38100"/>
              <a:ext cx="244693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0" name="Group 18">
            <a:extLst>
              <a:ext uri="{FF2B5EF4-FFF2-40B4-BE49-F238E27FC236}">
                <a16:creationId xmlns:a16="http://schemas.microsoft.com/office/drawing/2014/main" id="{E30D9A3F-C4E7-4AEF-42F6-34D803AD9179}"/>
              </a:ext>
            </a:extLst>
          </p:cNvPr>
          <p:cNvGrpSpPr/>
          <p:nvPr/>
        </p:nvGrpSpPr>
        <p:grpSpPr>
          <a:xfrm rot="-2088381">
            <a:off x="12073361" y="7040355"/>
            <a:ext cx="2550451" cy="889721"/>
            <a:chOff x="0" y="0"/>
            <a:chExt cx="1920982" cy="713275"/>
          </a:xfrm>
        </p:grpSpPr>
        <p:sp>
          <p:nvSpPr>
            <p:cNvPr id="51" name="Freeform 19">
              <a:extLst>
                <a:ext uri="{FF2B5EF4-FFF2-40B4-BE49-F238E27FC236}">
                  <a16:creationId xmlns:a16="http://schemas.microsoft.com/office/drawing/2014/main" id="{CF265E58-3A53-ED7C-17E4-1B384D3ECF5E}"/>
                </a:ext>
              </a:extLst>
            </p:cNvPr>
            <p:cNvSpPr/>
            <p:nvPr/>
          </p:nvSpPr>
          <p:spPr>
            <a:xfrm>
              <a:off x="0" y="0"/>
              <a:ext cx="1920982" cy="713275"/>
            </a:xfrm>
            <a:custGeom>
              <a:avLst/>
              <a:gdLst/>
              <a:ahLst/>
              <a:cxnLst/>
              <a:rect l="l" t="t" r="r" b="b"/>
              <a:pathLst>
                <a:path w="1920982" h="713275">
                  <a:moveTo>
                    <a:pt x="203200" y="0"/>
                  </a:moveTo>
                  <a:lnTo>
                    <a:pt x="1920982" y="0"/>
                  </a:lnTo>
                  <a:lnTo>
                    <a:pt x="1717782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52" name="TextBox 20">
              <a:extLst>
                <a:ext uri="{FF2B5EF4-FFF2-40B4-BE49-F238E27FC236}">
                  <a16:creationId xmlns:a16="http://schemas.microsoft.com/office/drawing/2014/main" id="{7EE51B93-A3E1-CE05-2F5F-865B4A53760F}"/>
                </a:ext>
              </a:extLst>
            </p:cNvPr>
            <p:cNvSpPr txBox="1"/>
            <p:nvPr/>
          </p:nvSpPr>
          <p:spPr>
            <a:xfrm>
              <a:off x="101600" y="-38100"/>
              <a:ext cx="1717782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5" name="Group 23">
            <a:extLst>
              <a:ext uri="{FF2B5EF4-FFF2-40B4-BE49-F238E27FC236}">
                <a16:creationId xmlns:a16="http://schemas.microsoft.com/office/drawing/2014/main" id="{F27057F8-1BD9-9969-31DD-570A17A97F79}"/>
              </a:ext>
            </a:extLst>
          </p:cNvPr>
          <p:cNvGrpSpPr/>
          <p:nvPr/>
        </p:nvGrpSpPr>
        <p:grpSpPr>
          <a:xfrm>
            <a:off x="12326644" y="7672542"/>
            <a:ext cx="3996247" cy="863640"/>
            <a:chOff x="0" y="0"/>
            <a:chExt cx="2650134" cy="609600"/>
          </a:xfrm>
        </p:grpSpPr>
        <p:sp>
          <p:nvSpPr>
            <p:cNvPr id="56" name="Freeform 24">
              <a:extLst>
                <a:ext uri="{FF2B5EF4-FFF2-40B4-BE49-F238E27FC236}">
                  <a16:creationId xmlns:a16="http://schemas.microsoft.com/office/drawing/2014/main" id="{82C2F1C8-5884-B6F0-937F-A0808A3D928D}"/>
                </a:ext>
              </a:extLst>
            </p:cNvPr>
            <p:cNvSpPr/>
            <p:nvPr/>
          </p:nvSpPr>
          <p:spPr>
            <a:xfrm>
              <a:off x="0" y="0"/>
              <a:ext cx="2650134" cy="609600"/>
            </a:xfrm>
            <a:custGeom>
              <a:avLst/>
              <a:gdLst/>
              <a:ahLst/>
              <a:cxnLst/>
              <a:rect l="l" t="t" r="r" b="b"/>
              <a:pathLst>
                <a:path w="2650134" h="609600">
                  <a:moveTo>
                    <a:pt x="2446934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2650134" y="609600"/>
                  </a:lnTo>
                  <a:lnTo>
                    <a:pt x="244693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57" name="TextBox 25">
              <a:extLst>
                <a:ext uri="{FF2B5EF4-FFF2-40B4-BE49-F238E27FC236}">
                  <a16:creationId xmlns:a16="http://schemas.microsoft.com/office/drawing/2014/main" id="{13F27EE2-3EEC-EB0C-3FD1-FFBB8D6C24D9}"/>
                </a:ext>
              </a:extLst>
            </p:cNvPr>
            <p:cNvSpPr txBox="1"/>
            <p:nvPr/>
          </p:nvSpPr>
          <p:spPr>
            <a:xfrm>
              <a:off x="101600" y="-38100"/>
              <a:ext cx="2446934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8" name="TextBox 28">
            <a:extLst>
              <a:ext uri="{FF2B5EF4-FFF2-40B4-BE49-F238E27FC236}">
                <a16:creationId xmlns:a16="http://schemas.microsoft.com/office/drawing/2014/main" id="{382C50C1-8EBB-AEF3-F119-56D12ED7921B}"/>
              </a:ext>
            </a:extLst>
          </p:cNvPr>
          <p:cNvSpPr txBox="1"/>
          <p:nvPr/>
        </p:nvSpPr>
        <p:spPr>
          <a:xfrm>
            <a:off x="1912616" y="7842498"/>
            <a:ext cx="3410671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LEGACY SUSTAVI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59" name="TextBox 30">
            <a:extLst>
              <a:ext uri="{FF2B5EF4-FFF2-40B4-BE49-F238E27FC236}">
                <a16:creationId xmlns:a16="http://schemas.microsoft.com/office/drawing/2014/main" id="{9F5F7DD7-5A82-4938-77FF-91AA68DC1B94}"/>
              </a:ext>
            </a:extLst>
          </p:cNvPr>
          <p:cNvSpPr txBox="1"/>
          <p:nvPr/>
        </p:nvSpPr>
        <p:spPr>
          <a:xfrm>
            <a:off x="7564979" y="7842498"/>
            <a:ext cx="341067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RIZICKI TEHNOLOŠKOG ZAOSTAJANJA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60" name="TextBox 32">
            <a:extLst>
              <a:ext uri="{FF2B5EF4-FFF2-40B4-BE49-F238E27FC236}">
                <a16:creationId xmlns:a16="http://schemas.microsoft.com/office/drawing/2014/main" id="{BA2810E8-202E-A1E6-C448-D10B3D1F92CF}"/>
              </a:ext>
            </a:extLst>
          </p:cNvPr>
          <p:cNvSpPr txBox="1"/>
          <p:nvPr/>
        </p:nvSpPr>
        <p:spPr>
          <a:xfrm>
            <a:off x="13065426" y="7842498"/>
            <a:ext cx="3410671" cy="8207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KAKO SMANJITI RIZIK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64" name="TextBox 30">
            <a:extLst>
              <a:ext uri="{FF2B5EF4-FFF2-40B4-BE49-F238E27FC236}">
                <a16:creationId xmlns:a16="http://schemas.microsoft.com/office/drawing/2014/main" id="{A4ACBA73-91EB-26F7-5290-34A887510CA7}"/>
              </a:ext>
            </a:extLst>
          </p:cNvPr>
          <p:cNvSpPr txBox="1"/>
          <p:nvPr/>
        </p:nvSpPr>
        <p:spPr>
          <a:xfrm>
            <a:off x="12678425" y="7842496"/>
            <a:ext cx="65659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6.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67" name="TextBox 30">
            <a:extLst>
              <a:ext uri="{FF2B5EF4-FFF2-40B4-BE49-F238E27FC236}">
                <a16:creationId xmlns:a16="http://schemas.microsoft.com/office/drawing/2014/main" id="{BD77558C-01A6-0674-961B-1FDF284F8C14}"/>
              </a:ext>
            </a:extLst>
          </p:cNvPr>
          <p:cNvSpPr txBox="1"/>
          <p:nvPr/>
        </p:nvSpPr>
        <p:spPr>
          <a:xfrm>
            <a:off x="1527234" y="7849249"/>
            <a:ext cx="65659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4.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68" name="TextBox 30">
            <a:extLst>
              <a:ext uri="{FF2B5EF4-FFF2-40B4-BE49-F238E27FC236}">
                <a16:creationId xmlns:a16="http://schemas.microsoft.com/office/drawing/2014/main" id="{F899A617-DCC6-FD78-9CB7-92A4539E47B3}"/>
              </a:ext>
            </a:extLst>
          </p:cNvPr>
          <p:cNvSpPr txBox="1"/>
          <p:nvPr/>
        </p:nvSpPr>
        <p:spPr>
          <a:xfrm>
            <a:off x="12702488" y="4344646"/>
            <a:ext cx="65659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3.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69" name="TextBox 30">
            <a:extLst>
              <a:ext uri="{FF2B5EF4-FFF2-40B4-BE49-F238E27FC236}">
                <a16:creationId xmlns:a16="http://schemas.microsoft.com/office/drawing/2014/main" id="{5B9DDD8A-4D3B-E5A6-39E6-8FBF2DC437FF}"/>
              </a:ext>
            </a:extLst>
          </p:cNvPr>
          <p:cNvSpPr txBox="1"/>
          <p:nvPr/>
        </p:nvSpPr>
        <p:spPr>
          <a:xfrm>
            <a:off x="7215605" y="4350182"/>
            <a:ext cx="65659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2.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0" name="TextBox 30">
            <a:extLst>
              <a:ext uri="{FF2B5EF4-FFF2-40B4-BE49-F238E27FC236}">
                <a16:creationId xmlns:a16="http://schemas.microsoft.com/office/drawing/2014/main" id="{DCF60171-F533-AE18-E296-D2EF7632E3E4}"/>
              </a:ext>
            </a:extLst>
          </p:cNvPr>
          <p:cNvSpPr txBox="1"/>
          <p:nvPr/>
        </p:nvSpPr>
        <p:spPr>
          <a:xfrm>
            <a:off x="7148077" y="7842497"/>
            <a:ext cx="656598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220"/>
              </a:lnSpc>
            </a:pPr>
            <a:r>
              <a:rPr lang="hr-HR" sz="32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5.</a:t>
            </a:r>
            <a:endParaRPr lang="en-US" sz="32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</p:spTree>
    <p:extLst>
      <p:ext uri="{BB962C8B-B14F-4D97-AF65-F5344CB8AC3E}">
        <p14:creationId xmlns:p14="http://schemas.microsoft.com/office/powerpoint/2010/main" val="1714919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A81D2-8A42-14B4-A045-30E5C629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2585B6-993C-F115-B0C1-CE1F0200704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A76AB58-4162-B517-9D7B-83D75617B585}"/>
              </a:ext>
            </a:extLst>
          </p:cNvPr>
          <p:cNvGrpSpPr/>
          <p:nvPr/>
        </p:nvGrpSpPr>
        <p:grpSpPr>
          <a:xfrm>
            <a:off x="1219200" y="1429077"/>
            <a:ext cx="16394051" cy="8476983"/>
            <a:chOff x="0" y="0"/>
            <a:chExt cx="1178935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76F9EDC-9373-3E42-459C-074E3200804B}"/>
                </a:ext>
              </a:extLst>
            </p:cNvPr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953221D-277B-65A3-A9FA-F88E327B3E59}"/>
                </a:ext>
              </a:extLst>
            </p:cNvPr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ED4AB533-7E39-F10D-FCE3-9222A02DC4F5}"/>
              </a:ext>
            </a:extLst>
          </p:cNvPr>
          <p:cNvSpPr txBox="1"/>
          <p:nvPr/>
        </p:nvSpPr>
        <p:spPr>
          <a:xfrm>
            <a:off x="7424688" y="7843136"/>
            <a:ext cx="917447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: Bartholomew Henderson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9C7C256-7E69-E458-760A-58719F464727}"/>
              </a:ext>
            </a:extLst>
          </p:cNvPr>
          <p:cNvSpPr txBox="1"/>
          <p:nvPr/>
        </p:nvSpPr>
        <p:spPr>
          <a:xfrm>
            <a:off x="4217758" y="5078484"/>
            <a:ext cx="10396934" cy="11781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10"/>
              </a:lnSpc>
            </a:pP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</a:t>
            </a:r>
            <a:r>
              <a:rPr lang="en-US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UVOD</a:t>
            </a:r>
            <a:endParaRPr lang="en-US" sz="6864" dirty="0">
              <a:solidFill>
                <a:srgbClr val="E9E1D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2181870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9A74-6C38-5560-9DCA-5942BBE13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358D90B-2C5C-DDB2-205A-DCBD854A7C5D}"/>
              </a:ext>
            </a:extLst>
          </p:cNvPr>
          <p:cNvGrpSpPr/>
          <p:nvPr/>
        </p:nvGrpSpPr>
        <p:grpSpPr>
          <a:xfrm rot="8711618">
            <a:off x="995049" y="8816272"/>
            <a:ext cx="6894380" cy="1625941"/>
            <a:chOff x="0" y="0"/>
            <a:chExt cx="3024458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70FB379-AB70-8FE9-3E98-68CCCC55CF62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976F188-F0D0-52F6-3C04-D2A39A7FFE37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54E4F95-83E8-6430-24AA-6C724CAB03A5}"/>
              </a:ext>
            </a:extLst>
          </p:cNvPr>
          <p:cNvGrpSpPr/>
          <p:nvPr/>
        </p:nvGrpSpPr>
        <p:grpSpPr>
          <a:xfrm>
            <a:off x="1331261" y="-376422"/>
            <a:ext cx="4822222" cy="11369911"/>
            <a:chOff x="0" y="0"/>
            <a:chExt cx="560316" cy="132112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AB8A873-F98E-580D-67DC-6DB6BEDAE021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D911AB91-132B-E90D-5EF0-24FC8DEFA1A8}"/>
              </a:ext>
            </a:extLst>
          </p:cNvPr>
          <p:cNvGrpSpPr/>
          <p:nvPr/>
        </p:nvGrpSpPr>
        <p:grpSpPr>
          <a:xfrm>
            <a:off x="-1817004" y="3944287"/>
            <a:ext cx="4822222" cy="11369911"/>
            <a:chOff x="0" y="0"/>
            <a:chExt cx="560316" cy="132112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39E673E-70BF-8892-E311-C05E8E201A6E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836B8432-11DF-A980-F2AE-297A4B53682C}"/>
              </a:ext>
            </a:extLst>
          </p:cNvPr>
          <p:cNvGrpSpPr/>
          <p:nvPr/>
        </p:nvGrpSpPr>
        <p:grpSpPr>
          <a:xfrm rot="-10800000">
            <a:off x="-6548512" y="6994052"/>
            <a:ext cx="13898056" cy="1578278"/>
            <a:chOff x="0" y="0"/>
            <a:chExt cx="5368038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359390DC-1C50-6B03-FBE2-CF53231124BB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92B4F50-DFC4-A054-9C52-C844BC612078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F5E6594-EA6A-5E8F-D33F-CE59C2312158}"/>
              </a:ext>
            </a:extLst>
          </p:cNvPr>
          <p:cNvGrpSpPr/>
          <p:nvPr/>
        </p:nvGrpSpPr>
        <p:grpSpPr>
          <a:xfrm rot="-2088381">
            <a:off x="14899827" y="2823637"/>
            <a:ext cx="6791151" cy="1601596"/>
            <a:chOff x="0" y="0"/>
            <a:chExt cx="3024458" cy="71327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F54E0C8F-7A60-1290-EB4D-50146F66AEE6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F9B9E912-B6D2-787D-E7AC-E9B4C0D80768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3EF1E86-8B3B-723B-8524-BA0D167BDDD9}"/>
              </a:ext>
            </a:extLst>
          </p:cNvPr>
          <p:cNvGrpSpPr/>
          <p:nvPr/>
        </p:nvGrpSpPr>
        <p:grpSpPr>
          <a:xfrm>
            <a:off x="16278249" y="-1199744"/>
            <a:ext cx="4822222" cy="11369911"/>
            <a:chOff x="0" y="0"/>
            <a:chExt cx="560316" cy="132112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D97F74AF-AB5D-38C4-D57E-FEFA711C7287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8F6FE08-6761-F476-7592-E0B89CD55D41}"/>
              </a:ext>
            </a:extLst>
          </p:cNvPr>
          <p:cNvGrpSpPr/>
          <p:nvPr/>
        </p:nvGrpSpPr>
        <p:grpSpPr>
          <a:xfrm>
            <a:off x="15431629" y="4665523"/>
            <a:ext cx="13689960" cy="1554646"/>
            <a:chOff x="0" y="0"/>
            <a:chExt cx="5368038" cy="6096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C59362B-C62E-DD77-B1C6-6AB75E192F53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491F4E5-2EBE-EC4D-CF35-E6D95263F9F7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6751925B-9F18-5E0B-25B9-989ED2EA71F0}"/>
              </a:ext>
            </a:extLst>
          </p:cNvPr>
          <p:cNvSpPr txBox="1"/>
          <p:nvPr/>
        </p:nvSpPr>
        <p:spPr>
          <a:xfrm>
            <a:off x="5345849" y="2325105"/>
            <a:ext cx="10081769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Tehnologija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je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faktor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konkurentnosti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poduzeća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Brz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razvoj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digitalnih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tehnologija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umjetna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inteligencija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cloud,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analitika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podataka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Poduzeća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moraju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stalno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prilagođavati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tehnološkim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promjenama</a:t>
            </a:r>
            <a:endParaRPr lang="en-US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1496270-BA79-8BBD-B42B-855E620B3ECC}"/>
              </a:ext>
            </a:extLst>
          </p:cNvPr>
          <p:cNvSpPr txBox="1"/>
          <p:nvPr/>
        </p:nvSpPr>
        <p:spPr>
          <a:xfrm>
            <a:off x="6483865" y="848963"/>
            <a:ext cx="8566378" cy="118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864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UVOD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3FA3DEFD-2B1F-3D83-48C9-D2B70960D871}"/>
              </a:ext>
            </a:extLst>
          </p:cNvPr>
          <p:cNvSpPr txBox="1"/>
          <p:nvPr/>
        </p:nvSpPr>
        <p:spPr>
          <a:xfrm>
            <a:off x="7093153" y="5986401"/>
            <a:ext cx="10955035" cy="328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Problem: 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tehnološko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zaostajanje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nemogućnost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praćenja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razvoja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tehnologije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Posljedice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povećani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troškovi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poslovanja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smanjena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učinkovitost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gubitak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konkurentske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prednosti</a:t>
            </a:r>
            <a:endParaRPr lang="en-US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3475868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3CA66-D796-7241-6C3D-A2BFA74CD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E71CF43-A1FC-26AC-9A13-7BFAFD3ED63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94B11883-F3F2-6EE7-4FAA-C322405BDBE3}"/>
              </a:ext>
            </a:extLst>
          </p:cNvPr>
          <p:cNvGrpSpPr/>
          <p:nvPr/>
        </p:nvGrpSpPr>
        <p:grpSpPr>
          <a:xfrm>
            <a:off x="1344311" y="1104900"/>
            <a:ext cx="16394051" cy="8476983"/>
            <a:chOff x="0" y="0"/>
            <a:chExt cx="1178935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BE2DD68-586D-F40F-1C64-16379279E7BF}"/>
                </a:ext>
              </a:extLst>
            </p:cNvPr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638AA81-794E-4F1F-F3EF-3E68CF45EA9C}"/>
                </a:ext>
              </a:extLst>
            </p:cNvPr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34EA0BB3-53F7-F296-202C-21993ED2B947}"/>
              </a:ext>
            </a:extLst>
          </p:cNvPr>
          <p:cNvSpPr txBox="1"/>
          <p:nvPr/>
        </p:nvSpPr>
        <p:spPr>
          <a:xfrm>
            <a:off x="7424688" y="7843136"/>
            <a:ext cx="917447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: Bartholomew Henderson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6C21FE3-576D-887C-5BA1-05EC166B09BB}"/>
              </a:ext>
            </a:extLst>
          </p:cNvPr>
          <p:cNvSpPr txBox="1"/>
          <p:nvPr/>
        </p:nvSpPr>
        <p:spPr>
          <a:xfrm>
            <a:off x="4337001" y="4489402"/>
            <a:ext cx="9336533" cy="241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10"/>
              </a:lnSpc>
            </a:pP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</a:t>
            </a:r>
            <a:r>
              <a:rPr lang="en-US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DIGITALNA TRANSFORMACIJA</a:t>
            </a:r>
            <a:endParaRPr lang="en-US" sz="6864" dirty="0">
              <a:solidFill>
                <a:srgbClr val="E9E1D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740042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3A40D-9D15-09F9-0995-6787F63CA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D454E4E-89AE-FA42-8A82-93C496A86770}"/>
              </a:ext>
            </a:extLst>
          </p:cNvPr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4AF85DC0-3DF9-88F2-6434-AC8B3B1BF7BA}"/>
              </a:ext>
            </a:extLst>
          </p:cNvPr>
          <p:cNvGrpSpPr/>
          <p:nvPr/>
        </p:nvGrpSpPr>
        <p:grpSpPr>
          <a:xfrm>
            <a:off x="-4930038" y="1257300"/>
            <a:ext cx="28056400" cy="8048325"/>
            <a:chOff x="0" y="0"/>
            <a:chExt cx="2017602" cy="39283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A2F759A-B514-F475-227F-349306774166}"/>
                </a:ext>
              </a:extLst>
            </p:cNvPr>
            <p:cNvSpPr/>
            <p:nvPr/>
          </p:nvSpPr>
          <p:spPr>
            <a:xfrm>
              <a:off x="0" y="0"/>
              <a:ext cx="2017602" cy="392836"/>
            </a:xfrm>
            <a:custGeom>
              <a:avLst/>
              <a:gdLst/>
              <a:ahLst/>
              <a:cxnLst/>
              <a:rect l="l" t="t" r="r" b="b"/>
              <a:pathLst>
                <a:path w="2017602" h="392836">
                  <a:moveTo>
                    <a:pt x="1814402" y="0"/>
                  </a:moveTo>
                  <a:lnTo>
                    <a:pt x="0" y="0"/>
                  </a:lnTo>
                  <a:lnTo>
                    <a:pt x="203200" y="392836"/>
                  </a:lnTo>
                  <a:lnTo>
                    <a:pt x="2017602" y="392836"/>
                  </a:lnTo>
                  <a:lnTo>
                    <a:pt x="1814402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E8749C8-3D3C-E4F7-CF03-BB1440CB9775}"/>
                </a:ext>
              </a:extLst>
            </p:cNvPr>
            <p:cNvSpPr txBox="1"/>
            <p:nvPr/>
          </p:nvSpPr>
          <p:spPr>
            <a:xfrm>
              <a:off x="101600" y="-38100"/>
              <a:ext cx="1814402" cy="430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6C4CE92-B45A-63D5-D2F5-B505DD2C5FC7}"/>
              </a:ext>
            </a:extLst>
          </p:cNvPr>
          <p:cNvGrpSpPr/>
          <p:nvPr/>
        </p:nvGrpSpPr>
        <p:grpSpPr>
          <a:xfrm rot="8711618">
            <a:off x="3805212" y="5898680"/>
            <a:ext cx="3155655" cy="1625941"/>
            <a:chOff x="0" y="0"/>
            <a:chExt cx="1384337" cy="7132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95AF135-C18E-6017-4CD4-45A3787ABF46}"/>
                </a:ext>
              </a:extLst>
            </p:cNvPr>
            <p:cNvSpPr/>
            <p:nvPr/>
          </p:nvSpPr>
          <p:spPr>
            <a:xfrm>
              <a:off x="0" y="0"/>
              <a:ext cx="1384337" cy="713275"/>
            </a:xfrm>
            <a:custGeom>
              <a:avLst/>
              <a:gdLst/>
              <a:ahLst/>
              <a:cxnLst/>
              <a:rect l="l" t="t" r="r" b="b"/>
              <a:pathLst>
                <a:path w="1384337" h="713275">
                  <a:moveTo>
                    <a:pt x="203200" y="0"/>
                  </a:moveTo>
                  <a:lnTo>
                    <a:pt x="1384337" y="0"/>
                  </a:lnTo>
                  <a:lnTo>
                    <a:pt x="1181137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A6CB459-20BB-F00E-2D33-39637C424B3E}"/>
                </a:ext>
              </a:extLst>
            </p:cNvPr>
            <p:cNvSpPr txBox="1"/>
            <p:nvPr/>
          </p:nvSpPr>
          <p:spPr>
            <a:xfrm>
              <a:off x="101600" y="-38100"/>
              <a:ext cx="1181137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E2A8A96-3F40-BBDE-CA01-AF1CA431DCC9}"/>
              </a:ext>
            </a:extLst>
          </p:cNvPr>
          <p:cNvGrpSpPr/>
          <p:nvPr/>
        </p:nvGrpSpPr>
        <p:grpSpPr>
          <a:xfrm rot="5400000">
            <a:off x="-1241921" y="3041123"/>
            <a:ext cx="9305625" cy="4204754"/>
            <a:chOff x="0" y="0"/>
            <a:chExt cx="1081264" cy="48857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69F244C-3D31-6DFC-00DE-B1A9BC8014A0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7007" t="-13614" r="-18039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AA3C5C4-8265-898B-A409-4A46E47CCA99}"/>
              </a:ext>
            </a:extLst>
          </p:cNvPr>
          <p:cNvGrpSpPr/>
          <p:nvPr/>
        </p:nvGrpSpPr>
        <p:grpSpPr>
          <a:xfrm rot="-10800000">
            <a:off x="-7142619" y="5143500"/>
            <a:ext cx="13898056" cy="1578278"/>
            <a:chOff x="0" y="0"/>
            <a:chExt cx="5368038" cy="6096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2ECD332-5487-A42B-3209-358E43252371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CFA36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02D783CF-47A4-2BBE-285E-3889A751FE94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B118E88-4DE1-98FA-5F3F-2D7420B19315}"/>
              </a:ext>
            </a:extLst>
          </p:cNvPr>
          <p:cNvGrpSpPr/>
          <p:nvPr/>
        </p:nvGrpSpPr>
        <p:grpSpPr>
          <a:xfrm rot="5400000">
            <a:off x="-2726437" y="-4425512"/>
            <a:ext cx="9305625" cy="4204754"/>
            <a:chOff x="0" y="0"/>
            <a:chExt cx="1081264" cy="48857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50A2230E-7B8C-479E-6972-E47B0DB91E71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4390" r="-183008" b="-1361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38E51CE-F69F-39FF-DA9D-7F2DAF93087D}"/>
              </a:ext>
            </a:extLst>
          </p:cNvPr>
          <p:cNvGrpSpPr/>
          <p:nvPr/>
        </p:nvGrpSpPr>
        <p:grpSpPr>
          <a:xfrm rot="5400000">
            <a:off x="860456" y="10342817"/>
            <a:ext cx="9305625" cy="4204754"/>
            <a:chOff x="0" y="0"/>
            <a:chExt cx="1081264" cy="48857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E8EFC2F-BA54-8FAF-011F-EBA94FC14C94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9623" t="-62792" r="-34113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18" name="TextBox 18">
            <a:extLst>
              <a:ext uri="{FF2B5EF4-FFF2-40B4-BE49-F238E27FC236}">
                <a16:creationId xmlns:a16="http://schemas.microsoft.com/office/drawing/2014/main" id="{77D1B004-F4E8-938C-9729-B943CA0894BE}"/>
              </a:ext>
            </a:extLst>
          </p:cNvPr>
          <p:cNvSpPr txBox="1"/>
          <p:nvPr/>
        </p:nvSpPr>
        <p:spPr>
          <a:xfrm>
            <a:off x="7280889" y="4906717"/>
            <a:ext cx="11205755" cy="20518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transformacija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=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korištenje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digitalnih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tehnologija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za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promjenu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načina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poslovanja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uključuje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samo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tehnologiju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već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promjene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</a:t>
            </a: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strategiji</a:t>
            </a: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organizaciji</a:t>
            </a: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poslovnim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procesima</a:t>
            </a:r>
            <a:endParaRPr lang="en-US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91A2E35-53A5-9445-DB07-DDE7C1E1477D}"/>
              </a:ext>
            </a:extLst>
          </p:cNvPr>
          <p:cNvSpPr txBox="1"/>
          <p:nvPr/>
        </p:nvSpPr>
        <p:spPr>
          <a:xfrm>
            <a:off x="5895653" y="1299875"/>
            <a:ext cx="12209321" cy="2418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864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DIGITALNA TRANSFORMACIJA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9953953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77990-462E-9EA4-3180-ADB05DD8F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DCEF8AE-9F4F-6F46-9064-91500F52B1E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087FE74-962C-B325-AF16-1DB9E4950684}"/>
              </a:ext>
            </a:extLst>
          </p:cNvPr>
          <p:cNvGrpSpPr/>
          <p:nvPr/>
        </p:nvGrpSpPr>
        <p:grpSpPr>
          <a:xfrm rot="-2088381">
            <a:off x="513524" y="5158326"/>
            <a:ext cx="7946576" cy="1601596"/>
            <a:chOff x="0" y="0"/>
            <a:chExt cx="3539030" cy="71327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976487F-CE42-C003-097B-BD8620B63312}"/>
                </a:ext>
              </a:extLst>
            </p:cNvPr>
            <p:cNvSpPr/>
            <p:nvPr/>
          </p:nvSpPr>
          <p:spPr>
            <a:xfrm>
              <a:off x="0" y="0"/>
              <a:ext cx="3539030" cy="713275"/>
            </a:xfrm>
            <a:custGeom>
              <a:avLst/>
              <a:gdLst/>
              <a:ahLst/>
              <a:cxnLst/>
              <a:rect l="l" t="t" r="r" b="b"/>
              <a:pathLst>
                <a:path w="3539030" h="713275">
                  <a:moveTo>
                    <a:pt x="203200" y="0"/>
                  </a:moveTo>
                  <a:lnTo>
                    <a:pt x="3539030" y="0"/>
                  </a:lnTo>
                  <a:lnTo>
                    <a:pt x="3335830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AEDE5DA-3B37-69EA-D024-F34585EE1EF4}"/>
                </a:ext>
              </a:extLst>
            </p:cNvPr>
            <p:cNvSpPr txBox="1"/>
            <p:nvPr/>
          </p:nvSpPr>
          <p:spPr>
            <a:xfrm>
              <a:off x="101600" y="-38100"/>
              <a:ext cx="3335830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2A694B38-7ACE-CD32-B0DA-9E7137375413}"/>
              </a:ext>
            </a:extLst>
          </p:cNvPr>
          <p:cNvGrpSpPr/>
          <p:nvPr/>
        </p:nvGrpSpPr>
        <p:grpSpPr>
          <a:xfrm>
            <a:off x="1126648" y="905008"/>
            <a:ext cx="16394051" cy="8476983"/>
            <a:chOff x="0" y="0"/>
            <a:chExt cx="1178935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D6F3CB3-D1B8-3F23-F48D-A8ACDE72DEC9}"/>
                </a:ext>
              </a:extLst>
            </p:cNvPr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82D3837-2FE3-0EDD-EBC3-CF5F9BFCC74B}"/>
                </a:ext>
              </a:extLst>
            </p:cNvPr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5A8AC6E1-D1DF-6940-CB63-F9C60817CD9B}"/>
              </a:ext>
            </a:extLst>
          </p:cNvPr>
          <p:cNvGrpSpPr/>
          <p:nvPr/>
        </p:nvGrpSpPr>
        <p:grpSpPr>
          <a:xfrm>
            <a:off x="1148687" y="7329973"/>
            <a:ext cx="18998529" cy="1554646"/>
            <a:chOff x="0" y="0"/>
            <a:chExt cx="7449608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B027ACC-E902-029B-C769-42F7D9780F7C}"/>
                </a:ext>
              </a:extLst>
            </p:cNvPr>
            <p:cNvSpPr/>
            <p:nvPr/>
          </p:nvSpPr>
          <p:spPr>
            <a:xfrm>
              <a:off x="0" y="0"/>
              <a:ext cx="7449608" cy="609600"/>
            </a:xfrm>
            <a:custGeom>
              <a:avLst/>
              <a:gdLst/>
              <a:ahLst/>
              <a:cxnLst/>
              <a:rect l="l" t="t" r="r" b="b"/>
              <a:pathLst>
                <a:path w="7449608" h="609600">
                  <a:moveTo>
                    <a:pt x="724640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7449608" y="609600"/>
                  </a:lnTo>
                  <a:lnTo>
                    <a:pt x="7246408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4F2E078-FE96-07F8-6588-573E3C5D42CF}"/>
                </a:ext>
              </a:extLst>
            </p:cNvPr>
            <p:cNvSpPr txBox="1"/>
            <p:nvPr/>
          </p:nvSpPr>
          <p:spPr>
            <a:xfrm>
              <a:off x="101600" y="-38100"/>
              <a:ext cx="724640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6420ED1-1130-F415-1879-21DCFB4B0255}"/>
              </a:ext>
            </a:extLst>
          </p:cNvPr>
          <p:cNvSpPr txBox="1"/>
          <p:nvPr/>
        </p:nvSpPr>
        <p:spPr>
          <a:xfrm>
            <a:off x="2561518" y="2164819"/>
            <a:ext cx="12297482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Digitalizacija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pretvaranje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podataka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u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digitalni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oblik</a:t>
            </a:r>
            <a:endParaRPr lang="hr-HR" sz="3200" dirty="0">
              <a:solidFill>
                <a:srgbClr val="E9E1D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Digitalna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transformacija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→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promjena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cijelog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poslovnog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modela</a:t>
            </a:r>
            <a:endParaRPr lang="en-US" sz="3200" dirty="0">
              <a:solidFill>
                <a:srgbClr val="E9E1D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5CF292AD-0E07-6B21-81E5-1964EE4E5DF6}"/>
              </a:ext>
            </a:extLst>
          </p:cNvPr>
          <p:cNvSpPr txBox="1"/>
          <p:nvPr/>
        </p:nvSpPr>
        <p:spPr>
          <a:xfrm>
            <a:off x="2561518" y="1759945"/>
            <a:ext cx="5057835" cy="38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2300" b="1" dirty="0">
                <a:solidFill>
                  <a:srgbClr val="E9E1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RAZLIKA:</a:t>
            </a:r>
            <a:endParaRPr lang="en-US" sz="2300" b="1" dirty="0">
              <a:solidFill>
                <a:srgbClr val="E9E1DB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8DA1AEF7-847B-DDB7-D473-43ED858FAD62}"/>
              </a:ext>
            </a:extLst>
          </p:cNvPr>
          <p:cNvSpPr txBox="1"/>
          <p:nvPr/>
        </p:nvSpPr>
        <p:spPr>
          <a:xfrm>
            <a:off x="7424688" y="7843136"/>
            <a:ext cx="9174479" cy="538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 dirty="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DIGITALNA TRANSFORMACIJA</a:t>
            </a:r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E187D193-AF0D-A515-2E96-6DFADA7BCD70}"/>
              </a:ext>
            </a:extLst>
          </p:cNvPr>
          <p:cNvSpPr txBox="1"/>
          <p:nvPr/>
        </p:nvSpPr>
        <p:spPr>
          <a:xfrm>
            <a:off x="2561518" y="3874885"/>
            <a:ext cx="5057835" cy="381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2300" b="1" dirty="0">
                <a:solidFill>
                  <a:srgbClr val="E9E1DB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UTEJCAJ NA POSLOVANJE:</a:t>
            </a:r>
            <a:endParaRPr lang="en-US" sz="2300" b="1" dirty="0">
              <a:solidFill>
                <a:srgbClr val="E9E1DB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73ABC1E0-571F-6CEC-36EE-3DB868EA0E27}"/>
              </a:ext>
            </a:extLst>
          </p:cNvPr>
          <p:cNvSpPr txBox="1"/>
          <p:nvPr/>
        </p:nvSpPr>
        <p:spPr>
          <a:xfrm>
            <a:off x="3261057" y="4172628"/>
            <a:ext cx="12297482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povećanje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učinkovitosti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brzine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procesa</a:t>
            </a:r>
            <a:endParaRPr lang="hr-HR" sz="3200" dirty="0">
              <a:solidFill>
                <a:srgbClr val="E9E1D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bolje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donošenje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odluka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korištenje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podataka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</a:t>
            </a:r>
            <a:endParaRPr lang="hr-HR" sz="3200" dirty="0">
              <a:solidFill>
                <a:srgbClr val="E9E1D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poboljšano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korisničko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iskustvo</a:t>
            </a:r>
            <a:endParaRPr lang="hr-HR" sz="3200" dirty="0">
              <a:solidFill>
                <a:srgbClr val="E9E1D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stvaranje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novih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proizvoda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200" dirty="0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E9E1D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usluga</a:t>
            </a:r>
            <a:endParaRPr lang="en-US" sz="3200" dirty="0">
              <a:solidFill>
                <a:srgbClr val="E9E1DB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1192458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3B93-ACD9-1AFA-85DF-5A2A8B053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4BE3C7F-163D-0C06-BCA2-50A57919762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75C3FB8-D20E-3065-6823-B5897791F68E}"/>
              </a:ext>
            </a:extLst>
          </p:cNvPr>
          <p:cNvGrpSpPr/>
          <p:nvPr/>
        </p:nvGrpSpPr>
        <p:grpSpPr>
          <a:xfrm>
            <a:off x="1344311" y="1104900"/>
            <a:ext cx="16394051" cy="8476983"/>
            <a:chOff x="0" y="0"/>
            <a:chExt cx="1178935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14D9E3F-5C09-2FFF-3E2D-928A25CB8E73}"/>
                </a:ext>
              </a:extLst>
            </p:cNvPr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E62BD8C-34EB-4277-E373-407057F53B6B}"/>
                </a:ext>
              </a:extLst>
            </p:cNvPr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4D692F98-68B5-6D4B-3B29-4977CEBC7696}"/>
              </a:ext>
            </a:extLst>
          </p:cNvPr>
          <p:cNvSpPr txBox="1"/>
          <p:nvPr/>
        </p:nvSpPr>
        <p:spPr>
          <a:xfrm>
            <a:off x="7424688" y="7843136"/>
            <a:ext cx="917447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: Bartholomew Henderson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D4C4EF3-906D-D1B3-4A34-F669F57D53DE}"/>
              </a:ext>
            </a:extLst>
          </p:cNvPr>
          <p:cNvSpPr txBox="1"/>
          <p:nvPr/>
        </p:nvSpPr>
        <p:spPr>
          <a:xfrm>
            <a:off x="4337001" y="4489402"/>
            <a:ext cx="9336533" cy="2418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10"/>
              </a:lnSpc>
            </a:pP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 </a:t>
            </a:r>
            <a:r>
              <a:rPr lang="en-US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FAZE DIGITALNE TRANSFORMACIJE</a:t>
            </a:r>
            <a:endParaRPr lang="en-US" sz="6864" dirty="0">
              <a:solidFill>
                <a:srgbClr val="E9E1D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3066284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73F0D-1A83-A50C-7D34-22F9383CF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092BB45-1AA1-7D3F-E561-AB7DC6F1C964}"/>
              </a:ext>
            </a:extLst>
          </p:cNvPr>
          <p:cNvGrpSpPr/>
          <p:nvPr/>
        </p:nvGrpSpPr>
        <p:grpSpPr>
          <a:xfrm rot="-2088381">
            <a:off x="8326003" y="4918073"/>
            <a:ext cx="6791151" cy="1601596"/>
            <a:chOff x="0" y="0"/>
            <a:chExt cx="3024458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EB18AD-81ED-A225-AB97-0ADBBD6FE8CE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8CF4498-CFB9-3FD6-0D1F-88F92137776C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C6DF625-AB47-7F9B-90EB-857BE230B752}"/>
              </a:ext>
            </a:extLst>
          </p:cNvPr>
          <p:cNvGrpSpPr/>
          <p:nvPr/>
        </p:nvGrpSpPr>
        <p:grpSpPr>
          <a:xfrm rot="5400000">
            <a:off x="10988801" y="1086435"/>
            <a:ext cx="6032466" cy="7804385"/>
            <a:chOff x="0" y="0"/>
            <a:chExt cx="700940" cy="906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B789A90-AE46-D3FF-3F32-4BCC61E35E49}"/>
                </a:ext>
              </a:extLst>
            </p:cNvPr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2"/>
              <a:stretch>
                <a:fillRect l="-7425" t="-6935" r="-42668" b="-224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C420EF17-CE72-B0B4-C282-8B9DB8767552}"/>
              </a:ext>
            </a:extLst>
          </p:cNvPr>
          <p:cNvGrpSpPr/>
          <p:nvPr/>
        </p:nvGrpSpPr>
        <p:grpSpPr>
          <a:xfrm rot="5400000">
            <a:off x="12657858" y="-4299940"/>
            <a:ext cx="6032466" cy="7804385"/>
            <a:chOff x="0" y="0"/>
            <a:chExt cx="700940" cy="90682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9E57164-E893-4081-DBD8-AEDA627BF8F8}"/>
                </a:ext>
              </a:extLst>
            </p:cNvPr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2"/>
              <a:stretch>
                <a:fillRect l="-7425" t="-6935" r="-42668" b="-224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FEC91D10-8265-71D5-EF5F-61C5034D93D3}"/>
              </a:ext>
            </a:extLst>
          </p:cNvPr>
          <p:cNvGrpSpPr/>
          <p:nvPr/>
        </p:nvGrpSpPr>
        <p:grpSpPr>
          <a:xfrm>
            <a:off x="8857805" y="6759959"/>
            <a:ext cx="13689960" cy="1554646"/>
            <a:chOff x="0" y="0"/>
            <a:chExt cx="5368038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CD33624-EE85-86F4-4514-3EB67686D470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CFA36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A83E4BB-EF7B-DE39-0C3C-500927D359E6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6F30EEB5-828F-5996-FDE8-81CC88A1DAC4}"/>
              </a:ext>
            </a:extLst>
          </p:cNvPr>
          <p:cNvGrpSpPr/>
          <p:nvPr/>
        </p:nvGrpSpPr>
        <p:grpSpPr>
          <a:xfrm rot="5400000">
            <a:off x="16261966" y="5356107"/>
            <a:ext cx="6032466" cy="7804385"/>
            <a:chOff x="0" y="0"/>
            <a:chExt cx="700940" cy="906828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B4B5A868-72BD-6AEA-49BC-FAC45304D0AC}"/>
                </a:ext>
              </a:extLst>
            </p:cNvPr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2"/>
              <a:stretch>
                <a:fillRect l="-7425" t="-6935" r="-42668" b="-224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4" name="TextBox 24">
            <a:extLst>
              <a:ext uri="{FF2B5EF4-FFF2-40B4-BE49-F238E27FC236}">
                <a16:creationId xmlns:a16="http://schemas.microsoft.com/office/drawing/2014/main" id="{9370199C-4316-0552-1C80-34F23A08679C}"/>
              </a:ext>
            </a:extLst>
          </p:cNvPr>
          <p:cNvSpPr txBox="1"/>
          <p:nvPr/>
        </p:nvSpPr>
        <p:spPr>
          <a:xfrm>
            <a:off x="787461" y="325173"/>
            <a:ext cx="9867900" cy="2418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864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FAZE DIGITLNE TRANSFORMACIJE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15D151E8-0D58-F17B-4DD2-D0587CD590CC}"/>
              </a:ext>
            </a:extLst>
          </p:cNvPr>
          <p:cNvSpPr txBox="1"/>
          <p:nvPr/>
        </p:nvSpPr>
        <p:spPr>
          <a:xfrm>
            <a:off x="558638" y="3042866"/>
            <a:ext cx="9422754" cy="58272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Digitalna transformacija odvija se kroz više faza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Postupni prijelaz od tradicionalnog do digitalnog poslovanja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Faze: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Digitalizacija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Digitalizacija</a:t>
            </a:r>
            <a:r>
              <a:rPr lang="es-E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procesa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Digitalna</a:t>
            </a:r>
            <a:r>
              <a:rPr lang="es-E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s-E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transformacija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269918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2BAA4-1A5D-F230-1877-06B711BEE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52532B6-E422-C6D4-55C1-14B6DE37F4C7}"/>
              </a:ext>
            </a:extLst>
          </p:cNvPr>
          <p:cNvGrpSpPr/>
          <p:nvPr/>
        </p:nvGrpSpPr>
        <p:grpSpPr>
          <a:xfrm rot="8711618">
            <a:off x="995049" y="8816272"/>
            <a:ext cx="6894380" cy="1625941"/>
            <a:chOff x="0" y="0"/>
            <a:chExt cx="3024458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5AC7904-FFC7-EDFF-ABA5-52DD3968108A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58C37C2-AAB8-84DE-5222-A91011F9BA3A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FC49A7F-CBB5-924F-6688-016C82683599}"/>
              </a:ext>
            </a:extLst>
          </p:cNvPr>
          <p:cNvGrpSpPr/>
          <p:nvPr/>
        </p:nvGrpSpPr>
        <p:grpSpPr>
          <a:xfrm>
            <a:off x="1331261" y="-376422"/>
            <a:ext cx="4822222" cy="11369911"/>
            <a:chOff x="0" y="0"/>
            <a:chExt cx="560316" cy="132112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1F1D26D-33B1-94A8-982E-39387EC379D6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590C18B-F266-8F4B-6BB5-04C900E5543C}"/>
              </a:ext>
            </a:extLst>
          </p:cNvPr>
          <p:cNvGrpSpPr/>
          <p:nvPr/>
        </p:nvGrpSpPr>
        <p:grpSpPr>
          <a:xfrm>
            <a:off x="-1817004" y="3944287"/>
            <a:ext cx="4822222" cy="11369911"/>
            <a:chOff x="0" y="0"/>
            <a:chExt cx="560316" cy="132112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3E65437-CDBE-134C-40E5-52289005E178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A18FB9A-CD51-C831-15BA-0F903E9E981C}"/>
              </a:ext>
            </a:extLst>
          </p:cNvPr>
          <p:cNvGrpSpPr/>
          <p:nvPr/>
        </p:nvGrpSpPr>
        <p:grpSpPr>
          <a:xfrm rot="-10800000">
            <a:off x="-6548512" y="6994052"/>
            <a:ext cx="13898056" cy="1578278"/>
            <a:chOff x="0" y="0"/>
            <a:chExt cx="5368038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A2A1A0A-FB4A-8D40-46C0-02CE35399E05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DAC4DD4A-A709-83C3-FD60-30533F9438BE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DDC447D0-4AF4-4DDF-6CA2-01C40EB7C543}"/>
              </a:ext>
            </a:extLst>
          </p:cNvPr>
          <p:cNvGrpSpPr/>
          <p:nvPr/>
        </p:nvGrpSpPr>
        <p:grpSpPr>
          <a:xfrm rot="-2088381">
            <a:off x="14899827" y="2823637"/>
            <a:ext cx="6791151" cy="1601596"/>
            <a:chOff x="0" y="0"/>
            <a:chExt cx="3024458" cy="71327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7F68F38D-11C6-AB4C-98A7-0A09A2890C17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83A304BC-4E64-15C0-AFBD-92D737821B04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6817CBE3-3B11-CAAC-C2C1-8487D51E5646}"/>
              </a:ext>
            </a:extLst>
          </p:cNvPr>
          <p:cNvGrpSpPr/>
          <p:nvPr/>
        </p:nvGrpSpPr>
        <p:grpSpPr>
          <a:xfrm>
            <a:off x="16278249" y="-1199744"/>
            <a:ext cx="4822222" cy="11369911"/>
            <a:chOff x="0" y="0"/>
            <a:chExt cx="560316" cy="132112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77CD596D-2D6D-A1FA-7FC2-13501C9E2965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155F3E54-5F51-4873-1F0E-880CB631AF1C}"/>
              </a:ext>
            </a:extLst>
          </p:cNvPr>
          <p:cNvGrpSpPr/>
          <p:nvPr/>
        </p:nvGrpSpPr>
        <p:grpSpPr>
          <a:xfrm>
            <a:off x="15431629" y="4665523"/>
            <a:ext cx="13689960" cy="1554646"/>
            <a:chOff x="0" y="0"/>
            <a:chExt cx="5368038" cy="6096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A19CE2C-7A4C-B319-910B-320A8B427000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D3292B6-967F-DAAB-9829-22B2BA6DB46E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083E5A44-AA2D-FE5B-326B-DE40E6AC5149}"/>
              </a:ext>
            </a:extLst>
          </p:cNvPr>
          <p:cNvSpPr txBox="1"/>
          <p:nvPr/>
        </p:nvSpPr>
        <p:spPr>
          <a:xfrm>
            <a:off x="5345849" y="2325105"/>
            <a:ext cx="10081769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Tehnologija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je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faktor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konkurentnosti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poduzeća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Brz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razvoj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digitalnih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tehnologija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(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umjetna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inteligencija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cloud,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analitika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podataka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)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Poduzeća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se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moraju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stalno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prilagođavati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tehnološkim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promjenama</a:t>
            </a:r>
            <a:endParaRPr lang="en-US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CAAF432-33FB-C0F3-44B3-C5DC73CE485A}"/>
              </a:ext>
            </a:extLst>
          </p:cNvPr>
          <p:cNvSpPr txBox="1"/>
          <p:nvPr/>
        </p:nvSpPr>
        <p:spPr>
          <a:xfrm>
            <a:off x="6483865" y="848963"/>
            <a:ext cx="8566378" cy="118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864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DIGITALIZACIJA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6" name="TextBox 20">
            <a:extLst>
              <a:ext uri="{FF2B5EF4-FFF2-40B4-BE49-F238E27FC236}">
                <a16:creationId xmlns:a16="http://schemas.microsoft.com/office/drawing/2014/main" id="{DDFCC890-F31E-57B4-6C69-E37859B54FDD}"/>
              </a:ext>
            </a:extLst>
          </p:cNvPr>
          <p:cNvSpPr txBox="1"/>
          <p:nvPr/>
        </p:nvSpPr>
        <p:spPr>
          <a:xfrm>
            <a:off x="7093153" y="5986401"/>
            <a:ext cx="10955035" cy="2872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Problem: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tehnološko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zaostajanje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nemogućnost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praćenja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razvoja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tehnologije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Posljedice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povećani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troškovi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poslovanja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smanjena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učinkovitost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gubitak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konkurentske</a:t>
            </a:r>
            <a:r>
              <a:rPr lang="en-US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prednosti</a:t>
            </a:r>
            <a:endParaRPr lang="en-US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2574514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3914D-EC56-F2DC-EE2A-22650F205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AC21452-78F2-F2FE-9142-C08968D2D6D2}"/>
              </a:ext>
            </a:extLst>
          </p:cNvPr>
          <p:cNvGrpSpPr/>
          <p:nvPr/>
        </p:nvGrpSpPr>
        <p:grpSpPr>
          <a:xfrm rot="8711618">
            <a:off x="995049" y="8816272"/>
            <a:ext cx="6894380" cy="1625941"/>
            <a:chOff x="0" y="0"/>
            <a:chExt cx="3024458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618CEAF-7C48-84F4-FC5F-919B8B9B5336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BBE6373-3225-8E40-80AF-A033B9BD0A63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6BD735D-E097-66D7-6AED-0E5CC75DD9B9}"/>
              </a:ext>
            </a:extLst>
          </p:cNvPr>
          <p:cNvGrpSpPr/>
          <p:nvPr/>
        </p:nvGrpSpPr>
        <p:grpSpPr>
          <a:xfrm>
            <a:off x="1331261" y="-376422"/>
            <a:ext cx="4822222" cy="11369911"/>
            <a:chOff x="0" y="0"/>
            <a:chExt cx="560316" cy="132112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FE7E42A-AC23-8611-ED03-B1D087E47B4B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05D2BF17-60C3-E4F6-0915-0238C2B69332}"/>
              </a:ext>
            </a:extLst>
          </p:cNvPr>
          <p:cNvGrpSpPr/>
          <p:nvPr/>
        </p:nvGrpSpPr>
        <p:grpSpPr>
          <a:xfrm>
            <a:off x="-1817004" y="3944287"/>
            <a:ext cx="4822222" cy="11369911"/>
            <a:chOff x="0" y="0"/>
            <a:chExt cx="560316" cy="132112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7595466-0046-A760-F35D-FC33EB3EA373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104F550-7702-EC62-F25A-B5F45203F201}"/>
              </a:ext>
            </a:extLst>
          </p:cNvPr>
          <p:cNvGrpSpPr/>
          <p:nvPr/>
        </p:nvGrpSpPr>
        <p:grpSpPr>
          <a:xfrm rot="-10800000">
            <a:off x="-6548512" y="6994052"/>
            <a:ext cx="13898056" cy="1578278"/>
            <a:chOff x="0" y="0"/>
            <a:chExt cx="5368038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4570CA2-9F31-6355-F536-E206BD604549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73A46CD6-1B0F-1A5E-6592-0E34A07CD46D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F89E1FB3-6E95-65CB-59D0-D2BC3939730E}"/>
              </a:ext>
            </a:extLst>
          </p:cNvPr>
          <p:cNvGrpSpPr/>
          <p:nvPr/>
        </p:nvGrpSpPr>
        <p:grpSpPr>
          <a:xfrm rot="-2088381">
            <a:off x="14899827" y="2823637"/>
            <a:ext cx="6791151" cy="1601596"/>
            <a:chOff x="0" y="0"/>
            <a:chExt cx="3024458" cy="71327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53A8DED-BB90-4E12-A242-D47EAE234C22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444B8C28-6088-C7A4-1F06-EF62111BD036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35341D16-0DA3-48D2-F9D5-409FD0B716BC}"/>
              </a:ext>
            </a:extLst>
          </p:cNvPr>
          <p:cNvGrpSpPr/>
          <p:nvPr/>
        </p:nvGrpSpPr>
        <p:grpSpPr>
          <a:xfrm>
            <a:off x="16278249" y="-1199744"/>
            <a:ext cx="4822222" cy="11369911"/>
            <a:chOff x="0" y="0"/>
            <a:chExt cx="560316" cy="132112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3663CBA7-9998-C47E-F518-64AABFF25133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2231326-1D44-4DC0-45F6-3E447AC70AB1}"/>
              </a:ext>
            </a:extLst>
          </p:cNvPr>
          <p:cNvGrpSpPr/>
          <p:nvPr/>
        </p:nvGrpSpPr>
        <p:grpSpPr>
          <a:xfrm>
            <a:off x="15431629" y="4665523"/>
            <a:ext cx="13689960" cy="1554646"/>
            <a:chOff x="0" y="0"/>
            <a:chExt cx="5368038" cy="6096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91B26B02-E584-5163-768B-A91E67DEE78A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8688E1E0-2900-569E-4D1F-04BA08606E55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4B2A85A-CC1A-AAF1-C728-3D0D1915599B}"/>
              </a:ext>
            </a:extLst>
          </p:cNvPr>
          <p:cNvSpPr txBox="1"/>
          <p:nvPr/>
        </p:nvSpPr>
        <p:spPr>
          <a:xfrm>
            <a:off x="5345849" y="2325105"/>
            <a:ext cx="10081769" cy="213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Korištenje tehnologije za poboljšanje poslovanja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Automatizacija procesa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Online komunikacija s korisnicima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92B1A086-0993-1F9C-2CE2-4FD0EEFA3C07}"/>
              </a:ext>
            </a:extLst>
          </p:cNvPr>
          <p:cNvSpPr txBox="1"/>
          <p:nvPr/>
        </p:nvSpPr>
        <p:spPr>
          <a:xfrm>
            <a:off x="5178464" y="692714"/>
            <a:ext cx="105550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5400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DIGITALIZACIJA PROCESA</a:t>
            </a:r>
            <a:endParaRPr lang="en-US" sz="5400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1" name="TextBox 24">
            <a:extLst>
              <a:ext uri="{FF2B5EF4-FFF2-40B4-BE49-F238E27FC236}">
                <a16:creationId xmlns:a16="http://schemas.microsoft.com/office/drawing/2014/main" id="{4DC55B6D-77B9-CF65-8B28-C0DE7BD47D1E}"/>
              </a:ext>
            </a:extLst>
          </p:cNvPr>
          <p:cNvSpPr txBox="1"/>
          <p:nvPr/>
        </p:nvSpPr>
        <p:spPr>
          <a:xfrm>
            <a:off x="5345849" y="5562190"/>
            <a:ext cx="12295846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5400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DIGITALNA TRANSFORMACIJA</a:t>
            </a:r>
            <a:endParaRPr lang="en-US" sz="5400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2" name="TextBox 20">
            <a:extLst>
              <a:ext uri="{FF2B5EF4-FFF2-40B4-BE49-F238E27FC236}">
                <a16:creationId xmlns:a16="http://schemas.microsoft.com/office/drawing/2014/main" id="{4C74B9AC-ED9D-03B3-812C-C9E98593682C}"/>
              </a:ext>
            </a:extLst>
          </p:cNvPr>
          <p:cNvSpPr txBox="1"/>
          <p:nvPr/>
        </p:nvSpPr>
        <p:spPr>
          <a:xfrm>
            <a:off x="7040167" y="6842286"/>
            <a:ext cx="10081769" cy="213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Potpuna promjena poslovnog modela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Uvođenje novih digitalnih rješenja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Fokus na inovacije i korisnike</a:t>
            </a:r>
          </a:p>
        </p:txBody>
      </p:sp>
    </p:spTree>
    <p:extLst>
      <p:ext uri="{BB962C8B-B14F-4D97-AF65-F5344CB8AC3E}">
        <p14:creationId xmlns:p14="http://schemas.microsoft.com/office/powerpoint/2010/main" val="4259306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43F6-2F2B-7CA7-2626-C75FB7756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3CFAD4-3FBC-6C1A-E3B6-899CD32D0D6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13C4BFB-F8CD-F383-F44B-EEAA16C14F17}"/>
              </a:ext>
            </a:extLst>
          </p:cNvPr>
          <p:cNvGrpSpPr/>
          <p:nvPr/>
        </p:nvGrpSpPr>
        <p:grpSpPr>
          <a:xfrm>
            <a:off x="946974" y="1485900"/>
            <a:ext cx="16394051" cy="8476983"/>
            <a:chOff x="0" y="0"/>
            <a:chExt cx="1178935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002B206-64AF-5FE8-36D8-8192D4869E30}"/>
                </a:ext>
              </a:extLst>
            </p:cNvPr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FE4C85B-543A-439A-9E31-68AF07C61606}"/>
                </a:ext>
              </a:extLst>
            </p:cNvPr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12650347-521D-7051-3301-9A85E219638C}"/>
              </a:ext>
            </a:extLst>
          </p:cNvPr>
          <p:cNvSpPr txBox="1"/>
          <p:nvPr/>
        </p:nvSpPr>
        <p:spPr>
          <a:xfrm>
            <a:off x="7424688" y="7843136"/>
            <a:ext cx="917447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: Bartholomew Henderson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E6FAA87-9384-683B-D51B-AF6D94E0C4DA}"/>
              </a:ext>
            </a:extLst>
          </p:cNvPr>
          <p:cNvSpPr txBox="1"/>
          <p:nvPr/>
        </p:nvSpPr>
        <p:spPr>
          <a:xfrm>
            <a:off x="4528160" y="3692690"/>
            <a:ext cx="9336533" cy="36496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10"/>
              </a:lnSpc>
            </a:pP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 </a:t>
            </a:r>
            <a:r>
              <a:rPr lang="en-US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UZROCI TEHNOLOŠKOG ZAOSTAJANJA</a:t>
            </a:r>
            <a:endParaRPr lang="en-US" sz="6864" dirty="0">
              <a:solidFill>
                <a:srgbClr val="E9E1D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23597138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CD853-C1D4-638B-5810-95D95480F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0A5D827-7D52-BAAE-3A7B-FB93D30064A9}"/>
              </a:ext>
            </a:extLst>
          </p:cNvPr>
          <p:cNvGrpSpPr/>
          <p:nvPr/>
        </p:nvGrpSpPr>
        <p:grpSpPr>
          <a:xfrm rot="-2088381">
            <a:off x="9632099" y="4357389"/>
            <a:ext cx="6791151" cy="1601596"/>
            <a:chOff x="0" y="0"/>
            <a:chExt cx="3024458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22BC78E-4E06-B006-C89A-7CA5BE5B1178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6F38AD8-E18C-2A5A-F392-4061195F6CE7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1425A872-C1FE-E508-FC02-C1846F7B56AC}"/>
              </a:ext>
            </a:extLst>
          </p:cNvPr>
          <p:cNvGrpSpPr/>
          <p:nvPr/>
        </p:nvGrpSpPr>
        <p:grpSpPr>
          <a:xfrm rot="5400000">
            <a:off x="12470012" y="788945"/>
            <a:ext cx="6032466" cy="7804385"/>
            <a:chOff x="0" y="0"/>
            <a:chExt cx="700940" cy="906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3662DEC-20FA-C3BF-2E02-558E05170231}"/>
                </a:ext>
              </a:extLst>
            </p:cNvPr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3"/>
              <a:stretch>
                <a:fillRect l="-7425" t="-6935" r="-42668" b="-224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EF7C506C-BE70-1277-D3E3-0AF49E927DDB}"/>
              </a:ext>
            </a:extLst>
          </p:cNvPr>
          <p:cNvGrpSpPr/>
          <p:nvPr/>
        </p:nvGrpSpPr>
        <p:grpSpPr>
          <a:xfrm rot="5400000">
            <a:off x="13889219" y="-4295997"/>
            <a:ext cx="6032466" cy="7804385"/>
            <a:chOff x="0" y="0"/>
            <a:chExt cx="700940" cy="90682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20501B2-3597-2F63-7A7A-AD715EFBB662}"/>
                </a:ext>
              </a:extLst>
            </p:cNvPr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3"/>
              <a:stretch>
                <a:fillRect l="-7425" t="-6935" r="-42668" b="-224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80B12D8C-5C7D-190D-BCB3-9154F1CB8B37}"/>
              </a:ext>
            </a:extLst>
          </p:cNvPr>
          <p:cNvGrpSpPr/>
          <p:nvPr/>
        </p:nvGrpSpPr>
        <p:grpSpPr>
          <a:xfrm rot="8711618">
            <a:off x="13258" y="9631219"/>
            <a:ext cx="5561336" cy="1311561"/>
            <a:chOff x="0" y="0"/>
            <a:chExt cx="3024458" cy="713275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90B3A035-1554-F57E-F8EB-5749B34CB6DF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38FD6FEF-7A10-AB24-341F-ED9E581F3E9E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B37CBE9-E1F7-6D5A-CABA-2E907C0AFBD4}"/>
              </a:ext>
            </a:extLst>
          </p:cNvPr>
          <p:cNvGrpSpPr/>
          <p:nvPr/>
        </p:nvGrpSpPr>
        <p:grpSpPr>
          <a:xfrm rot="-10800000">
            <a:off x="-6071738" y="8161329"/>
            <a:ext cx="11210834" cy="1273114"/>
            <a:chOff x="0" y="0"/>
            <a:chExt cx="5368038" cy="6096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27BE852A-84A6-44E6-DCD5-DEC553AEF04C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CFA36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445B740-1F51-B1DF-B097-AB98C79BE3F4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310D6608-9F64-4A7E-AC93-4FCD80096EAB}"/>
              </a:ext>
            </a:extLst>
          </p:cNvPr>
          <p:cNvSpPr txBox="1"/>
          <p:nvPr/>
        </p:nvSpPr>
        <p:spPr>
          <a:xfrm>
            <a:off x="1039547" y="3311967"/>
            <a:ext cx="6928212" cy="1574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stalni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napredak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(AI, cloud, IoT)</a:t>
            </a: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poduzeća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teško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prate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promjene</a:t>
            </a:r>
            <a:endParaRPr lang="en-US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C69B9FD-D2DB-6E25-EB8E-E263AD6C93B1}"/>
              </a:ext>
            </a:extLst>
          </p:cNvPr>
          <p:cNvSpPr txBox="1"/>
          <p:nvPr/>
        </p:nvSpPr>
        <p:spPr>
          <a:xfrm>
            <a:off x="1028700" y="3137104"/>
            <a:ext cx="6928212" cy="423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BEZI RAZVOJ TEHNOLOGIEJ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0E66388-2BCF-EB1B-F752-D383B070761E}"/>
              </a:ext>
            </a:extLst>
          </p:cNvPr>
          <p:cNvSpPr txBox="1"/>
          <p:nvPr/>
        </p:nvSpPr>
        <p:spPr>
          <a:xfrm>
            <a:off x="749357" y="533216"/>
            <a:ext cx="11544300" cy="2418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610"/>
              </a:lnSpc>
            </a:pPr>
            <a:r>
              <a:rPr lang="hr-HR" sz="6864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UZROCI TEHNOLOŠKOG ZAOSTAJANJA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0C314C87-5956-4EF4-B50B-7AC58C0271FB}"/>
              </a:ext>
            </a:extLst>
          </p:cNvPr>
          <p:cNvSpPr txBox="1"/>
          <p:nvPr/>
        </p:nvSpPr>
        <p:spPr>
          <a:xfrm>
            <a:off x="1295398" y="6094045"/>
            <a:ext cx="8299800" cy="1259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korisnici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očekuju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brze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digitalne</a:t>
            </a: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usluge</a:t>
            </a: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sve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više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koriste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online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kanale</a:t>
            </a:r>
            <a:endParaRPr lang="en-US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3E59CBB1-CA4B-59D9-BA12-CF69E6662A6E}"/>
              </a:ext>
            </a:extLst>
          </p:cNvPr>
          <p:cNvSpPr txBox="1"/>
          <p:nvPr/>
        </p:nvSpPr>
        <p:spPr>
          <a:xfrm>
            <a:off x="1295399" y="5664030"/>
            <a:ext cx="8487115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PROMJENE U PONAŠANJU KORISNIKA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9" name="TextBox 20">
            <a:extLst>
              <a:ext uri="{FF2B5EF4-FFF2-40B4-BE49-F238E27FC236}">
                <a16:creationId xmlns:a16="http://schemas.microsoft.com/office/drawing/2014/main" id="{E3A0C970-0DAB-3AA8-0407-DCCEF8E675A8}"/>
              </a:ext>
            </a:extLst>
          </p:cNvPr>
          <p:cNvSpPr txBox="1"/>
          <p:nvPr/>
        </p:nvSpPr>
        <p:spPr>
          <a:xfrm>
            <a:off x="9144000" y="8230575"/>
            <a:ext cx="12039600" cy="12541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nedovoljno korištenje naprednih tehnologija</a:t>
            </a:r>
          </a:p>
          <a:p>
            <a:pPr marL="342900" indent="-342900" algn="just">
              <a:lnSpc>
                <a:spcPts val="322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spor proces digitalizacije</a:t>
            </a:r>
            <a:endParaRPr lang="en-US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30" name="TextBox 22">
            <a:extLst>
              <a:ext uri="{FF2B5EF4-FFF2-40B4-BE49-F238E27FC236}">
                <a16:creationId xmlns:a16="http://schemas.microsoft.com/office/drawing/2014/main" id="{F3B5910C-F931-1D58-F257-8C81E3EA50E2}"/>
              </a:ext>
            </a:extLst>
          </p:cNvPr>
          <p:cNvSpPr txBox="1"/>
          <p:nvPr/>
        </p:nvSpPr>
        <p:spPr>
          <a:xfrm>
            <a:off x="9115926" y="8051010"/>
            <a:ext cx="8487115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SLABA PRIMJENA ICT-a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</p:spTree>
    <p:extLst>
      <p:ext uri="{BB962C8B-B14F-4D97-AF65-F5344CB8AC3E}">
        <p14:creationId xmlns:p14="http://schemas.microsoft.com/office/powerpoint/2010/main" val="627967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95DBF-F00B-408B-5558-1A84AC456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F907A0-E422-F0D0-9575-335CF2BBFDC8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EF0B581-5726-A7EB-AA1E-337A58A8CF15}"/>
              </a:ext>
            </a:extLst>
          </p:cNvPr>
          <p:cNvGrpSpPr/>
          <p:nvPr/>
        </p:nvGrpSpPr>
        <p:grpSpPr>
          <a:xfrm>
            <a:off x="-4884200" y="2196344"/>
            <a:ext cx="28056400" cy="6376156"/>
            <a:chOff x="0" y="0"/>
            <a:chExt cx="2017602" cy="39283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1E88232-D418-63DE-9758-4781A17AA2B9}"/>
                </a:ext>
              </a:extLst>
            </p:cNvPr>
            <p:cNvSpPr/>
            <p:nvPr/>
          </p:nvSpPr>
          <p:spPr>
            <a:xfrm>
              <a:off x="0" y="0"/>
              <a:ext cx="2017602" cy="392836"/>
            </a:xfrm>
            <a:custGeom>
              <a:avLst/>
              <a:gdLst/>
              <a:ahLst/>
              <a:cxnLst/>
              <a:rect l="l" t="t" r="r" b="b"/>
              <a:pathLst>
                <a:path w="2017602" h="392836">
                  <a:moveTo>
                    <a:pt x="1814402" y="0"/>
                  </a:moveTo>
                  <a:lnTo>
                    <a:pt x="0" y="0"/>
                  </a:lnTo>
                  <a:lnTo>
                    <a:pt x="203200" y="392836"/>
                  </a:lnTo>
                  <a:lnTo>
                    <a:pt x="2017602" y="392836"/>
                  </a:lnTo>
                  <a:lnTo>
                    <a:pt x="1814402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F2BD1568-DA53-CB08-EF93-D4D3BC9F2F2F}"/>
                </a:ext>
              </a:extLst>
            </p:cNvPr>
            <p:cNvSpPr txBox="1"/>
            <p:nvPr/>
          </p:nvSpPr>
          <p:spPr>
            <a:xfrm>
              <a:off x="101600" y="-38100"/>
              <a:ext cx="1814402" cy="430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7F70950-6658-F7BF-4DFC-E0499CE7B4C0}"/>
              </a:ext>
            </a:extLst>
          </p:cNvPr>
          <p:cNvGrpSpPr/>
          <p:nvPr/>
        </p:nvGrpSpPr>
        <p:grpSpPr>
          <a:xfrm rot="8711618">
            <a:off x="3805212" y="5898680"/>
            <a:ext cx="3155655" cy="1625941"/>
            <a:chOff x="0" y="0"/>
            <a:chExt cx="1384337" cy="7132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720C138-8320-E34E-1CD6-CBE583F69A0A}"/>
                </a:ext>
              </a:extLst>
            </p:cNvPr>
            <p:cNvSpPr/>
            <p:nvPr/>
          </p:nvSpPr>
          <p:spPr>
            <a:xfrm>
              <a:off x="0" y="0"/>
              <a:ext cx="1384337" cy="713275"/>
            </a:xfrm>
            <a:custGeom>
              <a:avLst/>
              <a:gdLst/>
              <a:ahLst/>
              <a:cxnLst/>
              <a:rect l="l" t="t" r="r" b="b"/>
              <a:pathLst>
                <a:path w="1384337" h="713275">
                  <a:moveTo>
                    <a:pt x="203200" y="0"/>
                  </a:moveTo>
                  <a:lnTo>
                    <a:pt x="1384337" y="0"/>
                  </a:lnTo>
                  <a:lnTo>
                    <a:pt x="1181137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D0E175D-00E9-14D4-AD71-AE44FC730E39}"/>
                </a:ext>
              </a:extLst>
            </p:cNvPr>
            <p:cNvSpPr txBox="1"/>
            <p:nvPr/>
          </p:nvSpPr>
          <p:spPr>
            <a:xfrm>
              <a:off x="101600" y="-38100"/>
              <a:ext cx="1181137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CF9DF7B-F1B0-D453-7601-46061C83FBE7}"/>
              </a:ext>
            </a:extLst>
          </p:cNvPr>
          <p:cNvGrpSpPr/>
          <p:nvPr/>
        </p:nvGrpSpPr>
        <p:grpSpPr>
          <a:xfrm rot="5400000">
            <a:off x="-1241921" y="3041123"/>
            <a:ext cx="9305625" cy="4204754"/>
            <a:chOff x="0" y="0"/>
            <a:chExt cx="1081264" cy="48857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C3D6813C-9A36-8B72-513A-D402B3AB8EAE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7007" t="-13614" r="-18039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578FE827-79E4-A136-4F29-109B0D37952F}"/>
              </a:ext>
            </a:extLst>
          </p:cNvPr>
          <p:cNvGrpSpPr/>
          <p:nvPr/>
        </p:nvGrpSpPr>
        <p:grpSpPr>
          <a:xfrm rot="-10800000">
            <a:off x="-7142619" y="5143500"/>
            <a:ext cx="13898056" cy="1578278"/>
            <a:chOff x="0" y="0"/>
            <a:chExt cx="5368038" cy="6096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FDF96ED-A578-88BB-5AD3-0F304F5B2708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CFA36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1D85A40-72B6-E9E3-489B-96C5FF5A5C85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4D749E1-C27B-1DDC-CA2B-9D757EB834ED}"/>
              </a:ext>
            </a:extLst>
          </p:cNvPr>
          <p:cNvGrpSpPr/>
          <p:nvPr/>
        </p:nvGrpSpPr>
        <p:grpSpPr>
          <a:xfrm rot="5400000">
            <a:off x="-2726437" y="-4425512"/>
            <a:ext cx="9305625" cy="4204754"/>
            <a:chOff x="0" y="0"/>
            <a:chExt cx="1081264" cy="48857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79CFC7A0-60DE-DCB3-F492-3163856FC7DD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4390" r="-183008" b="-1361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9B0B0415-6C8A-FA27-C0D4-B1A7278BF3B6}"/>
              </a:ext>
            </a:extLst>
          </p:cNvPr>
          <p:cNvGrpSpPr/>
          <p:nvPr/>
        </p:nvGrpSpPr>
        <p:grpSpPr>
          <a:xfrm rot="5400000">
            <a:off x="860456" y="10342817"/>
            <a:ext cx="9305625" cy="4204754"/>
            <a:chOff x="0" y="0"/>
            <a:chExt cx="1081264" cy="48857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2C471D5-0B5B-30A1-4E93-D8030F5E9EDA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9623" t="-62792" r="-34113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94C8BB4C-F786-C564-699E-4B2B4BCADE54}"/>
              </a:ext>
            </a:extLst>
          </p:cNvPr>
          <p:cNvSpPr txBox="1"/>
          <p:nvPr/>
        </p:nvSpPr>
        <p:spPr>
          <a:xfrm>
            <a:off x="7064114" y="3772295"/>
            <a:ext cx="771932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ZAŠTO DOLAZI DO ZAOSTAJANJA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00B6119-E98E-1E2C-A3BA-58BF338432E0}"/>
              </a:ext>
            </a:extLst>
          </p:cNvPr>
          <p:cNvSpPr txBox="1"/>
          <p:nvPr/>
        </p:nvSpPr>
        <p:spPr>
          <a:xfrm>
            <a:off x="6253323" y="2240570"/>
            <a:ext cx="11746031" cy="1187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864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ZAOSTAJANJE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9B3B7BB0-D473-3819-5DC7-70C6FC78267B}"/>
              </a:ext>
            </a:extLst>
          </p:cNvPr>
          <p:cNvSpPr txBox="1"/>
          <p:nvPr/>
        </p:nvSpPr>
        <p:spPr>
          <a:xfrm>
            <a:off x="7151412" y="3259197"/>
            <a:ext cx="11006899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Poduzeća kasno uvode nove tehnologije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Nedostatak znanja i digitalnih vještina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Nedovoljna ulaganja u IT sustave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Otpor prema promjenama unutar organizacije</a:t>
            </a:r>
            <a:endParaRPr lang="en-US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42448398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5136-576B-3781-B8A3-442FEE00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3593EAB-1C1D-8566-C902-C227A0117B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FC69732-30DA-2489-02E1-C942CC690AC6}"/>
              </a:ext>
            </a:extLst>
          </p:cNvPr>
          <p:cNvGrpSpPr/>
          <p:nvPr/>
        </p:nvGrpSpPr>
        <p:grpSpPr>
          <a:xfrm>
            <a:off x="946974" y="1485900"/>
            <a:ext cx="16394051" cy="8476983"/>
            <a:chOff x="0" y="0"/>
            <a:chExt cx="1178935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2E3AD7F-3201-A422-D3C8-97CDD4C65867}"/>
                </a:ext>
              </a:extLst>
            </p:cNvPr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DB8F483-FE2E-0068-F8B7-555192D7036D}"/>
                </a:ext>
              </a:extLst>
            </p:cNvPr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43FD4A8A-E80B-D4AC-B6FD-813802F67787}"/>
              </a:ext>
            </a:extLst>
          </p:cNvPr>
          <p:cNvSpPr txBox="1"/>
          <p:nvPr/>
        </p:nvSpPr>
        <p:spPr>
          <a:xfrm>
            <a:off x="7424688" y="7843136"/>
            <a:ext cx="917447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: Bartholomew Henderson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78CB0516-1EEB-BAD4-8CC4-0A27B6A0A106}"/>
              </a:ext>
            </a:extLst>
          </p:cNvPr>
          <p:cNvSpPr txBox="1"/>
          <p:nvPr/>
        </p:nvSpPr>
        <p:spPr>
          <a:xfrm>
            <a:off x="4475732" y="5130670"/>
            <a:ext cx="9336533" cy="1187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610"/>
              </a:lnSpc>
            </a:pP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4. </a:t>
            </a:r>
            <a:r>
              <a:rPr lang="en-US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LEGACY SUSTAVI</a:t>
            </a:r>
            <a:endParaRPr lang="en-US" sz="6864" dirty="0">
              <a:solidFill>
                <a:srgbClr val="E9E1D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40613388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88BB8-A1EF-D4C0-3EA7-061B82AA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E7EE12A-F4E7-4A8E-8EE6-29429B83F346}"/>
              </a:ext>
            </a:extLst>
          </p:cNvPr>
          <p:cNvGrpSpPr/>
          <p:nvPr/>
        </p:nvGrpSpPr>
        <p:grpSpPr>
          <a:xfrm rot="8711618">
            <a:off x="995049" y="8816272"/>
            <a:ext cx="6894380" cy="1625941"/>
            <a:chOff x="0" y="0"/>
            <a:chExt cx="3024458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78E26B-7DA9-E5DA-E4D9-8D41D0C9B8E2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D408EF1-B274-4E1E-F8DE-47DB4F81586A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1C6CE4-393C-0F7D-CF39-D33201B32D44}"/>
              </a:ext>
            </a:extLst>
          </p:cNvPr>
          <p:cNvGrpSpPr/>
          <p:nvPr/>
        </p:nvGrpSpPr>
        <p:grpSpPr>
          <a:xfrm>
            <a:off x="1331261" y="-376422"/>
            <a:ext cx="4822222" cy="11369911"/>
            <a:chOff x="0" y="0"/>
            <a:chExt cx="560316" cy="132112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73EC8E1-BE01-D66F-9FD4-04F931584685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2812DF1F-B531-B838-07AE-D99500EF3A88}"/>
              </a:ext>
            </a:extLst>
          </p:cNvPr>
          <p:cNvGrpSpPr/>
          <p:nvPr/>
        </p:nvGrpSpPr>
        <p:grpSpPr>
          <a:xfrm>
            <a:off x="-1817004" y="3944287"/>
            <a:ext cx="4822222" cy="11369911"/>
            <a:chOff x="0" y="0"/>
            <a:chExt cx="560316" cy="132112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030412D-11E1-5814-3138-70FEBCF033EF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72DA6FF1-D067-841E-C065-0BBE59FD4870}"/>
              </a:ext>
            </a:extLst>
          </p:cNvPr>
          <p:cNvGrpSpPr/>
          <p:nvPr/>
        </p:nvGrpSpPr>
        <p:grpSpPr>
          <a:xfrm rot="-10800000">
            <a:off x="-6548512" y="6994052"/>
            <a:ext cx="13898056" cy="1578278"/>
            <a:chOff x="0" y="0"/>
            <a:chExt cx="5368038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D69A5B19-91B9-EC55-88A3-2C7D79D58C54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3C1C94FC-A98A-CD60-78DA-236D6E8617C0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74DCBFC-B438-2D1A-3945-5ED013EA6C39}"/>
              </a:ext>
            </a:extLst>
          </p:cNvPr>
          <p:cNvGrpSpPr/>
          <p:nvPr/>
        </p:nvGrpSpPr>
        <p:grpSpPr>
          <a:xfrm rot="-2088381">
            <a:off x="14899827" y="2823637"/>
            <a:ext cx="6791151" cy="1601596"/>
            <a:chOff x="0" y="0"/>
            <a:chExt cx="3024458" cy="71327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0607F97F-0F16-4F44-A786-403F55490BE8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3A429F49-67A8-21EC-07F7-1550F176B257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32185DA6-2FE4-520C-0F68-D4354151C26D}"/>
              </a:ext>
            </a:extLst>
          </p:cNvPr>
          <p:cNvGrpSpPr/>
          <p:nvPr/>
        </p:nvGrpSpPr>
        <p:grpSpPr>
          <a:xfrm>
            <a:off x="16278249" y="-1199744"/>
            <a:ext cx="4822222" cy="11369911"/>
            <a:chOff x="0" y="0"/>
            <a:chExt cx="560316" cy="132112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A0F7989A-90B7-A381-E6E0-4F80A5D2CC6C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3BC11703-C755-5176-5504-C950E6E4EBAC}"/>
              </a:ext>
            </a:extLst>
          </p:cNvPr>
          <p:cNvGrpSpPr/>
          <p:nvPr/>
        </p:nvGrpSpPr>
        <p:grpSpPr>
          <a:xfrm>
            <a:off x="15431629" y="4665523"/>
            <a:ext cx="13689960" cy="1554646"/>
            <a:chOff x="0" y="0"/>
            <a:chExt cx="5368038" cy="6096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7E5ED49-E03C-170B-FDD7-2BED0ECB5092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94296E91-991C-B302-8D98-493A1108C5E5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FE80DA96-D26D-FF1B-0C74-71CA725B9783}"/>
              </a:ext>
            </a:extLst>
          </p:cNvPr>
          <p:cNvSpPr txBox="1"/>
          <p:nvPr/>
        </p:nvSpPr>
        <p:spPr>
          <a:xfrm>
            <a:off x="5345849" y="2325105"/>
            <a:ext cx="10081769" cy="2138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Zastarjeli informacijski sustavi koji se i dalje koriste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Temelje se na starim tehnologijama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Često su ključni za svakodnevno poslovanje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E6710D0-7614-4075-765C-19821A96F336}"/>
              </a:ext>
            </a:extLst>
          </p:cNvPr>
          <p:cNvSpPr txBox="1"/>
          <p:nvPr/>
        </p:nvSpPr>
        <p:spPr>
          <a:xfrm>
            <a:off x="4467026" y="211600"/>
            <a:ext cx="12295846" cy="1177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600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LEGACY SUSTAVI</a:t>
            </a:r>
            <a:endParaRPr lang="en-US" sz="6600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689756-A03D-6821-5D3D-9CFE37635D6F}"/>
              </a:ext>
            </a:extLst>
          </p:cNvPr>
          <p:cNvSpPr txBox="1"/>
          <p:nvPr/>
        </p:nvSpPr>
        <p:spPr>
          <a:xfrm>
            <a:off x="5592175" y="1812721"/>
            <a:ext cx="6928212" cy="42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ŠTO SU LEGACY SUSTAVI?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C3C27DD2-CBD1-11E8-CB7F-D5BF8704B0ED}"/>
              </a:ext>
            </a:extLst>
          </p:cNvPr>
          <p:cNvSpPr txBox="1"/>
          <p:nvPr/>
        </p:nvSpPr>
        <p:spPr>
          <a:xfrm>
            <a:off x="7493733" y="6540842"/>
            <a:ext cx="6928212" cy="42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ZAŠTO SU PROBLEM?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28C7502D-0A48-A979-9F07-02BB3E519023}"/>
              </a:ext>
            </a:extLst>
          </p:cNvPr>
          <p:cNvSpPr txBox="1"/>
          <p:nvPr/>
        </p:nvSpPr>
        <p:spPr>
          <a:xfrm>
            <a:off x="7349543" y="7202154"/>
            <a:ext cx="10081769" cy="2138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Teško ih je nadograditi ili zamijeniti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Nisu kompatibilni s modernim tehnologijama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Kompleksni i duboko integrirani u poslovanje</a:t>
            </a:r>
          </a:p>
        </p:txBody>
      </p:sp>
    </p:spTree>
    <p:extLst>
      <p:ext uri="{BB962C8B-B14F-4D97-AF65-F5344CB8AC3E}">
        <p14:creationId xmlns:p14="http://schemas.microsoft.com/office/powerpoint/2010/main" val="2287257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80CF9-EF14-881C-824F-61CDBE80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248A8FA-D122-00A9-71A6-EA1E1195CD8E}"/>
              </a:ext>
            </a:extLst>
          </p:cNvPr>
          <p:cNvGrpSpPr/>
          <p:nvPr/>
        </p:nvGrpSpPr>
        <p:grpSpPr>
          <a:xfrm rot="-2088381">
            <a:off x="9632099" y="4357389"/>
            <a:ext cx="6791151" cy="1601596"/>
            <a:chOff x="0" y="0"/>
            <a:chExt cx="3024458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149D4D0-4C76-9279-E713-3741AD6F904E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785AE3-919F-332D-F4FB-28BAAE504D54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AC6F978-D069-355B-243B-8E3B346103FD}"/>
              </a:ext>
            </a:extLst>
          </p:cNvPr>
          <p:cNvGrpSpPr/>
          <p:nvPr/>
        </p:nvGrpSpPr>
        <p:grpSpPr>
          <a:xfrm rot="5400000">
            <a:off x="12470012" y="788945"/>
            <a:ext cx="6032466" cy="7804385"/>
            <a:chOff x="0" y="0"/>
            <a:chExt cx="700940" cy="90682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2548947-1868-6A0A-F23E-CC230CDB8FF6}"/>
                </a:ext>
              </a:extLst>
            </p:cNvPr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2"/>
              <a:stretch>
                <a:fillRect l="-7425" t="-6935" r="-42668" b="-224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087C560C-94CA-865E-5FCC-4C81E48D54F5}"/>
              </a:ext>
            </a:extLst>
          </p:cNvPr>
          <p:cNvGrpSpPr/>
          <p:nvPr/>
        </p:nvGrpSpPr>
        <p:grpSpPr>
          <a:xfrm rot="5400000">
            <a:off x="13889219" y="-4295997"/>
            <a:ext cx="6032466" cy="7804385"/>
            <a:chOff x="0" y="0"/>
            <a:chExt cx="700940" cy="90682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D94A8C1-E6FA-A0A4-0435-C50DAE089860}"/>
                </a:ext>
              </a:extLst>
            </p:cNvPr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2"/>
              <a:stretch>
                <a:fillRect l="-7425" t="-6935" r="-42668" b="-224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7A8D6D1E-2A1F-0D6A-63ED-4AF1FF4CADDD}"/>
              </a:ext>
            </a:extLst>
          </p:cNvPr>
          <p:cNvSpPr txBox="1"/>
          <p:nvPr/>
        </p:nvSpPr>
        <p:spPr>
          <a:xfrm>
            <a:off x="1066800" y="2696676"/>
            <a:ext cx="9399853" cy="4893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otežavaju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digitalnu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transformaciju</a:t>
            </a: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usporavaju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uvođenje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novih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tehnologija</a:t>
            </a: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smanjuju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fleksibilnost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poslovanja</a:t>
            </a: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visoki troškovi održavanja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sigurnosni rizici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fragmentirani i nepouzdani podaci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FFE24F6F-29A8-A8B8-A338-C81840C80544}"/>
              </a:ext>
            </a:extLst>
          </p:cNvPr>
          <p:cNvSpPr txBox="1"/>
          <p:nvPr/>
        </p:nvSpPr>
        <p:spPr>
          <a:xfrm>
            <a:off x="749357" y="533216"/>
            <a:ext cx="12066586" cy="1187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610"/>
              </a:lnSpc>
            </a:pPr>
            <a:r>
              <a:rPr lang="hr-HR" sz="6864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UTJECAJ LEGACY SUTAVA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24818350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06CF0-7524-ACBA-B0EF-21F24D73E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E26EA8-A7A9-5DC1-47FF-B1979ED3F39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8A9F073-8451-5D55-EC1A-6B4484EE9FC5}"/>
              </a:ext>
            </a:extLst>
          </p:cNvPr>
          <p:cNvGrpSpPr/>
          <p:nvPr/>
        </p:nvGrpSpPr>
        <p:grpSpPr>
          <a:xfrm>
            <a:off x="946974" y="1485900"/>
            <a:ext cx="16394051" cy="8476983"/>
            <a:chOff x="0" y="0"/>
            <a:chExt cx="1178935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80A9D75-5466-41F1-310E-6B2FD375478A}"/>
                </a:ext>
              </a:extLst>
            </p:cNvPr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 dirty="0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9D2721B-5A97-AF32-EBD5-FF5FBFF00958}"/>
                </a:ext>
              </a:extLst>
            </p:cNvPr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77284040-679B-0D19-77B1-BDAAA34A85AC}"/>
              </a:ext>
            </a:extLst>
          </p:cNvPr>
          <p:cNvSpPr txBox="1"/>
          <p:nvPr/>
        </p:nvSpPr>
        <p:spPr>
          <a:xfrm>
            <a:off x="7424688" y="7843136"/>
            <a:ext cx="917447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: Bartholomew Henderson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00E7B1C5-C27C-9176-9E6B-BDC71BF86A60}"/>
              </a:ext>
            </a:extLst>
          </p:cNvPr>
          <p:cNvSpPr txBox="1"/>
          <p:nvPr/>
        </p:nvSpPr>
        <p:spPr>
          <a:xfrm>
            <a:off x="4267200" y="4381500"/>
            <a:ext cx="11069068" cy="2418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10"/>
              </a:lnSpc>
            </a:pP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 </a:t>
            </a:r>
            <a:r>
              <a:rPr lang="en-US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PROBLEMI LEGACY SUSTAVA</a:t>
            </a:r>
            <a:endParaRPr lang="en-US" sz="6864" dirty="0">
              <a:solidFill>
                <a:srgbClr val="E9E1D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3268245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0CF34-82B2-0185-708A-A6B2FC8E2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B207B5-D4F2-4753-B55B-0A778E5E3F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A89DD1E3-BC31-C7CF-657D-8133BCA5BC74}"/>
              </a:ext>
            </a:extLst>
          </p:cNvPr>
          <p:cNvGrpSpPr/>
          <p:nvPr/>
        </p:nvGrpSpPr>
        <p:grpSpPr>
          <a:xfrm>
            <a:off x="-4884200" y="2263776"/>
            <a:ext cx="28056400" cy="6376156"/>
            <a:chOff x="0" y="0"/>
            <a:chExt cx="2017602" cy="39283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F626EBB5-1359-02EE-6736-7C64BAD5DB90}"/>
                </a:ext>
              </a:extLst>
            </p:cNvPr>
            <p:cNvSpPr/>
            <p:nvPr/>
          </p:nvSpPr>
          <p:spPr>
            <a:xfrm>
              <a:off x="0" y="0"/>
              <a:ext cx="2017602" cy="392836"/>
            </a:xfrm>
            <a:custGeom>
              <a:avLst/>
              <a:gdLst/>
              <a:ahLst/>
              <a:cxnLst/>
              <a:rect l="l" t="t" r="r" b="b"/>
              <a:pathLst>
                <a:path w="2017602" h="392836">
                  <a:moveTo>
                    <a:pt x="1814402" y="0"/>
                  </a:moveTo>
                  <a:lnTo>
                    <a:pt x="0" y="0"/>
                  </a:lnTo>
                  <a:lnTo>
                    <a:pt x="203200" y="392836"/>
                  </a:lnTo>
                  <a:lnTo>
                    <a:pt x="2017602" y="392836"/>
                  </a:lnTo>
                  <a:lnTo>
                    <a:pt x="1814402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A1B5FF0-0886-B6A1-375B-3BD62C1768CC}"/>
                </a:ext>
              </a:extLst>
            </p:cNvPr>
            <p:cNvSpPr txBox="1"/>
            <p:nvPr/>
          </p:nvSpPr>
          <p:spPr>
            <a:xfrm>
              <a:off x="101600" y="-38100"/>
              <a:ext cx="1814402" cy="430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6AE2F37B-DA27-7C15-C4B1-FD6019E5AFDD}"/>
              </a:ext>
            </a:extLst>
          </p:cNvPr>
          <p:cNvGrpSpPr/>
          <p:nvPr/>
        </p:nvGrpSpPr>
        <p:grpSpPr>
          <a:xfrm rot="8711618">
            <a:off x="3805212" y="5898680"/>
            <a:ext cx="3155655" cy="1625941"/>
            <a:chOff x="0" y="0"/>
            <a:chExt cx="1384337" cy="7132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C926B5C-B3CD-132F-72BE-EFD3836C67E6}"/>
                </a:ext>
              </a:extLst>
            </p:cNvPr>
            <p:cNvSpPr/>
            <p:nvPr/>
          </p:nvSpPr>
          <p:spPr>
            <a:xfrm>
              <a:off x="0" y="0"/>
              <a:ext cx="1384337" cy="713275"/>
            </a:xfrm>
            <a:custGeom>
              <a:avLst/>
              <a:gdLst/>
              <a:ahLst/>
              <a:cxnLst/>
              <a:rect l="l" t="t" r="r" b="b"/>
              <a:pathLst>
                <a:path w="1384337" h="713275">
                  <a:moveTo>
                    <a:pt x="203200" y="0"/>
                  </a:moveTo>
                  <a:lnTo>
                    <a:pt x="1384337" y="0"/>
                  </a:lnTo>
                  <a:lnTo>
                    <a:pt x="1181137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65ED6A0-2672-5463-3C9A-398ABEF0128D}"/>
                </a:ext>
              </a:extLst>
            </p:cNvPr>
            <p:cNvSpPr txBox="1"/>
            <p:nvPr/>
          </p:nvSpPr>
          <p:spPr>
            <a:xfrm>
              <a:off x="101600" y="-38100"/>
              <a:ext cx="1181137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05C5441B-6F08-E177-6A83-2FA939BB7C1D}"/>
              </a:ext>
            </a:extLst>
          </p:cNvPr>
          <p:cNvGrpSpPr/>
          <p:nvPr/>
        </p:nvGrpSpPr>
        <p:grpSpPr>
          <a:xfrm rot="5400000">
            <a:off x="-1241921" y="3041123"/>
            <a:ext cx="9305625" cy="4204754"/>
            <a:chOff x="0" y="0"/>
            <a:chExt cx="1081264" cy="48857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F4DB13C-2736-DC49-515B-6BC3194085A1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7007" t="-13614" r="-18039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70BBFED2-A796-5B65-44F5-84662F1EA12F}"/>
              </a:ext>
            </a:extLst>
          </p:cNvPr>
          <p:cNvGrpSpPr/>
          <p:nvPr/>
        </p:nvGrpSpPr>
        <p:grpSpPr>
          <a:xfrm rot="-10800000">
            <a:off x="-7142619" y="5143500"/>
            <a:ext cx="13898056" cy="1578278"/>
            <a:chOff x="0" y="0"/>
            <a:chExt cx="5368038" cy="6096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DAC374A4-5F1F-6AE8-FC74-0C85D31D476B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CFA36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41B3F6B-2A51-7D8B-4D3C-1B71C26CBFBA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DF2F2B85-198A-7AE6-DBB4-9A2AC0E51EEE}"/>
              </a:ext>
            </a:extLst>
          </p:cNvPr>
          <p:cNvGrpSpPr/>
          <p:nvPr/>
        </p:nvGrpSpPr>
        <p:grpSpPr>
          <a:xfrm rot="5400000">
            <a:off x="-2726437" y="-4425512"/>
            <a:ext cx="9305625" cy="4204754"/>
            <a:chOff x="0" y="0"/>
            <a:chExt cx="1081264" cy="48857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3FC7A667-2FA8-E9B5-B8B6-828C191BA0BB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4390" r="-183008" b="-1361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3FC9310B-8EEF-F719-34E9-27E831C194DE}"/>
              </a:ext>
            </a:extLst>
          </p:cNvPr>
          <p:cNvGrpSpPr/>
          <p:nvPr/>
        </p:nvGrpSpPr>
        <p:grpSpPr>
          <a:xfrm rot="5400000">
            <a:off x="475040" y="10294856"/>
            <a:ext cx="9305625" cy="4204754"/>
            <a:chOff x="0" y="0"/>
            <a:chExt cx="1081264" cy="48857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9AEDB209-9ADC-48FD-C5CC-71E863F65AEC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9623" t="-62792" r="-34113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A11E005C-12B6-BD30-9024-D470C413E7B8}"/>
              </a:ext>
            </a:extLst>
          </p:cNvPr>
          <p:cNvSpPr txBox="1"/>
          <p:nvPr/>
        </p:nvSpPr>
        <p:spPr>
          <a:xfrm>
            <a:off x="7520674" y="3842656"/>
            <a:ext cx="771932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NEMOGUĆNOST INTEGRACIJE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E274926E-781F-5B1B-EE47-8A4AF25A9731}"/>
              </a:ext>
            </a:extLst>
          </p:cNvPr>
          <p:cNvSpPr txBox="1"/>
          <p:nvPr/>
        </p:nvSpPr>
        <p:spPr>
          <a:xfrm>
            <a:off x="5334000" y="2347966"/>
            <a:ext cx="13130002" cy="1187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000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PROBLEMA LEGACY SUSAVA</a:t>
            </a:r>
            <a:endParaRPr lang="en-US" sz="6000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55370C1A-8957-7A1F-4268-5059108570F7}"/>
              </a:ext>
            </a:extLst>
          </p:cNvPr>
          <p:cNvSpPr txBox="1"/>
          <p:nvPr/>
        </p:nvSpPr>
        <p:spPr>
          <a:xfrm>
            <a:off x="7420395" y="3495364"/>
            <a:ext cx="11006899" cy="4893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Teško povezivanje s modernim sustavima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Neusklađeni formati podataka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Ograničena razmjena informacija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Rezultat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fragmentirani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podaci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sporiji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procesi</a:t>
            </a:r>
            <a:endParaRPr lang="en-US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1623545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0A488-A7A3-7970-419E-682D7E113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514AD1C-D861-E7A0-58F4-8815E18C0BF7}"/>
              </a:ext>
            </a:extLst>
          </p:cNvPr>
          <p:cNvGrpSpPr/>
          <p:nvPr/>
        </p:nvGrpSpPr>
        <p:grpSpPr>
          <a:xfrm rot="8711618">
            <a:off x="995049" y="8816272"/>
            <a:ext cx="6894380" cy="1625941"/>
            <a:chOff x="0" y="0"/>
            <a:chExt cx="3024458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A6A4025-2DDC-473A-1186-AF18010E89A8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849A181-9305-12F3-0A9E-E329C26918C0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D1C0758-2181-638F-DBDB-8B4E978DEA43}"/>
              </a:ext>
            </a:extLst>
          </p:cNvPr>
          <p:cNvGrpSpPr/>
          <p:nvPr/>
        </p:nvGrpSpPr>
        <p:grpSpPr>
          <a:xfrm>
            <a:off x="1331261" y="-376422"/>
            <a:ext cx="4822222" cy="11369911"/>
            <a:chOff x="0" y="0"/>
            <a:chExt cx="560316" cy="132112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901D76F-F185-EBDB-9B3B-A189893CA0A4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2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14A0A652-2F35-A014-289A-CE05BF59E239}"/>
              </a:ext>
            </a:extLst>
          </p:cNvPr>
          <p:cNvGrpSpPr/>
          <p:nvPr/>
        </p:nvGrpSpPr>
        <p:grpSpPr>
          <a:xfrm>
            <a:off x="-1817004" y="3944287"/>
            <a:ext cx="4822222" cy="11369911"/>
            <a:chOff x="0" y="0"/>
            <a:chExt cx="560316" cy="132112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582DF0C-D0E0-FE4D-18BE-48FE719390A1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2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A305F4CC-EDB6-83A9-0E9E-A8EBBC5EBBDE}"/>
              </a:ext>
            </a:extLst>
          </p:cNvPr>
          <p:cNvGrpSpPr/>
          <p:nvPr/>
        </p:nvGrpSpPr>
        <p:grpSpPr>
          <a:xfrm rot="-10800000">
            <a:off x="-6548512" y="6994052"/>
            <a:ext cx="13898056" cy="1578278"/>
            <a:chOff x="0" y="0"/>
            <a:chExt cx="5368038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B9A7255F-C6A8-7B7F-A752-F8F107946DCD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E7DDCF29-2A1F-66D5-E1CD-92674B060AEA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513815F8-F578-0875-3762-DA85FDE88A79}"/>
              </a:ext>
            </a:extLst>
          </p:cNvPr>
          <p:cNvGrpSpPr/>
          <p:nvPr/>
        </p:nvGrpSpPr>
        <p:grpSpPr>
          <a:xfrm rot="-2088381">
            <a:off x="14899827" y="2823637"/>
            <a:ext cx="6791151" cy="1601596"/>
            <a:chOff x="0" y="0"/>
            <a:chExt cx="3024458" cy="71327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A7B8D65-48EC-C996-FB3F-26BDDA04BC1F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734D495-D663-911F-D64D-7F53DFE78724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28DCC7F1-7FD2-F307-B926-18A47F56E863}"/>
              </a:ext>
            </a:extLst>
          </p:cNvPr>
          <p:cNvGrpSpPr/>
          <p:nvPr/>
        </p:nvGrpSpPr>
        <p:grpSpPr>
          <a:xfrm>
            <a:off x="16278249" y="-1199744"/>
            <a:ext cx="4822222" cy="11369911"/>
            <a:chOff x="0" y="0"/>
            <a:chExt cx="560316" cy="132112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51B6C561-BE2C-DE4B-E9FE-995691E8E56C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2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9221394-81E7-F6FE-E2A3-DD7940A072F3}"/>
              </a:ext>
            </a:extLst>
          </p:cNvPr>
          <p:cNvGrpSpPr/>
          <p:nvPr/>
        </p:nvGrpSpPr>
        <p:grpSpPr>
          <a:xfrm>
            <a:off x="15431629" y="4665523"/>
            <a:ext cx="13689960" cy="1554646"/>
            <a:chOff x="0" y="0"/>
            <a:chExt cx="5368038" cy="6096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833A826-0482-E9AF-8574-56C9E27B114D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65FA4084-1252-78AA-E002-36731AFCC79A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64AAC0F3-FAA0-8557-2073-EB3B5D192C64}"/>
              </a:ext>
            </a:extLst>
          </p:cNvPr>
          <p:cNvSpPr txBox="1"/>
          <p:nvPr/>
        </p:nvSpPr>
        <p:spPr>
          <a:xfrm>
            <a:off x="5773170" y="2210239"/>
            <a:ext cx="10081769" cy="213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specijalizirani stručnjaci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česta održavanja i prilagodbe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dugoročno skuplje od novih sustava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2900DF25-5C10-7525-B8A8-0C96B407E25F}"/>
              </a:ext>
            </a:extLst>
          </p:cNvPr>
          <p:cNvSpPr txBox="1"/>
          <p:nvPr/>
        </p:nvSpPr>
        <p:spPr>
          <a:xfrm>
            <a:off x="4467026" y="211600"/>
            <a:ext cx="12295846" cy="1177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600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DODATNI PREOBLEMI</a:t>
            </a:r>
            <a:endParaRPr lang="en-US" sz="6600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3B5ADD-AC5B-EA3E-E387-646A9FDA813E}"/>
              </a:ext>
            </a:extLst>
          </p:cNvPr>
          <p:cNvSpPr txBox="1"/>
          <p:nvPr/>
        </p:nvSpPr>
        <p:spPr>
          <a:xfrm>
            <a:off x="5679894" y="1896846"/>
            <a:ext cx="6928212" cy="42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VISOKI TROŠKOVI ODRŽAVANJA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7B44E145-C579-2227-CFC7-76799E129A24}"/>
              </a:ext>
            </a:extLst>
          </p:cNvPr>
          <p:cNvSpPr txBox="1"/>
          <p:nvPr/>
        </p:nvSpPr>
        <p:spPr>
          <a:xfrm>
            <a:off x="8093815" y="6609011"/>
            <a:ext cx="7047833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SIGURNOSTNI RIZICI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CE9FA59D-68BE-0244-D21B-6B7C3EA57416}"/>
              </a:ext>
            </a:extLst>
          </p:cNvPr>
          <p:cNvSpPr txBox="1"/>
          <p:nvPr/>
        </p:nvSpPr>
        <p:spPr>
          <a:xfrm>
            <a:off x="8138785" y="6994051"/>
            <a:ext cx="10081769" cy="213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zastarjeli sigurnosni standardi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veća izloženost napadima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rizik gubitka podataka</a:t>
            </a:r>
          </a:p>
        </p:txBody>
      </p:sp>
    </p:spTree>
    <p:extLst>
      <p:ext uri="{BB962C8B-B14F-4D97-AF65-F5344CB8AC3E}">
        <p14:creationId xmlns:p14="http://schemas.microsoft.com/office/powerpoint/2010/main" val="150429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75E4C-F8A7-BBE9-7438-DD9EAC549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802C8B-4586-38A2-F78F-01B0AEADEBD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F5D3666-36FC-BCB6-B8A3-2C3E0486D412}"/>
              </a:ext>
            </a:extLst>
          </p:cNvPr>
          <p:cNvGrpSpPr/>
          <p:nvPr/>
        </p:nvGrpSpPr>
        <p:grpSpPr>
          <a:xfrm>
            <a:off x="946974" y="1485900"/>
            <a:ext cx="16394051" cy="8476983"/>
            <a:chOff x="0" y="0"/>
            <a:chExt cx="1178935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45047AA-5C5B-B553-C42E-EFE385422927}"/>
                </a:ext>
              </a:extLst>
            </p:cNvPr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D61124B-6AF9-F749-5CE3-F6425A3A6967}"/>
                </a:ext>
              </a:extLst>
            </p:cNvPr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8C9C19F1-7573-2700-5DCD-CB4D7C55CC2A}"/>
              </a:ext>
            </a:extLst>
          </p:cNvPr>
          <p:cNvSpPr txBox="1"/>
          <p:nvPr/>
        </p:nvSpPr>
        <p:spPr>
          <a:xfrm>
            <a:off x="7424688" y="7843136"/>
            <a:ext cx="917447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: Bartholomew Henderson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F2454FD0-A926-CEB5-4265-0C8CE3DBCF7C}"/>
              </a:ext>
            </a:extLst>
          </p:cNvPr>
          <p:cNvSpPr txBox="1"/>
          <p:nvPr/>
        </p:nvSpPr>
        <p:spPr>
          <a:xfrm>
            <a:off x="3276600" y="4875615"/>
            <a:ext cx="12123435" cy="2418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10"/>
              </a:lnSpc>
            </a:pP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6. </a:t>
            </a:r>
            <a:r>
              <a:rPr lang="en-US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RIZICI TEHNOLOŠKOG ZAOSTAJANJA</a:t>
            </a:r>
            <a:endParaRPr lang="en-US" sz="6864" dirty="0">
              <a:solidFill>
                <a:srgbClr val="E9E1D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15205496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435AD-6912-EDAD-301B-1C1FE662D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E7D790B-FA28-2325-931E-32D727B5C080}"/>
              </a:ext>
            </a:extLst>
          </p:cNvPr>
          <p:cNvGrpSpPr/>
          <p:nvPr/>
        </p:nvGrpSpPr>
        <p:grpSpPr>
          <a:xfrm rot="8711618">
            <a:off x="995049" y="8816272"/>
            <a:ext cx="6894380" cy="1625941"/>
            <a:chOff x="0" y="0"/>
            <a:chExt cx="3024458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D6F3288-4ABC-7AEC-3AD7-77EE97AF6727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05EFC63-3A0A-2D38-1775-A34FBC4CAE06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8936BE4-CC07-DE1C-6EAC-566CD1EF9F4D}"/>
              </a:ext>
            </a:extLst>
          </p:cNvPr>
          <p:cNvGrpSpPr/>
          <p:nvPr/>
        </p:nvGrpSpPr>
        <p:grpSpPr>
          <a:xfrm>
            <a:off x="1331261" y="-376422"/>
            <a:ext cx="4822222" cy="11369911"/>
            <a:chOff x="0" y="0"/>
            <a:chExt cx="560316" cy="132112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B60E572-6DD4-2EB0-2235-90EDDCC4C62D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7DEEC919-AA46-2DB9-B498-E0AD6E734F82}"/>
              </a:ext>
            </a:extLst>
          </p:cNvPr>
          <p:cNvGrpSpPr/>
          <p:nvPr/>
        </p:nvGrpSpPr>
        <p:grpSpPr>
          <a:xfrm>
            <a:off x="-1817004" y="3944287"/>
            <a:ext cx="4822222" cy="11369911"/>
            <a:chOff x="0" y="0"/>
            <a:chExt cx="560316" cy="132112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24144D-4825-7C49-F64E-4AF3057192B5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1850662-D9D0-BB9E-C71C-10733A1CCAB5}"/>
              </a:ext>
            </a:extLst>
          </p:cNvPr>
          <p:cNvGrpSpPr/>
          <p:nvPr/>
        </p:nvGrpSpPr>
        <p:grpSpPr>
          <a:xfrm rot="-10800000">
            <a:off x="-6548512" y="6994052"/>
            <a:ext cx="13898056" cy="1578278"/>
            <a:chOff x="0" y="0"/>
            <a:chExt cx="5368038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409A9258-DA7C-4DF8-B434-82A6B3803EEF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01D7DF41-0229-3E18-8411-0D2145EFF561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DA0AE85-EFB8-7AD1-9997-5A9BDA048DD3}"/>
              </a:ext>
            </a:extLst>
          </p:cNvPr>
          <p:cNvGrpSpPr/>
          <p:nvPr/>
        </p:nvGrpSpPr>
        <p:grpSpPr>
          <a:xfrm rot="-2088381">
            <a:off x="14899827" y="2823637"/>
            <a:ext cx="6791151" cy="1601596"/>
            <a:chOff x="0" y="0"/>
            <a:chExt cx="3024458" cy="71327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67CC8C4F-0937-2A0E-F8EE-5720ABA01221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4F39AD4-6C38-2BFB-4323-B71BAE2D6856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E1550072-B8A3-0DFB-10B9-12E65A150121}"/>
              </a:ext>
            </a:extLst>
          </p:cNvPr>
          <p:cNvGrpSpPr/>
          <p:nvPr/>
        </p:nvGrpSpPr>
        <p:grpSpPr>
          <a:xfrm>
            <a:off x="16278249" y="-1199744"/>
            <a:ext cx="4822222" cy="11369911"/>
            <a:chOff x="0" y="0"/>
            <a:chExt cx="560316" cy="132112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2E56FEFF-FF25-1C0C-37AC-06BDCA3F8B06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961CC74-77FE-4EFA-8A68-164EC579224E}"/>
              </a:ext>
            </a:extLst>
          </p:cNvPr>
          <p:cNvGrpSpPr/>
          <p:nvPr/>
        </p:nvGrpSpPr>
        <p:grpSpPr>
          <a:xfrm>
            <a:off x="15431629" y="4665523"/>
            <a:ext cx="13689960" cy="1554646"/>
            <a:chOff x="0" y="0"/>
            <a:chExt cx="5368038" cy="6096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77C78E9-700D-ED6B-FB00-85DC8E9ADFCD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73AA6740-DA63-69B4-4889-DAB70105A33B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4851DEB2-EDAC-EC11-7BA8-DD5CF9198B20}"/>
              </a:ext>
            </a:extLst>
          </p:cNvPr>
          <p:cNvSpPr txBox="1"/>
          <p:nvPr/>
        </p:nvSpPr>
        <p:spPr>
          <a:xfrm>
            <a:off x="5600947" y="2205945"/>
            <a:ext cx="10081769" cy="21384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neefikasno poslovanje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sporiji procesi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više grešaka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E5C37C54-ABCE-FC08-5675-37D076614348}"/>
              </a:ext>
            </a:extLst>
          </p:cNvPr>
          <p:cNvSpPr txBox="1"/>
          <p:nvPr/>
        </p:nvSpPr>
        <p:spPr>
          <a:xfrm>
            <a:off x="4467026" y="211600"/>
            <a:ext cx="12295846" cy="1177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600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VRSTE RIZIKA</a:t>
            </a:r>
            <a:endParaRPr lang="en-US" sz="6600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C4E56E-B94A-D02F-DD5A-E73AB6F0872E}"/>
              </a:ext>
            </a:extLst>
          </p:cNvPr>
          <p:cNvSpPr txBox="1"/>
          <p:nvPr/>
        </p:nvSpPr>
        <p:spPr>
          <a:xfrm>
            <a:off x="5679894" y="1896846"/>
            <a:ext cx="6928212" cy="42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OPERATIVNI RIZICI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D7C412E2-9D08-DF9D-EBCC-37A83A45441E}"/>
              </a:ext>
            </a:extLst>
          </p:cNvPr>
          <p:cNvSpPr txBox="1"/>
          <p:nvPr/>
        </p:nvSpPr>
        <p:spPr>
          <a:xfrm>
            <a:off x="6765058" y="5161451"/>
            <a:ext cx="7047833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FINANCIJSKI RIZICI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23FCCA75-6A8D-2DBD-D1DD-D9B14FFF13F1}"/>
              </a:ext>
            </a:extLst>
          </p:cNvPr>
          <p:cNvSpPr txBox="1"/>
          <p:nvPr/>
        </p:nvSpPr>
        <p:spPr>
          <a:xfrm>
            <a:off x="6730464" y="5611133"/>
            <a:ext cx="10081769" cy="213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povećani troškovi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slabija produktivnost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gubitak konkurentnosti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AB35E82-7608-CD59-4E0D-474D78902993}"/>
              </a:ext>
            </a:extLst>
          </p:cNvPr>
          <p:cNvSpPr txBox="1"/>
          <p:nvPr/>
        </p:nvSpPr>
        <p:spPr>
          <a:xfrm>
            <a:off x="11953976" y="6994051"/>
            <a:ext cx="7047833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STRATEŠKI RIZICI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E174F664-33C3-1768-9A66-1E1230B6FF5A}"/>
              </a:ext>
            </a:extLst>
          </p:cNvPr>
          <p:cNvSpPr txBox="1"/>
          <p:nvPr/>
        </p:nvSpPr>
        <p:spPr>
          <a:xfrm>
            <a:off x="12100724" y="7323195"/>
            <a:ext cx="10081769" cy="213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gubitak tržišta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nemogućnost inovacija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zaostajanje za </a:t>
            </a:r>
            <a:r>
              <a:rPr lang="hr-HR" sz="32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konkurencijomi</a:t>
            </a: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3497259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4CBD0-39BB-CF63-459A-66169A78C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A22E646-A86A-5E36-4F88-9F03030D25D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1C3280-DEC2-7C98-AA43-0047290D5C0E}"/>
              </a:ext>
            </a:extLst>
          </p:cNvPr>
          <p:cNvGrpSpPr/>
          <p:nvPr/>
        </p:nvGrpSpPr>
        <p:grpSpPr>
          <a:xfrm>
            <a:off x="-4191000" y="2744561"/>
            <a:ext cx="28056400" cy="7542439"/>
            <a:chOff x="0" y="0"/>
            <a:chExt cx="2017602" cy="39283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38EA2EE-D2F5-5235-C0CB-D802A78EF439}"/>
                </a:ext>
              </a:extLst>
            </p:cNvPr>
            <p:cNvSpPr/>
            <p:nvPr/>
          </p:nvSpPr>
          <p:spPr>
            <a:xfrm>
              <a:off x="0" y="0"/>
              <a:ext cx="2017602" cy="392836"/>
            </a:xfrm>
            <a:custGeom>
              <a:avLst/>
              <a:gdLst/>
              <a:ahLst/>
              <a:cxnLst/>
              <a:rect l="l" t="t" r="r" b="b"/>
              <a:pathLst>
                <a:path w="2017602" h="392836">
                  <a:moveTo>
                    <a:pt x="1814402" y="0"/>
                  </a:moveTo>
                  <a:lnTo>
                    <a:pt x="0" y="0"/>
                  </a:lnTo>
                  <a:lnTo>
                    <a:pt x="203200" y="392836"/>
                  </a:lnTo>
                  <a:lnTo>
                    <a:pt x="2017602" y="392836"/>
                  </a:lnTo>
                  <a:lnTo>
                    <a:pt x="1814402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D6221B3-DC7C-B718-0AD6-16F4BE526691}"/>
                </a:ext>
              </a:extLst>
            </p:cNvPr>
            <p:cNvSpPr txBox="1"/>
            <p:nvPr/>
          </p:nvSpPr>
          <p:spPr>
            <a:xfrm>
              <a:off x="101600" y="-38100"/>
              <a:ext cx="1814402" cy="430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F518F8A-2941-7C4B-80AF-D3B22234BF79}"/>
              </a:ext>
            </a:extLst>
          </p:cNvPr>
          <p:cNvGrpSpPr/>
          <p:nvPr/>
        </p:nvGrpSpPr>
        <p:grpSpPr>
          <a:xfrm rot="8711618">
            <a:off x="3805212" y="5898680"/>
            <a:ext cx="3155655" cy="1625941"/>
            <a:chOff x="0" y="0"/>
            <a:chExt cx="1384337" cy="7132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5D875C1-9219-87D0-A01D-5CB33E030EBE}"/>
                </a:ext>
              </a:extLst>
            </p:cNvPr>
            <p:cNvSpPr/>
            <p:nvPr/>
          </p:nvSpPr>
          <p:spPr>
            <a:xfrm>
              <a:off x="0" y="0"/>
              <a:ext cx="1384337" cy="713275"/>
            </a:xfrm>
            <a:custGeom>
              <a:avLst/>
              <a:gdLst/>
              <a:ahLst/>
              <a:cxnLst/>
              <a:rect l="l" t="t" r="r" b="b"/>
              <a:pathLst>
                <a:path w="1384337" h="713275">
                  <a:moveTo>
                    <a:pt x="203200" y="0"/>
                  </a:moveTo>
                  <a:lnTo>
                    <a:pt x="1384337" y="0"/>
                  </a:lnTo>
                  <a:lnTo>
                    <a:pt x="1181137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219C0AE-992B-5FD9-CDC0-5E70B921A74C}"/>
                </a:ext>
              </a:extLst>
            </p:cNvPr>
            <p:cNvSpPr txBox="1"/>
            <p:nvPr/>
          </p:nvSpPr>
          <p:spPr>
            <a:xfrm>
              <a:off x="101600" y="-38100"/>
              <a:ext cx="1181137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1C8D9E7F-4AD4-3419-A38F-3B5B790964D7}"/>
              </a:ext>
            </a:extLst>
          </p:cNvPr>
          <p:cNvGrpSpPr/>
          <p:nvPr/>
        </p:nvGrpSpPr>
        <p:grpSpPr>
          <a:xfrm rot="5400000">
            <a:off x="-1241921" y="3041123"/>
            <a:ext cx="9305625" cy="4204754"/>
            <a:chOff x="0" y="0"/>
            <a:chExt cx="1081264" cy="48857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ABE25508-65A2-DD26-E7C6-C72E5BDE08F7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3"/>
              <a:stretch>
                <a:fillRect l="-97007" t="-13614" r="-18039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8C45201-9478-9A31-8F0B-66B452066B81}"/>
              </a:ext>
            </a:extLst>
          </p:cNvPr>
          <p:cNvGrpSpPr/>
          <p:nvPr/>
        </p:nvGrpSpPr>
        <p:grpSpPr>
          <a:xfrm rot="-10800000">
            <a:off x="-7142619" y="5143500"/>
            <a:ext cx="13898056" cy="1578278"/>
            <a:chOff x="0" y="0"/>
            <a:chExt cx="5368038" cy="6096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6722CDB-0BBF-7129-B028-B21571A3E46B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CFA36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6753FCE-2FA2-072A-6AAA-DD56AEF9E40E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085B6565-43B7-76FC-FBB4-26063AC012CA}"/>
              </a:ext>
            </a:extLst>
          </p:cNvPr>
          <p:cNvGrpSpPr/>
          <p:nvPr/>
        </p:nvGrpSpPr>
        <p:grpSpPr>
          <a:xfrm rot="5400000">
            <a:off x="-2726437" y="-4425512"/>
            <a:ext cx="9305625" cy="4204754"/>
            <a:chOff x="0" y="0"/>
            <a:chExt cx="1081264" cy="48857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C2FBE93-DBFC-33B9-97C9-35571EBFEF89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3"/>
              <a:stretch>
                <a:fillRect l="-94390" r="-183008" b="-1361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EA2C980-8305-8E9B-5992-C629B2C847CC}"/>
              </a:ext>
            </a:extLst>
          </p:cNvPr>
          <p:cNvGrpSpPr/>
          <p:nvPr/>
        </p:nvGrpSpPr>
        <p:grpSpPr>
          <a:xfrm rot="5400000">
            <a:off x="860456" y="10342817"/>
            <a:ext cx="9305625" cy="4204754"/>
            <a:chOff x="0" y="0"/>
            <a:chExt cx="1081264" cy="48857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47452B4-1D10-B73B-BA72-FC95899874D9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3"/>
              <a:stretch>
                <a:fillRect l="-99623" t="-62792" r="-34113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D4C46B1-E1A8-D855-E5F3-872812681040}"/>
              </a:ext>
            </a:extLst>
          </p:cNvPr>
          <p:cNvSpPr txBox="1"/>
          <p:nvPr/>
        </p:nvSpPr>
        <p:spPr>
          <a:xfrm>
            <a:off x="7209205" y="3821130"/>
            <a:ext cx="771932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KAKO UTJEČE NA POSLOVANJE?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3C51021D-CCFE-648B-F6E8-C27911C4CC11}"/>
              </a:ext>
            </a:extLst>
          </p:cNvPr>
          <p:cNvSpPr txBox="1"/>
          <p:nvPr/>
        </p:nvSpPr>
        <p:spPr>
          <a:xfrm>
            <a:off x="5882090" y="2433442"/>
            <a:ext cx="12240528" cy="1187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864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POSLJEDICE ZA PODUZEĆE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96248ED9-B29A-C622-540A-89FA868D3305}"/>
              </a:ext>
            </a:extLst>
          </p:cNvPr>
          <p:cNvSpPr txBox="1"/>
          <p:nvPr/>
        </p:nvSpPr>
        <p:spPr>
          <a:xfrm>
            <a:off x="7178031" y="3297321"/>
            <a:ext cx="6965733" cy="3236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smanjenje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učinkovitosti</a:t>
            </a: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sporije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donošenje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odluka</a:t>
            </a: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lošije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korisničko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iskustvo</a:t>
            </a:r>
            <a:endParaRPr lang="en-US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0F71ED9C-A037-7536-CC13-71EADE62310B}"/>
              </a:ext>
            </a:extLst>
          </p:cNvPr>
          <p:cNvSpPr txBox="1"/>
          <p:nvPr/>
        </p:nvSpPr>
        <p:spPr>
          <a:xfrm>
            <a:off x="11189758" y="7012504"/>
            <a:ext cx="771932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DUGOROČNE POSLJEDICE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9EB082F5-4B6D-B5DD-4685-0E6474FA6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altLang="sr-Latn-R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pad prihoda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gubitak tržišne pozicije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mogući prestanak poslovanja </a:t>
            </a: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70612747-2753-6326-383C-9BCF09EBE1D3}"/>
              </a:ext>
            </a:extLst>
          </p:cNvPr>
          <p:cNvSpPr txBox="1"/>
          <p:nvPr/>
        </p:nvSpPr>
        <p:spPr>
          <a:xfrm>
            <a:off x="11225170" y="6519006"/>
            <a:ext cx="6965733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pad </a:t>
            </a: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rihoda</a:t>
            </a: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gubitak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tržišne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pozicije</a:t>
            </a: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mogući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prestan</a:t>
            </a: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ka</a:t>
            </a:r>
            <a:r>
              <a:rPr lang="en-US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6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poslovanja</a:t>
            </a:r>
            <a:endParaRPr lang="en-US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18989086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B9DC6-EAAC-C63B-92B5-16073BEDB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BDEFF88-333B-5934-BB2F-C82AD8AE690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B996A4B-A763-D79E-E972-FB79F113E478}"/>
              </a:ext>
            </a:extLst>
          </p:cNvPr>
          <p:cNvGrpSpPr/>
          <p:nvPr/>
        </p:nvGrpSpPr>
        <p:grpSpPr>
          <a:xfrm>
            <a:off x="946974" y="1485900"/>
            <a:ext cx="16394051" cy="8476983"/>
            <a:chOff x="0" y="0"/>
            <a:chExt cx="1178935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07445B2-B180-7A04-D32C-EB77A0AEA672}"/>
                </a:ext>
              </a:extLst>
            </p:cNvPr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9AD8950-D979-6495-659F-9CB83B9C901A}"/>
                </a:ext>
              </a:extLst>
            </p:cNvPr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8D28C748-BD16-BA18-E5E4-B4DF62337C8C}"/>
              </a:ext>
            </a:extLst>
          </p:cNvPr>
          <p:cNvSpPr txBox="1"/>
          <p:nvPr/>
        </p:nvSpPr>
        <p:spPr>
          <a:xfrm>
            <a:off x="7424688" y="7843136"/>
            <a:ext cx="917447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: Bartholomew Henderson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96F9020-1B6F-647E-D044-3B8B781CFEB0}"/>
              </a:ext>
            </a:extLst>
          </p:cNvPr>
          <p:cNvSpPr txBox="1"/>
          <p:nvPr/>
        </p:nvSpPr>
        <p:spPr>
          <a:xfrm>
            <a:off x="3276600" y="4875615"/>
            <a:ext cx="13106400" cy="24185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10"/>
              </a:lnSpc>
            </a:pP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7. </a:t>
            </a:r>
            <a:r>
              <a:rPr lang="en-US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</a:t>
            </a: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USPJEŠNOST DIGITALNE TRANSFORMACIJE</a:t>
            </a:r>
            <a:endParaRPr lang="en-US" sz="6864" dirty="0">
              <a:solidFill>
                <a:srgbClr val="E9E1D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3128016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B0DDE-B698-FF56-1D87-4374FC67F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CDA1EE6-6513-E4C3-5E47-B5C9A52BA29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3A06D62-BB46-01F4-D9ED-1C0305C9BF9F}"/>
              </a:ext>
            </a:extLst>
          </p:cNvPr>
          <p:cNvGrpSpPr/>
          <p:nvPr/>
        </p:nvGrpSpPr>
        <p:grpSpPr>
          <a:xfrm>
            <a:off x="-3570714" y="2479146"/>
            <a:ext cx="28056400" cy="8044059"/>
            <a:chOff x="0" y="0"/>
            <a:chExt cx="2017602" cy="392836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CC9DA94-52A7-7501-D9F0-24CF131A2A66}"/>
                </a:ext>
              </a:extLst>
            </p:cNvPr>
            <p:cNvSpPr/>
            <p:nvPr/>
          </p:nvSpPr>
          <p:spPr>
            <a:xfrm>
              <a:off x="0" y="0"/>
              <a:ext cx="2017602" cy="392836"/>
            </a:xfrm>
            <a:custGeom>
              <a:avLst/>
              <a:gdLst/>
              <a:ahLst/>
              <a:cxnLst/>
              <a:rect l="l" t="t" r="r" b="b"/>
              <a:pathLst>
                <a:path w="2017602" h="392836">
                  <a:moveTo>
                    <a:pt x="1814402" y="0"/>
                  </a:moveTo>
                  <a:lnTo>
                    <a:pt x="0" y="0"/>
                  </a:lnTo>
                  <a:lnTo>
                    <a:pt x="203200" y="392836"/>
                  </a:lnTo>
                  <a:lnTo>
                    <a:pt x="2017602" y="392836"/>
                  </a:lnTo>
                  <a:lnTo>
                    <a:pt x="1814402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C30FCF1-B12E-7F88-EB59-9C641BBC4322}"/>
                </a:ext>
              </a:extLst>
            </p:cNvPr>
            <p:cNvSpPr txBox="1"/>
            <p:nvPr/>
          </p:nvSpPr>
          <p:spPr>
            <a:xfrm>
              <a:off x="101600" y="-38100"/>
              <a:ext cx="1814402" cy="430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3D35E09C-10DF-36F3-60E0-65A0F5F7EC0C}"/>
              </a:ext>
            </a:extLst>
          </p:cNvPr>
          <p:cNvGrpSpPr/>
          <p:nvPr/>
        </p:nvGrpSpPr>
        <p:grpSpPr>
          <a:xfrm rot="8711618">
            <a:off x="3805212" y="5898680"/>
            <a:ext cx="3155655" cy="1625941"/>
            <a:chOff x="0" y="0"/>
            <a:chExt cx="1384337" cy="7132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BAC2E5F9-FB9D-5CD6-15F3-EAD78CB2BEE1}"/>
                </a:ext>
              </a:extLst>
            </p:cNvPr>
            <p:cNvSpPr/>
            <p:nvPr/>
          </p:nvSpPr>
          <p:spPr>
            <a:xfrm>
              <a:off x="0" y="0"/>
              <a:ext cx="1384337" cy="713275"/>
            </a:xfrm>
            <a:custGeom>
              <a:avLst/>
              <a:gdLst/>
              <a:ahLst/>
              <a:cxnLst/>
              <a:rect l="l" t="t" r="r" b="b"/>
              <a:pathLst>
                <a:path w="1384337" h="713275">
                  <a:moveTo>
                    <a:pt x="203200" y="0"/>
                  </a:moveTo>
                  <a:lnTo>
                    <a:pt x="1384337" y="0"/>
                  </a:lnTo>
                  <a:lnTo>
                    <a:pt x="1181137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CA910DD-F50D-F8CF-650A-52EBC9A01879}"/>
                </a:ext>
              </a:extLst>
            </p:cNvPr>
            <p:cNvSpPr txBox="1"/>
            <p:nvPr/>
          </p:nvSpPr>
          <p:spPr>
            <a:xfrm>
              <a:off x="101600" y="-38100"/>
              <a:ext cx="1181137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BD386B0D-49B6-0727-E168-DD9A47412948}"/>
              </a:ext>
            </a:extLst>
          </p:cNvPr>
          <p:cNvGrpSpPr/>
          <p:nvPr/>
        </p:nvGrpSpPr>
        <p:grpSpPr>
          <a:xfrm rot="5400000">
            <a:off x="-1241921" y="3041123"/>
            <a:ext cx="9305625" cy="4204754"/>
            <a:chOff x="0" y="0"/>
            <a:chExt cx="1081264" cy="48857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EA833DF1-5E43-EE36-027A-521A51C94E4B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7007" t="-13614" r="-18039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F057376A-C694-B4CA-173C-0C80ED2B1B3F}"/>
              </a:ext>
            </a:extLst>
          </p:cNvPr>
          <p:cNvGrpSpPr/>
          <p:nvPr/>
        </p:nvGrpSpPr>
        <p:grpSpPr>
          <a:xfrm rot="-10800000">
            <a:off x="-7142619" y="5143500"/>
            <a:ext cx="13898056" cy="1578278"/>
            <a:chOff x="0" y="0"/>
            <a:chExt cx="5368038" cy="6096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C2EA3F53-0EEC-3077-D153-59F7C9AEBFFF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CFA36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45D34A1-31E4-CFC6-7871-9B25BC8D1BA7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B6E962-4D61-8001-84BD-085B26B5C79F}"/>
              </a:ext>
            </a:extLst>
          </p:cNvPr>
          <p:cNvGrpSpPr/>
          <p:nvPr/>
        </p:nvGrpSpPr>
        <p:grpSpPr>
          <a:xfrm rot="5400000">
            <a:off x="-2726437" y="-4425512"/>
            <a:ext cx="9305625" cy="4204754"/>
            <a:chOff x="0" y="0"/>
            <a:chExt cx="1081264" cy="48857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9E87CA0-B6CA-7A27-A13B-E75F00D8400E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4390" r="-183008" b="-1361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E972F32A-AF7F-C713-39C1-B52854E89160}"/>
              </a:ext>
            </a:extLst>
          </p:cNvPr>
          <p:cNvGrpSpPr/>
          <p:nvPr/>
        </p:nvGrpSpPr>
        <p:grpSpPr>
          <a:xfrm rot="5400000">
            <a:off x="860456" y="10342817"/>
            <a:ext cx="9305625" cy="4204754"/>
            <a:chOff x="0" y="0"/>
            <a:chExt cx="1081264" cy="48857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D4E0AF9-6F01-F34C-F10D-4AF761488A4F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9623" t="-62792" r="-34113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D36553A3-9E95-9844-0835-E245010CA8B2}"/>
              </a:ext>
            </a:extLst>
          </p:cNvPr>
          <p:cNvSpPr txBox="1"/>
          <p:nvPr/>
        </p:nvSpPr>
        <p:spPr>
          <a:xfrm>
            <a:off x="7209205" y="3821130"/>
            <a:ext cx="771932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NISKA STOP USPJEŠNOSTI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C57C1D99-440D-8726-9C46-E859DECEBD75}"/>
              </a:ext>
            </a:extLst>
          </p:cNvPr>
          <p:cNvSpPr txBox="1"/>
          <p:nvPr/>
        </p:nvSpPr>
        <p:spPr>
          <a:xfrm>
            <a:off x="7178031" y="3297321"/>
            <a:ext cx="10271769" cy="24006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manje od 30% transformacija je uspješno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veliki broj projekata ne ostvaruje ciljeve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5094C332-BACB-ED5D-8CDB-DFBD2AC9E467}"/>
              </a:ext>
            </a:extLst>
          </p:cNvPr>
          <p:cNvSpPr txBox="1"/>
          <p:nvPr/>
        </p:nvSpPr>
        <p:spPr>
          <a:xfrm>
            <a:off x="8404227" y="6392162"/>
            <a:ext cx="771932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ZAŠTO JE TO TAKO?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4" name="Rectangle 1">
            <a:extLst>
              <a:ext uri="{FF2B5EF4-FFF2-40B4-BE49-F238E27FC236}">
                <a16:creationId xmlns:a16="http://schemas.microsoft.com/office/drawing/2014/main" id="{F6EF3DC0-9CEC-64E7-396D-41DCC9F101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sr-Latn-RS" altLang="sr-Latn-R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pad prihoda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gubitak tržišne pozicije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sr-Latn-RS" altLang="sr-Latn-R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mogući prestanak poslovanja </a:t>
            </a: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878E91D8-6D79-3BCA-DABD-97A6B8F98237}"/>
              </a:ext>
            </a:extLst>
          </p:cNvPr>
          <p:cNvSpPr txBox="1"/>
          <p:nvPr/>
        </p:nvSpPr>
        <p:spPr>
          <a:xfrm>
            <a:off x="8381158" y="6090712"/>
            <a:ext cx="9297242" cy="4062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vrlo kompleksan proces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uključuje tehnologiju + ljude + organizaciju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zahtijeva velike promjene u poslovanju</a:t>
            </a:r>
          </a:p>
          <a:p>
            <a:pPr lvl="1" algn="just">
              <a:lnSpc>
                <a:spcPct val="150000"/>
              </a:lnSpc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Digitalna transformacija = nužna, ali rizična</a:t>
            </a:r>
          </a:p>
        </p:txBody>
      </p:sp>
    </p:spTree>
    <p:extLst>
      <p:ext uri="{BB962C8B-B14F-4D97-AF65-F5344CB8AC3E}">
        <p14:creationId xmlns:p14="http://schemas.microsoft.com/office/powerpoint/2010/main" val="19181077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15BDA-9AB4-BE1E-E34E-4DBD18BCA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DF2C05-375E-C445-1E26-C703BCD4676B}"/>
              </a:ext>
            </a:extLst>
          </p:cNvPr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580804E-607B-3C02-97A7-8FCB03CB2C4C}"/>
              </a:ext>
            </a:extLst>
          </p:cNvPr>
          <p:cNvGrpSpPr/>
          <p:nvPr/>
        </p:nvGrpSpPr>
        <p:grpSpPr>
          <a:xfrm>
            <a:off x="-4495800" y="633006"/>
            <a:ext cx="28056400" cy="9768293"/>
            <a:chOff x="0" y="-38100"/>
            <a:chExt cx="2017602" cy="43226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91885E1-2EF1-2F84-B3D2-B3A93D5740EA}"/>
                </a:ext>
              </a:extLst>
            </p:cNvPr>
            <p:cNvSpPr/>
            <p:nvPr/>
          </p:nvSpPr>
          <p:spPr>
            <a:xfrm>
              <a:off x="0" y="1328"/>
              <a:ext cx="2017602" cy="392836"/>
            </a:xfrm>
            <a:custGeom>
              <a:avLst/>
              <a:gdLst/>
              <a:ahLst/>
              <a:cxnLst/>
              <a:rect l="l" t="t" r="r" b="b"/>
              <a:pathLst>
                <a:path w="2017602" h="392836">
                  <a:moveTo>
                    <a:pt x="1814402" y="0"/>
                  </a:moveTo>
                  <a:lnTo>
                    <a:pt x="0" y="0"/>
                  </a:lnTo>
                  <a:lnTo>
                    <a:pt x="203200" y="392836"/>
                  </a:lnTo>
                  <a:lnTo>
                    <a:pt x="2017602" y="392836"/>
                  </a:lnTo>
                  <a:lnTo>
                    <a:pt x="1814402" y="0"/>
                  </a:lnTo>
                  <a:close/>
                </a:path>
              </a:pathLst>
            </a:custGeom>
            <a:solidFill>
              <a:srgbClr val="E9E1DB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638ED22-C552-5A35-6318-9B44EA758B40}"/>
                </a:ext>
              </a:extLst>
            </p:cNvPr>
            <p:cNvSpPr txBox="1"/>
            <p:nvPr/>
          </p:nvSpPr>
          <p:spPr>
            <a:xfrm>
              <a:off x="101600" y="-38100"/>
              <a:ext cx="1814402" cy="4309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D5670BA9-22F5-53C4-290D-7112C03CBEDC}"/>
              </a:ext>
            </a:extLst>
          </p:cNvPr>
          <p:cNvGrpSpPr/>
          <p:nvPr/>
        </p:nvGrpSpPr>
        <p:grpSpPr>
          <a:xfrm rot="8711618">
            <a:off x="3805212" y="5898680"/>
            <a:ext cx="3155655" cy="1625941"/>
            <a:chOff x="0" y="0"/>
            <a:chExt cx="1384337" cy="713275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3B12D3E-C1B8-EEFC-DE78-13A07A3FB706}"/>
                </a:ext>
              </a:extLst>
            </p:cNvPr>
            <p:cNvSpPr/>
            <p:nvPr/>
          </p:nvSpPr>
          <p:spPr>
            <a:xfrm>
              <a:off x="0" y="0"/>
              <a:ext cx="1384337" cy="713275"/>
            </a:xfrm>
            <a:custGeom>
              <a:avLst/>
              <a:gdLst/>
              <a:ahLst/>
              <a:cxnLst/>
              <a:rect l="l" t="t" r="r" b="b"/>
              <a:pathLst>
                <a:path w="1384337" h="713275">
                  <a:moveTo>
                    <a:pt x="203200" y="0"/>
                  </a:moveTo>
                  <a:lnTo>
                    <a:pt x="1384337" y="0"/>
                  </a:lnTo>
                  <a:lnTo>
                    <a:pt x="1181137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910FD47-98C7-D3BB-006F-6E90FC9BBF68}"/>
                </a:ext>
              </a:extLst>
            </p:cNvPr>
            <p:cNvSpPr txBox="1"/>
            <p:nvPr/>
          </p:nvSpPr>
          <p:spPr>
            <a:xfrm>
              <a:off x="101600" y="-38100"/>
              <a:ext cx="1181137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4AB95960-25BE-9D66-05EB-B341189BCBCA}"/>
              </a:ext>
            </a:extLst>
          </p:cNvPr>
          <p:cNvGrpSpPr/>
          <p:nvPr/>
        </p:nvGrpSpPr>
        <p:grpSpPr>
          <a:xfrm rot="5400000">
            <a:off x="-1241921" y="3041123"/>
            <a:ext cx="9305625" cy="4204754"/>
            <a:chOff x="0" y="0"/>
            <a:chExt cx="1081264" cy="48857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0343D2E-DB7A-C4AD-7627-0FE5672028EE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7007" t="-13614" r="-180391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B1153EF-5B87-EF1A-8AC6-DED73D6711F1}"/>
              </a:ext>
            </a:extLst>
          </p:cNvPr>
          <p:cNvGrpSpPr/>
          <p:nvPr/>
        </p:nvGrpSpPr>
        <p:grpSpPr>
          <a:xfrm rot="-10800000">
            <a:off x="-7142619" y="5165421"/>
            <a:ext cx="13898056" cy="1578278"/>
            <a:chOff x="0" y="0"/>
            <a:chExt cx="5368038" cy="6096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0305430-E31B-5823-95A9-D326A220D207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CFA36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961E528-28D3-033F-F8D1-D00B97254BE0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6DE2DF2-64D5-E52D-35AC-0C4838261FE5}"/>
              </a:ext>
            </a:extLst>
          </p:cNvPr>
          <p:cNvGrpSpPr/>
          <p:nvPr/>
        </p:nvGrpSpPr>
        <p:grpSpPr>
          <a:xfrm rot="5400000">
            <a:off x="-2726437" y="-4425512"/>
            <a:ext cx="9305625" cy="4204754"/>
            <a:chOff x="0" y="0"/>
            <a:chExt cx="1081264" cy="48857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36C7FFE-095E-14DD-9A6E-A16E26B45FF3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4390" r="-183008" b="-1361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6A29DD1-804B-3A3C-4C9A-BAE35AC1BDB0}"/>
              </a:ext>
            </a:extLst>
          </p:cNvPr>
          <p:cNvGrpSpPr/>
          <p:nvPr/>
        </p:nvGrpSpPr>
        <p:grpSpPr>
          <a:xfrm rot="5400000">
            <a:off x="475040" y="10294856"/>
            <a:ext cx="9305625" cy="4204754"/>
            <a:chOff x="0" y="0"/>
            <a:chExt cx="1081264" cy="48857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3948F1F-5843-E76C-F0C2-15CE2E941C68}"/>
                </a:ext>
              </a:extLst>
            </p:cNvPr>
            <p:cNvSpPr/>
            <p:nvPr/>
          </p:nvSpPr>
          <p:spPr>
            <a:xfrm rot="-5400000">
              <a:off x="296347" y="-296347"/>
              <a:ext cx="488570" cy="1081264"/>
            </a:xfrm>
            <a:custGeom>
              <a:avLst/>
              <a:gdLst/>
              <a:ahLst/>
              <a:cxnLst/>
              <a:rect l="l" t="t" r="r" b="b"/>
              <a:pathLst>
                <a:path w="488570" h="1081264">
                  <a:moveTo>
                    <a:pt x="488570" y="878064"/>
                  </a:moveTo>
                  <a:lnTo>
                    <a:pt x="488570" y="0"/>
                  </a:lnTo>
                  <a:lnTo>
                    <a:pt x="0" y="203200"/>
                  </a:lnTo>
                  <a:lnTo>
                    <a:pt x="0" y="1081264"/>
                  </a:lnTo>
                  <a:lnTo>
                    <a:pt x="488570" y="878064"/>
                  </a:lnTo>
                  <a:close/>
                </a:path>
              </a:pathLst>
            </a:custGeom>
            <a:blipFill>
              <a:blip r:embed="rId4"/>
              <a:stretch>
                <a:fillRect l="-99623" t="-62792" r="-341134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B34803DA-1086-A165-EE53-B2230B782442}"/>
              </a:ext>
            </a:extLst>
          </p:cNvPr>
          <p:cNvSpPr txBox="1"/>
          <p:nvPr/>
        </p:nvSpPr>
        <p:spPr>
          <a:xfrm>
            <a:off x="7520674" y="3842656"/>
            <a:ext cx="7719326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GLAVNI PROBLEMI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5A1B842E-DDBD-129E-CBE8-CC7381FF9654}"/>
              </a:ext>
            </a:extLst>
          </p:cNvPr>
          <p:cNvSpPr txBox="1"/>
          <p:nvPr/>
        </p:nvSpPr>
        <p:spPr>
          <a:xfrm>
            <a:off x="4608205" y="2462027"/>
            <a:ext cx="13130002" cy="1187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000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RAZLOZI NEUSPJEHA</a:t>
            </a:r>
            <a:endParaRPr lang="en-US" sz="6000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30AD6F29-36EF-DA6B-9281-6B1382DA81E1}"/>
              </a:ext>
            </a:extLst>
          </p:cNvPr>
          <p:cNvSpPr txBox="1"/>
          <p:nvPr/>
        </p:nvSpPr>
        <p:spPr>
          <a:xfrm>
            <a:off x="6998485" y="3662727"/>
            <a:ext cx="11006899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Nedostatak liderstva</a:t>
            </a:r>
          </a:p>
          <a:p>
            <a:pPr marL="1714500" lvl="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loše upravljanje promjenama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Nedostatak znanja</a:t>
            </a:r>
          </a:p>
          <a:p>
            <a:pPr marL="1714500" lvl="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manjak digitalnih vještina zaposlenika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Loša komunikacija</a:t>
            </a:r>
          </a:p>
          <a:p>
            <a:pPr marL="1714500" lvl="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zaposlenici ne razumiju promjene</a:t>
            </a:r>
          </a:p>
          <a:p>
            <a:pPr marL="1714500" lvl="3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otpor prema promjenama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</p:spTree>
    <p:extLst>
      <p:ext uri="{BB962C8B-B14F-4D97-AF65-F5344CB8AC3E}">
        <p14:creationId xmlns:p14="http://schemas.microsoft.com/office/powerpoint/2010/main" val="1078050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D2B23-7DAC-2B44-04BE-73F35B7F2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F574E0-87D9-D68B-48C7-0082AC8F9F06}"/>
              </a:ext>
            </a:extLst>
          </p:cNvPr>
          <p:cNvGrpSpPr/>
          <p:nvPr/>
        </p:nvGrpSpPr>
        <p:grpSpPr>
          <a:xfrm rot="8711618">
            <a:off x="995049" y="8816272"/>
            <a:ext cx="6894380" cy="1625941"/>
            <a:chOff x="0" y="0"/>
            <a:chExt cx="3024458" cy="71327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5C945BE-CBEF-F758-3F6E-65D485FB6D98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EBAB955-6143-6F97-7545-D4D4B1E80741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C76B15B-7E7D-89E5-FD27-A3EB997AD5C7}"/>
              </a:ext>
            </a:extLst>
          </p:cNvPr>
          <p:cNvGrpSpPr/>
          <p:nvPr/>
        </p:nvGrpSpPr>
        <p:grpSpPr>
          <a:xfrm>
            <a:off x="1331261" y="-376422"/>
            <a:ext cx="4822222" cy="11369911"/>
            <a:chOff x="0" y="0"/>
            <a:chExt cx="560316" cy="1321123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E24FD0F-9240-A222-E784-D1064DF30D6B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7" name="Group 7">
            <a:extLst>
              <a:ext uri="{FF2B5EF4-FFF2-40B4-BE49-F238E27FC236}">
                <a16:creationId xmlns:a16="http://schemas.microsoft.com/office/drawing/2014/main" id="{550D4AA1-C51A-6548-C868-672EFBF16A08}"/>
              </a:ext>
            </a:extLst>
          </p:cNvPr>
          <p:cNvGrpSpPr/>
          <p:nvPr/>
        </p:nvGrpSpPr>
        <p:grpSpPr>
          <a:xfrm>
            <a:off x="-1817004" y="3944287"/>
            <a:ext cx="4822222" cy="11369911"/>
            <a:chOff x="0" y="0"/>
            <a:chExt cx="560316" cy="1321123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0FA2524-1844-AB24-9E61-8B556B7697BA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90B63679-4834-B877-7860-DF428953CA00}"/>
              </a:ext>
            </a:extLst>
          </p:cNvPr>
          <p:cNvGrpSpPr/>
          <p:nvPr/>
        </p:nvGrpSpPr>
        <p:grpSpPr>
          <a:xfrm rot="-10800000">
            <a:off x="-6548512" y="6994052"/>
            <a:ext cx="13898056" cy="1578278"/>
            <a:chOff x="0" y="0"/>
            <a:chExt cx="5368038" cy="6096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7CFC8A6A-6D66-BEFC-1AF3-D13F3B060F7C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1D7E043E-FD8D-35F5-4A57-05933E7ED98B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B3B47232-3DED-396D-569C-EF631B1FEFCB}"/>
              </a:ext>
            </a:extLst>
          </p:cNvPr>
          <p:cNvGrpSpPr/>
          <p:nvPr/>
        </p:nvGrpSpPr>
        <p:grpSpPr>
          <a:xfrm rot="-2088381">
            <a:off x="14899827" y="2823637"/>
            <a:ext cx="6791151" cy="1601596"/>
            <a:chOff x="0" y="0"/>
            <a:chExt cx="3024458" cy="713275"/>
          </a:xfrm>
        </p:grpSpPr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FF4ACF3-78CE-B900-E66B-EBE210C8FDC0}"/>
                </a:ext>
              </a:extLst>
            </p:cNvPr>
            <p:cNvSpPr/>
            <p:nvPr/>
          </p:nvSpPr>
          <p:spPr>
            <a:xfrm>
              <a:off x="0" y="0"/>
              <a:ext cx="3024458" cy="713275"/>
            </a:xfrm>
            <a:custGeom>
              <a:avLst/>
              <a:gdLst/>
              <a:ahLst/>
              <a:cxnLst/>
              <a:rect l="l" t="t" r="r" b="b"/>
              <a:pathLst>
                <a:path w="3024458" h="713275">
                  <a:moveTo>
                    <a:pt x="203200" y="0"/>
                  </a:moveTo>
                  <a:lnTo>
                    <a:pt x="3024458" y="0"/>
                  </a:lnTo>
                  <a:lnTo>
                    <a:pt x="2821258" y="713275"/>
                  </a:lnTo>
                  <a:lnTo>
                    <a:pt x="0" y="713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66574D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078B81F8-C0C6-AE5C-4695-04DD94CE4FF0}"/>
                </a:ext>
              </a:extLst>
            </p:cNvPr>
            <p:cNvSpPr txBox="1"/>
            <p:nvPr/>
          </p:nvSpPr>
          <p:spPr>
            <a:xfrm>
              <a:off x="101600" y="-38100"/>
              <a:ext cx="2821258" cy="751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>
            <a:extLst>
              <a:ext uri="{FF2B5EF4-FFF2-40B4-BE49-F238E27FC236}">
                <a16:creationId xmlns:a16="http://schemas.microsoft.com/office/drawing/2014/main" id="{75F926E6-230F-FCC2-E6F9-D2666F55A847}"/>
              </a:ext>
            </a:extLst>
          </p:cNvPr>
          <p:cNvGrpSpPr/>
          <p:nvPr/>
        </p:nvGrpSpPr>
        <p:grpSpPr>
          <a:xfrm>
            <a:off x="16278249" y="-1199744"/>
            <a:ext cx="4822222" cy="11369911"/>
            <a:chOff x="0" y="0"/>
            <a:chExt cx="560316" cy="1321123"/>
          </a:xfrm>
        </p:grpSpPr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6B5BD4F1-54EF-24E5-52A9-C537CF44AA0A}"/>
                </a:ext>
              </a:extLst>
            </p:cNvPr>
            <p:cNvSpPr/>
            <p:nvPr/>
          </p:nvSpPr>
          <p:spPr>
            <a:xfrm>
              <a:off x="0" y="0"/>
              <a:ext cx="560316" cy="1321123"/>
            </a:xfrm>
            <a:custGeom>
              <a:avLst/>
              <a:gdLst/>
              <a:ahLst/>
              <a:cxnLst/>
              <a:rect l="l" t="t" r="r" b="b"/>
              <a:pathLst>
                <a:path w="560316" h="1321123">
                  <a:moveTo>
                    <a:pt x="357116" y="0"/>
                  </a:moveTo>
                  <a:lnTo>
                    <a:pt x="0" y="0"/>
                  </a:lnTo>
                  <a:lnTo>
                    <a:pt x="203200" y="1321123"/>
                  </a:lnTo>
                  <a:lnTo>
                    <a:pt x="560316" y="1321123"/>
                  </a:lnTo>
                  <a:lnTo>
                    <a:pt x="357116" y="0"/>
                  </a:lnTo>
                  <a:close/>
                </a:path>
              </a:pathLst>
            </a:custGeom>
            <a:blipFill>
              <a:blip r:embed="rId3"/>
              <a:stretch>
                <a:fillRect l="-126946" r="-126946"/>
              </a:stretch>
            </a:blipFill>
          </p:spPr>
          <p:txBody>
            <a:bodyPr/>
            <a:lstStyle/>
            <a:p>
              <a:endParaRPr lang="hr-HR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074BC887-DF0E-5943-91D6-7B22536CCC03}"/>
              </a:ext>
            </a:extLst>
          </p:cNvPr>
          <p:cNvGrpSpPr/>
          <p:nvPr/>
        </p:nvGrpSpPr>
        <p:grpSpPr>
          <a:xfrm>
            <a:off x="15431629" y="4665523"/>
            <a:ext cx="13689960" cy="1554646"/>
            <a:chOff x="0" y="0"/>
            <a:chExt cx="5368038" cy="609600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69E5BE8-8C62-D39B-C56B-B5479079784C}"/>
                </a:ext>
              </a:extLst>
            </p:cNvPr>
            <p:cNvSpPr/>
            <p:nvPr/>
          </p:nvSpPr>
          <p:spPr>
            <a:xfrm>
              <a:off x="0" y="0"/>
              <a:ext cx="5368038" cy="609600"/>
            </a:xfrm>
            <a:custGeom>
              <a:avLst/>
              <a:gdLst/>
              <a:ahLst/>
              <a:cxnLst/>
              <a:rect l="l" t="t" r="r" b="b"/>
              <a:pathLst>
                <a:path w="5368038" h="609600">
                  <a:moveTo>
                    <a:pt x="516483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5368038" y="609600"/>
                  </a:lnTo>
                  <a:lnTo>
                    <a:pt x="51648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6208064-A423-76CF-1420-66123342F649}"/>
                </a:ext>
              </a:extLst>
            </p:cNvPr>
            <p:cNvSpPr txBox="1"/>
            <p:nvPr/>
          </p:nvSpPr>
          <p:spPr>
            <a:xfrm>
              <a:off x="101600" y="-38100"/>
              <a:ext cx="516483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129F5728-654E-5895-9E89-84C9778BF513}"/>
              </a:ext>
            </a:extLst>
          </p:cNvPr>
          <p:cNvSpPr txBox="1"/>
          <p:nvPr/>
        </p:nvSpPr>
        <p:spPr>
          <a:xfrm>
            <a:off x="5600947" y="2205945"/>
            <a:ext cx="10081769" cy="1399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modernizacija sustava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korištenje podataka za odluke</a:t>
            </a: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014A1B29-084E-B3AB-4168-1BF5C51BEFAB}"/>
              </a:ext>
            </a:extLst>
          </p:cNvPr>
          <p:cNvSpPr txBox="1"/>
          <p:nvPr/>
        </p:nvSpPr>
        <p:spPr>
          <a:xfrm>
            <a:off x="4467026" y="211600"/>
            <a:ext cx="12295846" cy="1177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610"/>
              </a:lnSpc>
            </a:pPr>
            <a:r>
              <a:rPr lang="hr-HR" sz="6600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KAKO SMANJITI RIZIK</a:t>
            </a:r>
            <a:endParaRPr lang="en-US" sz="6600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4912EB-87D1-BB3E-2258-8C1B24C99F15}"/>
              </a:ext>
            </a:extLst>
          </p:cNvPr>
          <p:cNvSpPr txBox="1"/>
          <p:nvPr/>
        </p:nvSpPr>
        <p:spPr>
          <a:xfrm>
            <a:off x="5679894" y="1896846"/>
            <a:ext cx="6928212" cy="428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ULAGANJE U IT I PODATKE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9F49F822-DDC1-AC32-CEFF-54D52F405115}"/>
              </a:ext>
            </a:extLst>
          </p:cNvPr>
          <p:cNvSpPr txBox="1"/>
          <p:nvPr/>
        </p:nvSpPr>
        <p:spPr>
          <a:xfrm>
            <a:off x="6510572" y="5348940"/>
            <a:ext cx="7047833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ORGANIZAACIJSKE PROMJENE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FF7AC6D9-293A-9A4C-BF8C-1131601A4379}"/>
              </a:ext>
            </a:extLst>
          </p:cNvPr>
          <p:cNvSpPr txBox="1"/>
          <p:nvPr/>
        </p:nvSpPr>
        <p:spPr>
          <a:xfrm>
            <a:off x="6730464" y="5611133"/>
            <a:ext cx="10081769" cy="21339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fleksibilna struktura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digitalno vodstvo</a:t>
            </a:r>
          </a:p>
          <a:p>
            <a:pPr algn="just">
              <a:lnSpc>
                <a:spcPct val="150000"/>
              </a:lnSpc>
            </a:pPr>
            <a:endParaRPr lang="hr-HR" sz="32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66AF7ED0-8337-FCC4-74BD-EC21F34AC831}"/>
              </a:ext>
            </a:extLst>
          </p:cNvPr>
          <p:cNvSpPr txBox="1"/>
          <p:nvPr/>
        </p:nvSpPr>
        <p:spPr>
          <a:xfrm>
            <a:off x="11953976" y="6994051"/>
            <a:ext cx="7047833" cy="4282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220"/>
              </a:lnSpc>
            </a:pPr>
            <a:r>
              <a:rPr lang="hr-HR" sz="3600" b="1" dirty="0">
                <a:solidFill>
                  <a:srgbClr val="66574D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RAZVOJ ZAPOSLENIKA</a:t>
            </a:r>
            <a:endParaRPr lang="en-US" sz="3600" b="1" dirty="0">
              <a:solidFill>
                <a:srgbClr val="66574D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27" name="TextBox 20">
            <a:extLst>
              <a:ext uri="{FF2B5EF4-FFF2-40B4-BE49-F238E27FC236}">
                <a16:creationId xmlns:a16="http://schemas.microsoft.com/office/drawing/2014/main" id="{72E79553-C21F-04DD-C4F1-24E2D5517BF8}"/>
              </a:ext>
            </a:extLst>
          </p:cNvPr>
          <p:cNvSpPr txBox="1"/>
          <p:nvPr/>
        </p:nvSpPr>
        <p:spPr>
          <a:xfrm>
            <a:off x="12100724" y="7323195"/>
            <a:ext cx="10081769" cy="13952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edukacija i digitalne vještine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2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spremnost na promjene</a:t>
            </a:r>
          </a:p>
        </p:txBody>
      </p:sp>
    </p:spTree>
    <p:extLst>
      <p:ext uri="{BB962C8B-B14F-4D97-AF65-F5344CB8AC3E}">
        <p14:creationId xmlns:p14="http://schemas.microsoft.com/office/powerpoint/2010/main" val="41237110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1B2A-1398-A500-4BA0-701A995F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F63607F-2AF6-F8E8-23CB-C09C68F99113}"/>
              </a:ext>
            </a:extLst>
          </p:cNvPr>
          <p:cNvGrpSpPr/>
          <p:nvPr/>
        </p:nvGrpSpPr>
        <p:grpSpPr>
          <a:xfrm rot="5400000">
            <a:off x="13889219" y="-4295997"/>
            <a:ext cx="6032466" cy="7804385"/>
            <a:chOff x="0" y="0"/>
            <a:chExt cx="700940" cy="90682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CB0D678-0D26-AE9A-8736-EA0D5CEAAD9F}"/>
                </a:ext>
              </a:extLst>
            </p:cNvPr>
            <p:cNvSpPr/>
            <p:nvPr/>
          </p:nvSpPr>
          <p:spPr>
            <a:xfrm rot="-5400000">
              <a:off x="-102944" y="102944"/>
              <a:ext cx="906828" cy="700940"/>
            </a:xfrm>
            <a:custGeom>
              <a:avLst/>
              <a:gdLst/>
              <a:ahLst/>
              <a:cxnLst/>
              <a:rect l="l" t="t" r="r" b="b"/>
              <a:pathLst>
                <a:path w="906828" h="700940">
                  <a:moveTo>
                    <a:pt x="906828" y="497740"/>
                  </a:moveTo>
                  <a:lnTo>
                    <a:pt x="906828" y="0"/>
                  </a:lnTo>
                  <a:lnTo>
                    <a:pt x="0" y="203200"/>
                  </a:lnTo>
                  <a:lnTo>
                    <a:pt x="0" y="700940"/>
                  </a:lnTo>
                  <a:lnTo>
                    <a:pt x="906828" y="497740"/>
                  </a:lnTo>
                  <a:close/>
                </a:path>
              </a:pathLst>
            </a:custGeom>
            <a:blipFill>
              <a:blip r:embed="rId3"/>
              <a:stretch>
                <a:fillRect l="-7425" t="-6935" r="-42668" b="-22437"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0090AE57-87A0-1E7C-16B1-499D891AE04B}"/>
              </a:ext>
            </a:extLst>
          </p:cNvPr>
          <p:cNvSpPr txBox="1"/>
          <p:nvPr/>
        </p:nvSpPr>
        <p:spPr>
          <a:xfrm>
            <a:off x="990600" y="2900362"/>
            <a:ext cx="14820901" cy="73866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Tehnološko zaostajanje predstavlja ozbiljan problem jer smanjuje učinkovitost, povećava troškove i slabi konkurentnost poduzeća. Zastarjeli sustavi i nedovoljna primjena tehnologije dodatno usporavaju razvoj.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r-HR" sz="36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Ključ uspjeha je u ulaganju u tehnologiju, razvoju digitalnih vještina zaposlenika i prilagodbi organizacije promjenama. Poduzeća koja to uspiju ostvaruju konkurentsku prednost.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36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2AC89D0-2A7D-044A-89CA-2CBC67209DFC}"/>
              </a:ext>
            </a:extLst>
          </p:cNvPr>
          <p:cNvSpPr txBox="1"/>
          <p:nvPr/>
        </p:nvSpPr>
        <p:spPr>
          <a:xfrm>
            <a:off x="749357" y="533216"/>
            <a:ext cx="12066586" cy="1187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610"/>
              </a:lnSpc>
            </a:pPr>
            <a:r>
              <a:rPr lang="hr-HR" sz="6864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ZAKLJUČAK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41820117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B9C12-97AD-33B8-C5CB-4E4B2730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20">
            <a:extLst>
              <a:ext uri="{FF2B5EF4-FFF2-40B4-BE49-F238E27FC236}">
                <a16:creationId xmlns:a16="http://schemas.microsoft.com/office/drawing/2014/main" id="{AB549249-A8FD-97B2-0E28-820797AAD755}"/>
              </a:ext>
            </a:extLst>
          </p:cNvPr>
          <p:cNvSpPr txBox="1"/>
          <p:nvPr/>
        </p:nvSpPr>
        <p:spPr>
          <a:xfrm>
            <a:off x="1733549" y="1095165"/>
            <a:ext cx="14820901" cy="9910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4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[1] P. C.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Verhoef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 dr., „Digital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transformation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A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multidisciplinary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reflection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research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agenda,”</a:t>
            </a: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Journal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of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Business Research, adresa: https://www.sciencedirect.com/science/</a:t>
            </a:r>
          </a:p>
          <a:p>
            <a:pPr algn="just">
              <a:lnSpc>
                <a:spcPct val="150000"/>
              </a:lnSpc>
            </a:pP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article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/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pii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/S0148296319305478.</a:t>
            </a: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[2] D. Miloš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Sprčić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I. D.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Lackovi´c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Upravljanje rizicima: teorijski koncepti i primjena u poslovnoj</a:t>
            </a: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praksi. Jastrebarsko i Varaždin: Naklada Slap i Fakultet organizacije i informatike, 2023.,</a:t>
            </a: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ISBN: 9789531910347.</a:t>
            </a: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[3] J.-F. Martin, „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Unlocking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success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transformations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,”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McKinsey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&amp; Company,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izv.,</a:t>
            </a: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2018. adresa: https://tinyurl.com/2xpfxxnw.</a:t>
            </a: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[4] Državni zavod za statistiku, „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Usage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of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Information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Communication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Technologies (ICT)</a:t>
            </a:r>
          </a:p>
          <a:p>
            <a:pPr algn="just">
              <a:lnSpc>
                <a:spcPct val="150000"/>
              </a:lnSpc>
            </a:pP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Enterprises, 2024,” Državni zavod za statistiku, Zagreb,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teh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. izv., 2024. adresa: https:</a:t>
            </a: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//podaci.dzs.hr/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media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/eefilhr4/zti-2024-1-1-usage-of-information-</a:t>
            </a: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and-communication-technologies-ict-in-enterprises-2024.pdf.</a:t>
            </a: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[5] Z.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Irani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R. M.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Abril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V.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Weerakkody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A. Omar i U.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Sivarajah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„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The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impact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of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legacy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systems</a:t>
            </a:r>
            <a:endParaRPr lang="hr-HR" sz="24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algn="just">
              <a:lnSpc>
                <a:spcPct val="150000"/>
              </a:lnSpc>
            </a:pP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digital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transformation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European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public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administration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: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Lesson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learned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from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a multi</a:t>
            </a:r>
          </a:p>
          <a:p>
            <a:pPr algn="just">
              <a:lnSpc>
                <a:spcPct val="150000"/>
              </a:lnSpc>
            </a:pP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case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analysis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,”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Government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Information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hr-HR" sz="2400" dirty="0" err="1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Quarterly</a:t>
            </a:r>
            <a:r>
              <a:rPr lang="hr-HR" sz="2400" dirty="0">
                <a:solidFill>
                  <a:srgbClr val="66574D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, 2023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4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hr-HR" sz="2400" dirty="0">
              <a:solidFill>
                <a:srgbClr val="66574D"/>
              </a:solidFill>
              <a:latin typeface="Glacial Indifference"/>
              <a:ea typeface="Glacial Indifference"/>
              <a:cs typeface="Glacial Indifference"/>
              <a:sym typeface="Glacial Indifference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43DF8EF2-FE18-7B85-0B69-6AA0ACF18B85}"/>
              </a:ext>
            </a:extLst>
          </p:cNvPr>
          <p:cNvSpPr txBox="1"/>
          <p:nvPr/>
        </p:nvSpPr>
        <p:spPr>
          <a:xfrm>
            <a:off x="6553200" y="190500"/>
            <a:ext cx="12066586" cy="1187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9610"/>
              </a:lnSpc>
            </a:pPr>
            <a:r>
              <a:rPr lang="hr-HR" sz="6864" dirty="0">
                <a:solidFill>
                  <a:srgbClr val="66574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LITERATURA</a:t>
            </a:r>
            <a:endParaRPr lang="en-US" sz="6864" dirty="0">
              <a:solidFill>
                <a:srgbClr val="66574D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42507980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CBC7D-0519-CA97-D1FB-4E1D23B39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12A5C68-B9BE-EA0C-0A7F-C956F30D5028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hr-HR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CDEEB33-F98D-2D15-17F2-FFA9CA4E3237}"/>
              </a:ext>
            </a:extLst>
          </p:cNvPr>
          <p:cNvGrpSpPr/>
          <p:nvPr/>
        </p:nvGrpSpPr>
        <p:grpSpPr>
          <a:xfrm>
            <a:off x="946974" y="1638300"/>
            <a:ext cx="16394051" cy="8476983"/>
            <a:chOff x="0" y="0"/>
            <a:chExt cx="1178935" cy="6096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670F225-40E2-5A36-714D-557398841724}"/>
                </a:ext>
              </a:extLst>
            </p:cNvPr>
            <p:cNvSpPr/>
            <p:nvPr/>
          </p:nvSpPr>
          <p:spPr>
            <a:xfrm>
              <a:off x="0" y="0"/>
              <a:ext cx="1178935" cy="609600"/>
            </a:xfrm>
            <a:custGeom>
              <a:avLst/>
              <a:gdLst/>
              <a:ahLst/>
              <a:cxnLst/>
              <a:rect l="l" t="t" r="r" b="b"/>
              <a:pathLst>
                <a:path w="1178935" h="609600">
                  <a:moveTo>
                    <a:pt x="975735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178935" y="609600"/>
                  </a:lnTo>
                  <a:lnTo>
                    <a:pt x="975735" y="0"/>
                  </a:lnTo>
                  <a:close/>
                </a:path>
              </a:pathLst>
            </a:custGeom>
            <a:solidFill>
              <a:srgbClr val="3D3735"/>
            </a:solidFill>
          </p:spPr>
          <p:txBody>
            <a:bodyPr/>
            <a:lstStyle/>
            <a:p>
              <a:endParaRPr lang="hr-HR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B023533-1794-67E8-FC03-CD38FC4F3CE7}"/>
                </a:ext>
              </a:extLst>
            </p:cNvPr>
            <p:cNvSpPr txBox="1"/>
            <p:nvPr/>
          </p:nvSpPr>
          <p:spPr>
            <a:xfrm>
              <a:off x="101600" y="-38100"/>
              <a:ext cx="975735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81E6D4DA-24F4-C6BD-2E58-6823A478F3FA}"/>
              </a:ext>
            </a:extLst>
          </p:cNvPr>
          <p:cNvSpPr txBox="1"/>
          <p:nvPr/>
        </p:nvSpPr>
        <p:spPr>
          <a:xfrm>
            <a:off x="7424688" y="7843136"/>
            <a:ext cx="9174479" cy="528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165"/>
              </a:lnSpc>
            </a:pPr>
            <a:r>
              <a:rPr lang="en-US" sz="3500">
                <a:solidFill>
                  <a:srgbClr val="3D3735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: Bartholomew Henderson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675ADAA2-67C9-4D5B-5114-FDC6B4DD0909}"/>
              </a:ext>
            </a:extLst>
          </p:cNvPr>
          <p:cNvSpPr txBox="1"/>
          <p:nvPr/>
        </p:nvSpPr>
        <p:spPr>
          <a:xfrm>
            <a:off x="4570111" y="5283070"/>
            <a:ext cx="13106400" cy="1187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610"/>
              </a:lnSpc>
            </a:pPr>
            <a:r>
              <a:rPr lang="hr-HR" sz="6864" dirty="0">
                <a:solidFill>
                  <a:srgbClr val="E9E1D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HVALA NA PAŽNJI!</a:t>
            </a:r>
            <a:endParaRPr lang="en-US" sz="6864" dirty="0">
              <a:solidFill>
                <a:srgbClr val="E9E1DB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  <p:extLst>
      <p:ext uri="{BB962C8B-B14F-4D97-AF65-F5344CB8AC3E}">
        <p14:creationId xmlns:p14="http://schemas.microsoft.com/office/powerpoint/2010/main" val="1886842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1530</Words>
  <Application>Microsoft Office PowerPoint</Application>
  <PresentationFormat>Prilagođeno</PresentationFormat>
  <Paragraphs>262</Paragraphs>
  <Slides>30</Slides>
  <Notes>13</Notes>
  <HiddenSlides>0</HiddenSlides>
  <MMClips>0</MMClips>
  <ScaleCrop>false</ScaleCrop>
  <HeadingPairs>
    <vt:vector size="6" baseType="variant">
      <vt:variant>
        <vt:lpstr>Korišteni fontovi</vt:lpstr>
      </vt:variant>
      <vt:variant>
        <vt:i4>6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30</vt:i4>
      </vt:variant>
    </vt:vector>
  </HeadingPairs>
  <TitlesOfParts>
    <vt:vector size="37" baseType="lpstr">
      <vt:lpstr>League Spartan</vt:lpstr>
      <vt:lpstr>Calibri</vt:lpstr>
      <vt:lpstr>Glacial Indifference Bold</vt:lpstr>
      <vt:lpstr>Arial</vt:lpstr>
      <vt:lpstr>Aptos</vt:lpstr>
      <vt:lpstr>Glacial Indifference</vt:lpstr>
      <vt:lpstr>Office Theme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Cream Minimalist Business Proposal Presentation</dc:title>
  <dc:creator>Zdravko</dc:creator>
  <cp:lastModifiedBy>Zdravko Blažević</cp:lastModifiedBy>
  <cp:revision>16</cp:revision>
  <cp:lastPrinted>2026-04-08T09:33:32Z</cp:lastPrinted>
  <dcterms:created xsi:type="dcterms:W3CDTF">2006-08-16T00:00:00Z</dcterms:created>
  <dcterms:modified xsi:type="dcterms:W3CDTF">2026-04-08T11:36:11Z</dcterms:modified>
  <dc:identifier>DAHFl1lvpPo</dc:identifier>
</cp:coreProperties>
</file>