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80" r:id="rId11"/>
    <p:sldId id="281" r:id="rId12"/>
    <p:sldId id="275" r:id="rId13"/>
    <p:sldId id="282" r:id="rId14"/>
    <p:sldId id="283" r:id="rId15"/>
    <p:sldId id="276" r:id="rId16"/>
    <p:sldId id="284" r:id="rId17"/>
    <p:sldId id="277" r:id="rId18"/>
    <p:sldId id="279" r:id="rId19"/>
    <p:sldId id="278" r:id="rId20"/>
  </p:sldIdLst>
  <p:sldSz cx="18288000" cy="10287000"/>
  <p:notesSz cx="6858000" cy="9144000"/>
  <p:embeddedFontLst>
    <p:embeddedFont>
      <p:font typeface="Canva Sans" panose="020B0604020202020204" charset="0"/>
      <p:regular r:id="rId22"/>
    </p:embeddedFont>
    <p:embeddedFont>
      <p:font typeface="Mina" panose="020B0604020202020204" charset="0"/>
      <p:regular r:id="rId23"/>
    </p:embeddedFont>
    <p:embeddedFont>
      <p:font typeface="Mina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77647" autoAdjust="0"/>
  </p:normalViewPr>
  <p:slideViewPr>
    <p:cSldViewPr>
      <p:cViewPr varScale="1">
        <p:scale>
          <a:sx n="41" d="100"/>
          <a:sy n="41" d="100"/>
        </p:scale>
        <p:origin x="24" y="-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29AB18-A939-4377-AB17-D70335186337}" type="datetimeFigureOut">
              <a:rPr lang="hr-HR" smtClean="0"/>
              <a:t>21.5.2026.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D9E10-0775-4751-ACB0-C6FA9CB5250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13517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U ovom radu obrađujem temu pametnog ugovora za aukciju. Ideja je prikazati kako se klasičan postupak aukcije, u kojem sudionici daju ponude, može prenijeti u </a:t>
            </a:r>
            <a:r>
              <a:rPr lang="hr-HR" dirty="0" err="1"/>
              <a:t>blockchain</a:t>
            </a:r>
            <a:r>
              <a:rPr lang="hr-HR" dirty="0"/>
              <a:t> okruženje. Umjesto da aukciju vodi posrednik, pravila su zapisana u pametnom ugovoru i izvršavaju se automatski. U teorijskom dijelu rada objašnjeni su </a:t>
            </a:r>
            <a:r>
              <a:rPr lang="hr-HR" dirty="0" err="1"/>
              <a:t>blockchain</a:t>
            </a:r>
            <a:r>
              <a:rPr lang="hr-HR" dirty="0"/>
              <a:t>, </a:t>
            </a:r>
            <a:r>
              <a:rPr lang="hr-HR" dirty="0" err="1"/>
              <a:t>Ethereum</a:t>
            </a:r>
            <a:r>
              <a:rPr lang="hr-HR" dirty="0"/>
              <a:t>, </a:t>
            </a:r>
            <a:r>
              <a:rPr lang="hr-HR" dirty="0" err="1"/>
              <a:t>Solidity</a:t>
            </a:r>
            <a:r>
              <a:rPr lang="hr-HR" dirty="0"/>
              <a:t> i pametni ugovori, dok je u praktičnom dijelu prikazana implementacija dva različita pristupa aukciji u </a:t>
            </a:r>
            <a:r>
              <a:rPr lang="hr-HR" dirty="0" err="1"/>
              <a:t>Solidityju</a:t>
            </a:r>
            <a:r>
              <a:rPr lang="hr-HR" dirty="0"/>
              <a:t>. Prvi pristup koristi direktni povrat prethodne ponude, a drugi pristup koristi mapiranje, što omogućuje sigurnije i preglednije upravljanje povratom sredstava.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D9E10-0775-4751-ACB0-C6FA9CB52504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38823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Blockchain</a:t>
            </a:r>
            <a:r>
              <a:rPr lang="hr-HR" dirty="0"/>
              <a:t> možemo shvatiti kao digitalnu knjigu zapisa koja se ne nalazi kod jedne institucije, nego je dijeljena među više sudionika u mreži. Svaka transakcija se nakon provjere zapisuje u blok, a blokovi se povezuju u lanac. Zbog toga je </a:t>
            </a:r>
            <a:r>
              <a:rPr lang="hr-HR" dirty="0" err="1"/>
              <a:t>blockchain</a:t>
            </a:r>
            <a:r>
              <a:rPr lang="hr-HR" dirty="0"/>
              <a:t> važan u digitalnom poslovanju jer smanjuje potrebu za posrednicima i omogućuje sigurniju razmjenu podataka i vrijednosti.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D9E10-0775-4751-ACB0-C6FA9CB52504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52264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Ethereum</a:t>
            </a:r>
            <a:r>
              <a:rPr lang="hr-HR" dirty="0"/>
              <a:t> je važan jer je proširio primjenu </a:t>
            </a:r>
            <a:r>
              <a:rPr lang="hr-HR" dirty="0" err="1"/>
              <a:t>blockchaina</a:t>
            </a:r>
            <a:r>
              <a:rPr lang="hr-HR" dirty="0"/>
              <a:t>. Kod Bitcoina je naglasak bio na prijenosu digitalne vrijednosti, dok </a:t>
            </a:r>
            <a:r>
              <a:rPr lang="hr-HR" dirty="0" err="1"/>
              <a:t>Ethereum</a:t>
            </a:r>
            <a:r>
              <a:rPr lang="hr-HR" dirty="0"/>
              <a:t> omogućuje i izvršavanje programskog koda. Taj kod nazivamo pametnim ugovorom. U ovom projektu pametni ugovor služi za provođenje aukcije, tako da sam ugovor provjerava ponude, pamti najvišeg ponuditelja i omogućuje završetak aukcije prema pravilima koja su unaprijed zapisana u kodu.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D9E10-0775-4751-ACB0-C6FA9CB52504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7228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Solidity</a:t>
            </a:r>
            <a:r>
              <a:rPr lang="hr-HR" dirty="0"/>
              <a:t> je ovdje glavni alat za izradu praktičnog dijela rada. Pomoću njega se pišu pravila aukcije, odnosno što se događa kada korisnik pošalje ponudu, kada je ponuda veća od prethodne i što se događa nakon završetka aukcije. U radu je </a:t>
            </a:r>
            <a:r>
              <a:rPr lang="hr-HR" dirty="0" err="1"/>
              <a:t>Solidity</a:t>
            </a:r>
            <a:r>
              <a:rPr lang="hr-HR" dirty="0"/>
              <a:t> korišten zato što je posebno namijenjen pametnim ugovorima na </a:t>
            </a:r>
            <a:r>
              <a:rPr lang="hr-HR" dirty="0" err="1"/>
              <a:t>Ethereum</a:t>
            </a:r>
            <a:r>
              <a:rPr lang="hr-HR" dirty="0"/>
              <a:t> mreži, a aukcija je jedan od primjera gdje se takvi ugovori mogu jasno primijeniti.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D9E10-0775-4751-ACB0-C6FA9CB52504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44662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Ovaj use </a:t>
            </a:r>
            <a:r>
              <a:rPr lang="hr-HR" dirty="0" err="1"/>
              <a:t>case</a:t>
            </a:r>
            <a:r>
              <a:rPr lang="hr-HR" dirty="0"/>
              <a:t> prikazuje osnovni tijek digitalne aukcije. Vlasnik prvo pokreće aukciju i određuje što se prodaje te koliko aukcija traje. Nakon toga ponuditelji šalju svoje ponude u </a:t>
            </a:r>
            <a:r>
              <a:rPr lang="hr-HR" dirty="0" err="1"/>
              <a:t>Etheru</a:t>
            </a:r>
            <a:r>
              <a:rPr lang="hr-HR" dirty="0"/>
              <a:t>. Svaka nova ponuda mora biti veća od prethodne najviše ponude, inače je pametni ugovor odbija. Kada vrijeme aukcije istekne, aukcija se završava i pobjednikom se smatra ponuditelj koji je poslao najveći iznos. Na taj način pametni ugovor automatski provodi pravila aukcije bez potrebe za posrednikom.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D9E10-0775-4751-ACB0-C6FA9CB52504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135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 ovom slajdu objašnjavam osnovni način rada ugovora. Prvo se ugovor pokreće u </a:t>
            </a:r>
            <a:r>
              <a:rPr lang="hr-HR" dirty="0" err="1"/>
              <a:t>Remix</a:t>
            </a:r>
            <a:r>
              <a:rPr lang="hr-HR" dirty="0"/>
              <a:t> VM okruženju. Tada se automatski izvršava konstruktor, koji postavlja početno stanje aukcije, odnosno vlasnika, predmet i trajanje aukcije. Nakon toga korisnici mogu slati ponude pomoću funkcije </a:t>
            </a:r>
            <a:r>
              <a:rPr lang="hr-H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ponudi()</a:t>
            </a:r>
            <a:r>
              <a:rPr lang="hr-HR" dirty="0"/>
              <a:t>. Svaka ponuda mora biti veća od prethodne najviše ponude, inače se transakcija odbija. Kada vrijeme aukcije istekne, poziva se funkcija </a:t>
            </a:r>
            <a:r>
              <a:rPr lang="hr-H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zavrsiAukciju</a:t>
            </a:r>
            <a:r>
              <a:rPr lang="hr-H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hr-HR" dirty="0"/>
              <a:t>, kojom se aukcija zaključuje i ostaje zapisan pobjednik s najvećom ponudom. Funkcije se u </a:t>
            </a:r>
            <a:r>
              <a:rPr lang="hr-HR" dirty="0" err="1"/>
              <a:t>Solidityju</a:t>
            </a:r>
            <a:r>
              <a:rPr lang="hr-HR" dirty="0"/>
              <a:t> koriste za podjelu programa na manje cjeline, a konstruktor služi za početno postavljanje ugovora. 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D9E10-0775-4751-ACB0-C6FA9CB52504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5382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B615C-6E0F-3647-B34B-00D59B7A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9DD99243-4D2C-F5E1-67CD-B0021238F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9C2362E2-1D4C-4509-E64F-AB6C3D931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Prvi pristup je osnovna verzija aukcije. Kada novi ponuditelj pošalje veću ponudu, pametni ugovor odmah vraća sredstva prethodnom najvišem ponuditelju. Nakon toga se nova adresa i novi iznos spremaju kao trenutno vodeća ponuda. Ovaj pristup je dobar za razumijevanje osnovne logike aukcije, ali nije najbolji za složenije situacije jer se povrat sredstava događa odmah u trenutku slanja nove ponude.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B2F57977-9FE4-2EFF-650D-A55A62B5D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DD9E10-0775-4751-ACB0-C6FA9CB52504}" type="slidenum">
              <a:rPr kumimoji="0" lang="hr-H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hr-H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2901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AFC2-EE59-BEFE-6708-A6BAD9155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CBF170A6-D980-D3F9-86EB-CE6644847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593592FB-B1C7-1E43-A72F-17E0399C9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Blockchain</a:t>
            </a:r>
            <a:r>
              <a:rPr lang="hr-HR" dirty="0"/>
              <a:t> možemo shvatiti kao digitalnu knjigu zapisa koja se ne nalazi kod jedne institucije, nego je dijeljena među više sudionika u mreži. Svaka transakcija se nakon provjere zapisuje u blok, a blokovi se povezuju u lanac. Zbog toga je </a:t>
            </a:r>
            <a:r>
              <a:rPr lang="hr-HR" dirty="0" err="1"/>
              <a:t>blockchain</a:t>
            </a:r>
            <a:r>
              <a:rPr lang="hr-HR" dirty="0"/>
              <a:t> važan u digitalnom poslovanju jer smanjuje potrebu za posrednicima i omogućuje sigurniju razmjenu podataka i vrijednosti.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7FD8A8F6-F0CC-7346-238A-D4644D36D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DD9E10-0775-4751-ACB0-C6FA9CB52504}" type="slidenum">
              <a:rPr kumimoji="0" lang="hr-H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hr-H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5540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3997F-9EFF-3F4A-CB3F-64A0B47D2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D11A1ECD-E989-9A68-09B8-02F4B1E6F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93E9C305-2E2B-788D-4AF7-46FC37FB4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Blockchain</a:t>
            </a:r>
            <a:r>
              <a:rPr lang="hr-HR" dirty="0"/>
              <a:t> možemo shvatiti kao digitalnu knjigu zapisa koja se ne nalazi kod jedne institucije, nego je dijeljena među više sudionika u mreži. Svaka transakcija se nakon provjere zapisuje u blok, a blokovi se povezuju u lanac. Zbog toga je </a:t>
            </a:r>
            <a:r>
              <a:rPr lang="hr-HR" dirty="0" err="1"/>
              <a:t>blockchain</a:t>
            </a:r>
            <a:r>
              <a:rPr lang="hr-HR" dirty="0"/>
              <a:t> važan u digitalnom poslovanju jer smanjuje potrebu za posrednicima i omogućuje sigurniju razmjenu podataka i vrijednosti.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74898506-451A-DBC3-BE2B-247A4B950E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DD9E10-0775-4751-ACB0-C6FA9CB52504}" type="slidenum">
              <a:rPr kumimoji="0" lang="hr-H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hr-H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2757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22247-60D9-F53B-576A-11D2E5D1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7EC39D80-76E8-34A5-9624-300C8224F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F2E92961-264D-97B8-794D-271F5E15D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Kod drugog pristupa povrat sredstava nije automatski u istoj transakciji. Kada je ponuda nadmašena, iznos se sprema u mapiranje </a:t>
            </a:r>
            <a:r>
              <a:rPr lang="hr-H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povrati</a:t>
            </a:r>
            <a:r>
              <a:rPr lang="hr-HR" dirty="0"/>
              <a:t>, a korisnik ga kasnije sam povlači funkcijom </a:t>
            </a:r>
            <a:r>
              <a:rPr lang="hr-H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povuciPovrat</a:t>
            </a:r>
            <a:r>
              <a:rPr lang="hr-H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hr-HR" dirty="0"/>
              <a:t>. Ovo je bolje rješenje jer odvaja logiku davanja ponude od logike povrata sredstava.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378B302D-CBCD-6585-281F-2EE676641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DD9E10-0775-4751-ACB0-C6FA9CB52504}" type="slidenum">
              <a:rPr kumimoji="0" lang="hr-H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hr-H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6142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A6964-54F0-42BB-962F-F6E5D9A5F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0A006F0F-1962-0422-6DF5-D920CBAF6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EE72601A-B447-FB20-4559-656F1660A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Blockchain</a:t>
            </a:r>
            <a:r>
              <a:rPr lang="hr-HR" dirty="0"/>
              <a:t> možemo shvatiti kao digitalnu knjigu zapisa koja se ne nalazi kod jedne institucije, nego je dijeljena među više sudionika u mreži. Svaka transakcija se nakon provjere zapisuje u blok, a blokovi se povezuju u lanac. Zbog toga je </a:t>
            </a:r>
            <a:r>
              <a:rPr lang="hr-HR" dirty="0" err="1"/>
              <a:t>blockchain</a:t>
            </a:r>
            <a:r>
              <a:rPr lang="hr-HR" dirty="0"/>
              <a:t> važan u digitalnom poslovanju jer smanjuje potrebu za posrednicima i omogućuje sigurniju razmjenu podataka i vrijednosti.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230B7890-0392-5D2C-16FC-D2D3D821D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DD9E10-0775-4751-ACB0-C6FA9CB52504}" type="slidenum">
              <a:rPr kumimoji="0" lang="hr-H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hr-H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1487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F98E7-1F6B-D13A-4CA3-E234EA470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C4BE2317-9BE1-D04E-8F70-960F9B654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171C7C9D-0290-216C-6E94-AA6C72D58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Blockchain</a:t>
            </a:r>
            <a:r>
              <a:rPr lang="hr-HR" dirty="0"/>
              <a:t> možemo shvatiti kao digitalnu knjigu zapisa koja se ne nalazi kod jedne institucije, nego je dijeljena među više sudionika u mreži. Svaka transakcija se nakon provjere zapisuje u blok, a blokovi se povezuju u lanac. Zbog toga je </a:t>
            </a:r>
            <a:r>
              <a:rPr lang="hr-HR" dirty="0" err="1"/>
              <a:t>blockchain</a:t>
            </a:r>
            <a:r>
              <a:rPr lang="hr-HR" dirty="0"/>
              <a:t> važan u digitalnom poslovanju jer smanjuje potrebu za posrednicima i omogućuje sigurniju razmjenu podataka i vrijednosti.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C265E8C1-DC6A-E15B-A287-27C7A5E2C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DD9E10-0775-4751-ACB0-C6FA9CB52504}" type="slidenum">
              <a:rPr kumimoji="0" lang="hr-H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hr-H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65255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U ovom ugovoru korištene su osnovne </a:t>
            </a:r>
            <a:r>
              <a:rPr lang="hr-HR" dirty="0" err="1"/>
              <a:t>Solidity</a:t>
            </a:r>
            <a:r>
              <a:rPr lang="hr-HR" dirty="0"/>
              <a:t> značajke potrebne za rad aukcije. </a:t>
            </a:r>
            <a:r>
              <a:rPr lang="hr-H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msg.sender</a:t>
            </a:r>
            <a:r>
              <a:rPr lang="hr-HR" dirty="0"/>
              <a:t> govori tko poziva funkciju, </a:t>
            </a:r>
            <a:r>
              <a:rPr lang="hr-H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msg.value</a:t>
            </a:r>
            <a:r>
              <a:rPr lang="hr-HR" dirty="0"/>
              <a:t> koliko je </a:t>
            </a:r>
            <a:r>
              <a:rPr lang="hr-HR" dirty="0" err="1"/>
              <a:t>Ethera</a:t>
            </a:r>
            <a:r>
              <a:rPr lang="hr-HR" dirty="0"/>
              <a:t> poslano, a </a:t>
            </a:r>
            <a:r>
              <a:rPr lang="hr-H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block.timestamp</a:t>
            </a:r>
            <a:r>
              <a:rPr lang="hr-HR" dirty="0"/>
              <a:t> omogućuje provjeru vremena. </a:t>
            </a:r>
            <a:r>
              <a:rPr lang="hr-H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</a:t>
            </a:r>
            <a:r>
              <a:rPr lang="hr-HR" dirty="0"/>
              <a:t> zaustavlja funkciju ako uvjet nije ispunjen, dok </a:t>
            </a:r>
            <a:r>
              <a:rPr lang="hr-H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modifier</a:t>
            </a:r>
            <a:r>
              <a:rPr lang="hr-HR" dirty="0"/>
              <a:t> služi kao dodatno pravilo koje određuje kada se neka funkcija smije izvršiti.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D9E10-0775-4751-ACB0-C6FA9CB52504}" type="slidenum">
              <a:rPr lang="hr-HR" smtClean="0"/>
              <a:t>15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45411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0679D-54EA-90CF-8688-92239A3F5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2D831459-20C4-307A-FBBD-CBAB8A1DF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FFCFCA54-BD92-66DA-E559-CFBF18DA3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U radu su prikazana dva pristupa izradi aukcijskog pametnog ugovora. Oba pristupa imaju isti cilj, a to je omogućiti korisnicima da šalju ponude u </a:t>
            </a:r>
            <a:r>
              <a:rPr lang="hr-HR" dirty="0" err="1"/>
              <a:t>Etheru</a:t>
            </a:r>
            <a:r>
              <a:rPr lang="hr-HR" dirty="0"/>
              <a:t> i da nakon završetka aukcije pobijedi korisnik s najvećom ponudom.</a:t>
            </a:r>
          </a:p>
          <a:p>
            <a:r>
              <a:rPr lang="hr-HR" dirty="0"/>
              <a:t>Razlika je u načinu povrata sredstava. Kod prvog pristupa, prethodnom najvišem ponuditelju </a:t>
            </a:r>
            <a:r>
              <a:rPr lang="hr-HR" dirty="0" err="1"/>
              <a:t>Ether</a:t>
            </a:r>
            <a:r>
              <a:rPr lang="hr-HR" dirty="0"/>
              <a:t> se vraća odmah kada ga nadmaši nova ponuda. To je jednostavnije rješenje i dobro prikazuje osnovnu logiku aukcije.</a:t>
            </a:r>
          </a:p>
          <a:p>
            <a:r>
              <a:rPr lang="hr-HR" dirty="0"/>
              <a:t>Kod drugog pristupa povrat se ne izvršava odmah, nego se iznos sprema u mapiranje </a:t>
            </a:r>
            <a:r>
              <a:rPr lang="hr-H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povrati</a:t>
            </a:r>
            <a:r>
              <a:rPr lang="hr-HR" dirty="0"/>
              <a:t>. Korisnik kasnije sam poziva funkciju </a:t>
            </a:r>
            <a:r>
              <a:rPr lang="hr-H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povuciPovrat</a:t>
            </a:r>
            <a:r>
              <a:rPr lang="hr-H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hr-HR" dirty="0"/>
              <a:t> i preuzima svoj iznos. Zbog toga je drugi pristup bolji jer razdvaja davanje ponude od povrata sredstava i čini ugovor preglednijim.</a:t>
            </a:r>
          </a:p>
          <a:p>
            <a:endParaRPr lang="hr-HR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4026AEB7-D383-92C1-1734-CFB5815152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DD9E10-0775-4751-ACB0-C6FA9CB52504}" type="slidenum">
              <a:rPr kumimoji="0" lang="hr-H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hr-H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33995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E9C02-6D2A-A1FA-C1A0-BA9A50815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259D3308-9797-8410-78B8-95851325D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BB360048-3CB8-36C8-F7D0-3BEBD4E86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Ethereum</a:t>
            </a:r>
            <a:r>
              <a:rPr lang="hr-HR" dirty="0"/>
              <a:t> je važan jer je proširio primjenu </a:t>
            </a:r>
            <a:r>
              <a:rPr lang="hr-HR" dirty="0" err="1"/>
              <a:t>blockchaina</a:t>
            </a:r>
            <a:r>
              <a:rPr lang="hr-HR" dirty="0"/>
              <a:t>. Kod Bitcoina je naglasak bio na prijenosu digitalne vrijednosti, dok </a:t>
            </a:r>
            <a:r>
              <a:rPr lang="hr-HR" dirty="0" err="1"/>
              <a:t>Ethereum</a:t>
            </a:r>
            <a:r>
              <a:rPr lang="hr-HR" dirty="0"/>
              <a:t> omogućuje i izvršavanje programskog koda. Taj kod nazivamo pametnim ugovorom. U ovom projektu pametni ugovor služi za provođenje aukcije, tako da sam ugovor provjerava ponude, pamti najvišeg ponuditelja i omogućuje završetak aukcije prema pravilima koja su unaprijed zapisana u kodu.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E819DE16-904B-13F1-D186-EF1C8FE76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DD9E10-0775-4751-ACB0-C6FA9CB52504}" type="slidenum">
              <a:rPr kumimoji="0" lang="hr-H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hr-H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33053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2C310-69F3-6D78-A921-546F2011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D30C6D67-9084-92C9-A28D-0F17BE806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C71DC767-E1F6-3071-7C53-A4940E7AE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Solidity</a:t>
            </a:r>
            <a:r>
              <a:rPr lang="hr-HR" dirty="0"/>
              <a:t> je ovdje glavni alat za izradu praktičnog dijela rada. Pomoću njega se pišu pravila aukcije, odnosno što se događa kada korisnik pošalje ponudu, kada je ponuda veća od prethodne i što se događa nakon završetka aukcije. U radu je </a:t>
            </a:r>
            <a:r>
              <a:rPr lang="hr-HR" dirty="0" err="1"/>
              <a:t>Solidity</a:t>
            </a:r>
            <a:r>
              <a:rPr lang="hr-HR" dirty="0"/>
              <a:t> korišten zato što je posebno namijenjen pametnim ugovorima na </a:t>
            </a:r>
            <a:r>
              <a:rPr lang="hr-HR" dirty="0" err="1"/>
              <a:t>Ethereum</a:t>
            </a:r>
            <a:r>
              <a:rPr lang="hr-HR" dirty="0"/>
              <a:t> mreži, a aukcija je jedan od primjera gdje se takvi ugovori mogu jasno primijeniti.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99E10FAE-7ACC-3133-9AFD-428E7EFDFE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DD9E10-0775-4751-ACB0-C6FA9CB52504}" type="slidenum">
              <a:rPr kumimoji="0" lang="hr-H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hr-H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44737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D9E10-0775-4751-ACB0-C6FA9CB52504}" type="slidenum">
              <a:rPr lang="hr-HR" smtClean="0"/>
              <a:t>19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65105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sv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sv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D6489D-3AB7-B98B-24DF-983DEB6F8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56BF4BBC-3E6D-915A-5FE5-DD6496B6A7BE}"/>
              </a:ext>
            </a:extLst>
          </p:cNvPr>
          <p:cNvSpPr/>
          <p:nvPr/>
        </p:nvSpPr>
        <p:spPr>
          <a:xfrm>
            <a:off x="10720294" y="-212216"/>
            <a:ext cx="10205074" cy="10711432"/>
          </a:xfrm>
          <a:custGeom>
            <a:avLst/>
            <a:gdLst/>
            <a:ahLst/>
            <a:cxnLst/>
            <a:rect l="l" t="t" r="r" b="b"/>
            <a:pathLst>
              <a:path w="10205074" h="10711432">
                <a:moveTo>
                  <a:pt x="0" y="0"/>
                </a:moveTo>
                <a:lnTo>
                  <a:pt x="10205073" y="0"/>
                </a:lnTo>
                <a:lnTo>
                  <a:pt x="10205073" y="10711432"/>
                </a:lnTo>
                <a:lnTo>
                  <a:pt x="0" y="10711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r-H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95C217B-77A9-14FD-19A8-CC78D09FD1C9}"/>
              </a:ext>
            </a:extLst>
          </p:cNvPr>
          <p:cNvSpPr txBox="1"/>
          <p:nvPr/>
        </p:nvSpPr>
        <p:spPr>
          <a:xfrm>
            <a:off x="1030771" y="879045"/>
            <a:ext cx="9773519" cy="3642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2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58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Pametni </a:t>
            </a:r>
            <a:r>
              <a:rPr kumimoji="0" lang="en-US" sz="10158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ugovor</a:t>
            </a:r>
            <a:r>
              <a:rPr kumimoji="0" lang="en-US" sz="10158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 za </a:t>
            </a:r>
            <a:r>
              <a:rPr kumimoji="0" lang="en-US" sz="10158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aukciju</a:t>
            </a:r>
            <a:endParaRPr kumimoji="0" lang="en-US" sz="10158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 Bold"/>
              <a:ea typeface="Mina Bold"/>
              <a:cs typeface="Mina Bold"/>
              <a:sym typeface="Mina Bo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C865E1B-8C98-8316-B34E-E6FF37756F82}"/>
              </a:ext>
            </a:extLst>
          </p:cNvPr>
          <p:cNvGrpSpPr/>
          <p:nvPr/>
        </p:nvGrpSpPr>
        <p:grpSpPr>
          <a:xfrm>
            <a:off x="14978712" y="896403"/>
            <a:ext cx="2280588" cy="673130"/>
            <a:chOff x="0" y="0"/>
            <a:chExt cx="505529" cy="14921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F358BC7-2469-6A0E-96EA-A9FB18256214}"/>
                </a:ext>
              </a:extLst>
            </p:cNvPr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r-H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64157C40-1F81-4110-D733-32A04D173447}"/>
                </a:ext>
              </a:extLst>
            </p:cNvPr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B4636B2-FF16-470C-66C2-8977F4204198}"/>
              </a:ext>
            </a:extLst>
          </p:cNvPr>
          <p:cNvGrpSpPr/>
          <p:nvPr/>
        </p:nvGrpSpPr>
        <p:grpSpPr>
          <a:xfrm>
            <a:off x="16648506" y="989966"/>
            <a:ext cx="482922" cy="486004"/>
            <a:chOff x="0" y="0"/>
            <a:chExt cx="107047" cy="10773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8D3D205-DDDC-1310-5282-9276FC1CB5D0}"/>
                </a:ext>
              </a:extLst>
            </p:cNvPr>
            <p:cNvSpPr/>
            <p:nvPr/>
          </p:nvSpPr>
          <p:spPr>
            <a:xfrm>
              <a:off x="0" y="0"/>
              <a:ext cx="107047" cy="107731"/>
            </a:xfrm>
            <a:custGeom>
              <a:avLst/>
              <a:gdLst/>
              <a:ahLst/>
              <a:cxnLst/>
              <a:rect l="l" t="t" r="r" b="b"/>
              <a:pathLst>
                <a:path w="107047" h="107731">
                  <a:moveTo>
                    <a:pt x="53524" y="0"/>
                  </a:moveTo>
                  <a:lnTo>
                    <a:pt x="53524" y="0"/>
                  </a:lnTo>
                  <a:cubicBezTo>
                    <a:pt x="67719" y="0"/>
                    <a:pt x="81333" y="5639"/>
                    <a:pt x="91371" y="15677"/>
                  </a:cubicBezTo>
                  <a:cubicBezTo>
                    <a:pt x="101408" y="25714"/>
                    <a:pt x="107047" y="39328"/>
                    <a:pt x="107047" y="53524"/>
                  </a:cubicBezTo>
                  <a:lnTo>
                    <a:pt x="107047" y="54207"/>
                  </a:lnTo>
                  <a:cubicBezTo>
                    <a:pt x="107047" y="68402"/>
                    <a:pt x="101408" y="82016"/>
                    <a:pt x="91371" y="92054"/>
                  </a:cubicBezTo>
                  <a:cubicBezTo>
                    <a:pt x="81333" y="102091"/>
                    <a:pt x="67719" y="107731"/>
                    <a:pt x="53524" y="107731"/>
                  </a:cubicBezTo>
                  <a:lnTo>
                    <a:pt x="53524" y="107731"/>
                  </a:lnTo>
                  <a:cubicBezTo>
                    <a:pt x="39328" y="107731"/>
                    <a:pt x="25714" y="102091"/>
                    <a:pt x="15677" y="92054"/>
                  </a:cubicBezTo>
                  <a:cubicBezTo>
                    <a:pt x="5639" y="82016"/>
                    <a:pt x="0" y="68402"/>
                    <a:pt x="0" y="54207"/>
                  </a:cubicBezTo>
                  <a:lnTo>
                    <a:pt x="0" y="53524"/>
                  </a:lnTo>
                  <a:cubicBezTo>
                    <a:pt x="0" y="39328"/>
                    <a:pt x="5639" y="25714"/>
                    <a:pt x="15677" y="15677"/>
                  </a:cubicBezTo>
                  <a:cubicBezTo>
                    <a:pt x="25714" y="5639"/>
                    <a:pt x="39328" y="0"/>
                    <a:pt x="5352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r-H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7AB383A5-69BD-9F50-A385-5F6BDECD7623}"/>
                </a:ext>
              </a:extLst>
            </p:cNvPr>
            <p:cNvSpPr txBox="1"/>
            <p:nvPr/>
          </p:nvSpPr>
          <p:spPr>
            <a:xfrm>
              <a:off x="0" y="-38100"/>
              <a:ext cx="107047" cy="145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" name="Freeform 17">
            <a:extLst>
              <a:ext uri="{FF2B5EF4-FFF2-40B4-BE49-F238E27FC236}">
                <a16:creationId xmlns:a16="http://schemas.microsoft.com/office/drawing/2014/main" id="{AE668E81-A74A-2EF3-484E-F45F66A04F7B}"/>
              </a:ext>
            </a:extLst>
          </p:cNvPr>
          <p:cNvSpPr/>
          <p:nvPr/>
        </p:nvSpPr>
        <p:spPr>
          <a:xfrm>
            <a:off x="16785314" y="1118079"/>
            <a:ext cx="209307" cy="229778"/>
          </a:xfrm>
          <a:custGeom>
            <a:avLst/>
            <a:gdLst/>
            <a:ahLst/>
            <a:cxnLst/>
            <a:rect l="l" t="t" r="r" b="b"/>
            <a:pathLst>
              <a:path w="209307" h="229778">
                <a:moveTo>
                  <a:pt x="0" y="0"/>
                </a:moveTo>
                <a:lnTo>
                  <a:pt x="209307" y="0"/>
                </a:lnTo>
                <a:lnTo>
                  <a:pt x="209307" y="229778"/>
                </a:lnTo>
                <a:lnTo>
                  <a:pt x="0" y="229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r-H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EEC01C8-0DF8-80DF-7E68-F36E08747D53}"/>
              </a:ext>
            </a:extLst>
          </p:cNvPr>
          <p:cNvSpPr txBox="1"/>
          <p:nvPr/>
        </p:nvSpPr>
        <p:spPr>
          <a:xfrm>
            <a:off x="15402683" y="1015962"/>
            <a:ext cx="1245823" cy="40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3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5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"/>
                <a:ea typeface="Mina"/>
                <a:cs typeface="Mina"/>
                <a:sym typeface="Mina"/>
              </a:rPr>
              <a:t>Search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E4212AF-FD3A-C27A-5B86-9C9A5AAF2458}"/>
              </a:ext>
            </a:extLst>
          </p:cNvPr>
          <p:cNvSpPr txBox="1"/>
          <p:nvPr/>
        </p:nvSpPr>
        <p:spPr>
          <a:xfrm>
            <a:off x="1030771" y="8894994"/>
            <a:ext cx="8570429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r-HR" sz="282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Izradio: Zdravko Blažević</a:t>
            </a:r>
          </a:p>
          <a:p>
            <a:pPr marL="0" marR="0" lvl="0" indent="0" algn="l" defTabSz="914400" rtl="0" eaLnBrk="1" fontAlgn="auto" latinLnBrk="0" hangingPunct="1"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r-HR" sz="2829" b="1" dirty="0" err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Mentrica</a:t>
            </a:r>
            <a:r>
              <a:rPr lang="hr-HR" sz="2829" b="1" dirty="0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: Dr. sc. </a:t>
            </a:r>
            <a:r>
              <a:rPr lang="hr-HR" sz="2829" b="1" dirty="0" err="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socio</a:t>
            </a:r>
            <a:r>
              <a:rPr lang="hr-HR" sz="2829" b="1" dirty="0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. Snježana Križanić</a:t>
            </a:r>
            <a:endParaRPr kumimoji="0" lang="en-US" sz="2829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 Bold"/>
              <a:ea typeface="Mina Bold"/>
              <a:cs typeface="Mina Bold"/>
              <a:sym typeface="Mina Bold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5974973D-E789-489D-35B5-7782FB1943A7}"/>
              </a:ext>
            </a:extLst>
          </p:cNvPr>
          <p:cNvSpPr/>
          <p:nvPr/>
        </p:nvSpPr>
        <p:spPr>
          <a:xfrm>
            <a:off x="10872694" y="-59816"/>
            <a:ext cx="10205074" cy="10711432"/>
          </a:xfrm>
          <a:custGeom>
            <a:avLst/>
            <a:gdLst/>
            <a:ahLst/>
            <a:cxnLst/>
            <a:rect l="l" t="t" r="r" b="b"/>
            <a:pathLst>
              <a:path w="10205074" h="10711432">
                <a:moveTo>
                  <a:pt x="0" y="0"/>
                </a:moveTo>
                <a:lnTo>
                  <a:pt x="10205073" y="0"/>
                </a:lnTo>
                <a:lnTo>
                  <a:pt x="10205073" y="10711432"/>
                </a:lnTo>
                <a:lnTo>
                  <a:pt x="0" y="10711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r-H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5734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C3BFF">
                <a:alpha val="100000"/>
              </a:srgbClr>
            </a:gs>
            <a:gs pos="100000">
              <a:srgbClr val="B664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8990C7-998C-6307-30A9-E80BBD77D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0C4ACCE-24E9-8AA1-337D-DFF1998A1F01}"/>
              </a:ext>
            </a:extLst>
          </p:cNvPr>
          <p:cNvGrpSpPr/>
          <p:nvPr/>
        </p:nvGrpSpPr>
        <p:grpSpPr>
          <a:xfrm rot="5883540">
            <a:off x="3497510" y="-4492584"/>
            <a:ext cx="9671506" cy="20080965"/>
            <a:chOff x="0" y="0"/>
            <a:chExt cx="2547228" cy="528881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C8A03A5-D5AE-B7E3-23CB-FD93884D565A}"/>
                </a:ext>
              </a:extLst>
            </p:cNvPr>
            <p:cNvSpPr/>
            <p:nvPr/>
          </p:nvSpPr>
          <p:spPr>
            <a:xfrm>
              <a:off x="0" y="0"/>
              <a:ext cx="2547228" cy="5288814"/>
            </a:xfrm>
            <a:custGeom>
              <a:avLst/>
              <a:gdLst/>
              <a:ahLst/>
              <a:cxnLst/>
              <a:rect l="l" t="t" r="r" b="b"/>
              <a:pathLst>
                <a:path w="2547228" h="5288814">
                  <a:moveTo>
                    <a:pt x="44827" y="0"/>
                  </a:moveTo>
                  <a:lnTo>
                    <a:pt x="2502401" y="0"/>
                  </a:lnTo>
                  <a:cubicBezTo>
                    <a:pt x="2527158" y="0"/>
                    <a:pt x="2547228" y="20070"/>
                    <a:pt x="2547228" y="44827"/>
                  </a:cubicBezTo>
                  <a:lnTo>
                    <a:pt x="2547228" y="5243987"/>
                  </a:lnTo>
                  <a:cubicBezTo>
                    <a:pt x="2547228" y="5255875"/>
                    <a:pt x="2542505" y="5267277"/>
                    <a:pt x="2534098" y="5275684"/>
                  </a:cubicBezTo>
                  <a:cubicBezTo>
                    <a:pt x="2525692" y="5284091"/>
                    <a:pt x="2514290" y="5288814"/>
                    <a:pt x="2502401" y="5288814"/>
                  </a:cubicBezTo>
                  <a:lnTo>
                    <a:pt x="44827" y="5288814"/>
                  </a:lnTo>
                  <a:cubicBezTo>
                    <a:pt x="32938" y="5288814"/>
                    <a:pt x="21536" y="5284091"/>
                    <a:pt x="13130" y="5275684"/>
                  </a:cubicBezTo>
                  <a:cubicBezTo>
                    <a:pt x="4723" y="5267277"/>
                    <a:pt x="0" y="5255875"/>
                    <a:pt x="0" y="5243987"/>
                  </a:cubicBezTo>
                  <a:lnTo>
                    <a:pt x="0" y="44827"/>
                  </a:lnTo>
                  <a:cubicBezTo>
                    <a:pt x="0" y="20070"/>
                    <a:pt x="20070" y="0"/>
                    <a:pt x="448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3BFF">
                    <a:alpha val="100000"/>
                  </a:srgbClr>
                </a:gs>
                <a:gs pos="100000">
                  <a:srgbClr val="B664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r-H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831A118-958D-79FC-D6C1-4567E7A112B1}"/>
                </a:ext>
              </a:extLst>
            </p:cNvPr>
            <p:cNvSpPr txBox="1"/>
            <p:nvPr/>
          </p:nvSpPr>
          <p:spPr>
            <a:xfrm>
              <a:off x="0" y="-38100"/>
              <a:ext cx="2547228" cy="5326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084ECBBE-11F8-C6AD-869F-0E9429F23E09}"/>
              </a:ext>
            </a:extLst>
          </p:cNvPr>
          <p:cNvSpPr txBox="1"/>
          <p:nvPr/>
        </p:nvSpPr>
        <p:spPr>
          <a:xfrm>
            <a:off x="1143000" y="1028700"/>
            <a:ext cx="8985563" cy="2398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6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r-HR" sz="1335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Sadržaj</a:t>
            </a:r>
            <a:endParaRPr kumimoji="0" lang="en-US" sz="1335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 Bold"/>
              <a:ea typeface="Mina Bold"/>
              <a:cs typeface="Mina Bold"/>
              <a:sym typeface="Mina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6E34976-198B-0FD4-93C1-2277EAB950F4}"/>
              </a:ext>
            </a:extLst>
          </p:cNvPr>
          <p:cNvSpPr txBox="1"/>
          <p:nvPr/>
        </p:nvSpPr>
        <p:spPr>
          <a:xfrm>
            <a:off x="1950087" y="3988137"/>
            <a:ext cx="6454792" cy="4353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marR="0" lvl="0" indent="-5143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Tema rada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514350" marR="0" lvl="0" indent="-5143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Blockchain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514350" marR="0" lvl="0" indent="-5143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Ethereum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pametni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ugovori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514350" marR="0" lvl="0" indent="-5143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Solidity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514350" marR="0" lvl="0" indent="-5143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Use case: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aukcija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514350" marR="0" lvl="0" indent="-5143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Način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rada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ugovora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00E2B293-0621-62DB-41C9-399F31ABDEFC}"/>
              </a:ext>
            </a:extLst>
          </p:cNvPr>
          <p:cNvSpPr txBox="1"/>
          <p:nvPr/>
        </p:nvSpPr>
        <p:spPr>
          <a:xfrm>
            <a:off x="8839200" y="3988138"/>
            <a:ext cx="6629400" cy="3614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marR="0" lvl="0" indent="-5143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7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Pristup 1: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direktni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povrat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514350" marR="0" lvl="0" indent="-5143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7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Pristup 2: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mapiranje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povrata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514350" marR="0" lvl="0" indent="-5143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7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Usporedba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dva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pristupa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514350" marR="0" lvl="0" indent="-5143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7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Zaključak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514350" marR="0" lvl="0" indent="-5143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7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Literatura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1927869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E6BDB-D9BD-AF3B-9E1C-3BA1F72A4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44C4900F-462F-E992-9FF2-E43507D7DEC8}"/>
              </a:ext>
            </a:extLst>
          </p:cNvPr>
          <p:cNvGrpSpPr/>
          <p:nvPr/>
        </p:nvGrpSpPr>
        <p:grpSpPr>
          <a:xfrm>
            <a:off x="-514350" y="7478714"/>
            <a:ext cx="9983660" cy="3351211"/>
            <a:chOff x="0" y="0"/>
            <a:chExt cx="2629441" cy="882624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D9F3869-7A53-8801-18F1-B5FAAEF3D5E6}"/>
                </a:ext>
              </a:extLst>
            </p:cNvPr>
            <p:cNvSpPr/>
            <p:nvPr/>
          </p:nvSpPr>
          <p:spPr>
            <a:xfrm>
              <a:off x="0" y="0"/>
              <a:ext cx="2629441" cy="882624"/>
            </a:xfrm>
            <a:custGeom>
              <a:avLst/>
              <a:gdLst/>
              <a:ahLst/>
              <a:cxnLst/>
              <a:rect l="l" t="t" r="r" b="b"/>
              <a:pathLst>
                <a:path w="2629441" h="882624">
                  <a:moveTo>
                    <a:pt x="43426" y="0"/>
                  </a:moveTo>
                  <a:lnTo>
                    <a:pt x="2586016" y="0"/>
                  </a:lnTo>
                  <a:cubicBezTo>
                    <a:pt x="2597533" y="0"/>
                    <a:pt x="2608578" y="4575"/>
                    <a:pt x="2616722" y="12719"/>
                  </a:cubicBezTo>
                  <a:cubicBezTo>
                    <a:pt x="2624866" y="20863"/>
                    <a:pt x="2629441" y="31908"/>
                    <a:pt x="2629441" y="43426"/>
                  </a:cubicBezTo>
                  <a:lnTo>
                    <a:pt x="2629441" y="839198"/>
                  </a:lnTo>
                  <a:cubicBezTo>
                    <a:pt x="2629441" y="850715"/>
                    <a:pt x="2624866" y="861761"/>
                    <a:pt x="2616722" y="869904"/>
                  </a:cubicBezTo>
                  <a:cubicBezTo>
                    <a:pt x="2608578" y="878048"/>
                    <a:pt x="2597533" y="882624"/>
                    <a:pt x="2586016" y="882624"/>
                  </a:cubicBezTo>
                  <a:lnTo>
                    <a:pt x="43426" y="882624"/>
                  </a:lnTo>
                  <a:cubicBezTo>
                    <a:pt x="19442" y="882624"/>
                    <a:pt x="0" y="863181"/>
                    <a:pt x="0" y="839198"/>
                  </a:cubicBezTo>
                  <a:lnTo>
                    <a:pt x="0" y="43426"/>
                  </a:lnTo>
                  <a:cubicBezTo>
                    <a:pt x="0" y="31908"/>
                    <a:pt x="4575" y="20863"/>
                    <a:pt x="12719" y="12719"/>
                  </a:cubicBezTo>
                  <a:cubicBezTo>
                    <a:pt x="20863" y="4575"/>
                    <a:pt x="31908" y="0"/>
                    <a:pt x="43426" y="0"/>
                  </a:cubicBezTo>
                  <a:close/>
                </a:path>
              </a:pathLst>
            </a:custGeom>
            <a:solidFill>
              <a:srgbClr val="6647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r-H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AC9B5EB-09B9-425B-23BD-93FB2DAA33F9}"/>
                </a:ext>
              </a:extLst>
            </p:cNvPr>
            <p:cNvSpPr txBox="1"/>
            <p:nvPr/>
          </p:nvSpPr>
          <p:spPr>
            <a:xfrm>
              <a:off x="0" y="-38100"/>
              <a:ext cx="2629441" cy="9207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740FB711-F299-BA7B-6210-FA4E7308FF96}"/>
              </a:ext>
            </a:extLst>
          </p:cNvPr>
          <p:cNvSpPr txBox="1"/>
          <p:nvPr/>
        </p:nvSpPr>
        <p:spPr>
          <a:xfrm>
            <a:off x="582951" y="989966"/>
            <a:ext cx="7789058" cy="144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3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r-HR" sz="80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Tema rada</a:t>
            </a:r>
            <a:endParaRPr kumimoji="0" lang="en-US" sz="809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 Bold"/>
              <a:ea typeface="Mina Bold"/>
              <a:cs typeface="Mina Bold"/>
              <a:sym typeface="Mina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109882-01C6-4A6F-CCA6-BD4537BCAC76}"/>
              </a:ext>
            </a:extLst>
          </p:cNvPr>
          <p:cNvSpPr txBox="1"/>
          <p:nvPr/>
        </p:nvSpPr>
        <p:spPr>
          <a:xfrm>
            <a:off x="1143001" y="2860845"/>
            <a:ext cx="15642314" cy="7307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Rad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prikazuje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kako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se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klasična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aukcija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može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prenijeti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u blockchain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okruženje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Aukcija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se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više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ne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provodi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preko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posrednika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nego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pomoću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pametnog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ugovora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koji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automatski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izvršava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unaprijed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definirana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pravila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U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teorijskom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dijelu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objašnjeni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su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osnovni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pojmovi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blockchaina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Ethereuma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Solidityja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pametnih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ugovora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U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praktičnom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dijelu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izrađena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su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dva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Solidity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rješenja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aukcije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: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jednostavna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aukcija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s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direktnim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povratom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prethodne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ponude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,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aukcija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s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mapiranjem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za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spremanje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naknadni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povrat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sredstava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Cilj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rada je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pokazati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kako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se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pametni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ugovor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može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koristiti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za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automatizaciju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poslovnog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procesa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aukcije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827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779526-C610-C232-EA7F-A6302BF73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>
            <a:extLst>
              <a:ext uri="{FF2B5EF4-FFF2-40B4-BE49-F238E27FC236}">
                <a16:creationId xmlns:a16="http://schemas.microsoft.com/office/drawing/2014/main" id="{3BCBAEF3-9390-2E31-8F22-D771ED0B3F0D}"/>
              </a:ext>
            </a:extLst>
          </p:cNvPr>
          <p:cNvSpPr txBox="1"/>
          <p:nvPr/>
        </p:nvSpPr>
        <p:spPr>
          <a:xfrm>
            <a:off x="988499" y="304142"/>
            <a:ext cx="7789058" cy="144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3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Blockchain</a:t>
            </a:r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F7ECAF38-F556-FA6D-DAA7-C6F790783501}"/>
              </a:ext>
            </a:extLst>
          </p:cNvPr>
          <p:cNvSpPr/>
          <p:nvPr/>
        </p:nvSpPr>
        <p:spPr>
          <a:xfrm rot="-10800000">
            <a:off x="10517701" y="5682221"/>
            <a:ext cx="10205074" cy="10711432"/>
          </a:xfrm>
          <a:custGeom>
            <a:avLst/>
            <a:gdLst/>
            <a:ahLst/>
            <a:cxnLst/>
            <a:rect l="l" t="t" r="r" b="b"/>
            <a:pathLst>
              <a:path w="10205074" h="10711432">
                <a:moveTo>
                  <a:pt x="0" y="0"/>
                </a:moveTo>
                <a:lnTo>
                  <a:pt x="10205073" y="0"/>
                </a:lnTo>
                <a:lnTo>
                  <a:pt x="10205073" y="10711432"/>
                </a:lnTo>
                <a:lnTo>
                  <a:pt x="0" y="10711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r-H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ED48B14-9A98-2768-E007-9D1D1D2AAA42}"/>
              </a:ext>
            </a:extLst>
          </p:cNvPr>
          <p:cNvSpPr txBox="1"/>
          <p:nvPr/>
        </p:nvSpPr>
        <p:spPr>
          <a:xfrm>
            <a:off x="1038631" y="2067642"/>
            <a:ext cx="14059306" cy="3614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Blockchain je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distribuirana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baza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podataka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u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kojoj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se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transakcije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ne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čuvaju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jednom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mjestu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nego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se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dijele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između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više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računala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u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mreži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Podaci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se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zapisuju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u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blokove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, a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svaki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novi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blok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povezuje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se s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prethodnim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čime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nastaje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lanac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blokova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Takav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način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rada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omogućuje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da se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zapisi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teško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mijenjaju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ili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brišu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EEE845-16C7-0E94-BD59-0591023E8647}"/>
              </a:ext>
            </a:extLst>
          </p:cNvPr>
          <p:cNvSpPr txBox="1"/>
          <p:nvPr/>
        </p:nvSpPr>
        <p:spPr>
          <a:xfrm>
            <a:off x="2362200" y="6568484"/>
            <a:ext cx="6781800" cy="6599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16420576-B38C-3851-C2AE-CE0B92951B8C}"/>
              </a:ext>
            </a:extLst>
          </p:cNvPr>
          <p:cNvSpPr txBox="1"/>
          <p:nvPr/>
        </p:nvSpPr>
        <p:spPr>
          <a:xfrm>
            <a:off x="988499" y="5974548"/>
            <a:ext cx="10358524" cy="1398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Glavne značajke su: decentralizacija, sigurnost, transparentnost i nepromjenjivost podataka.  </a:t>
            </a:r>
          </a:p>
        </p:txBody>
      </p:sp>
    </p:spTree>
    <p:extLst>
      <p:ext uri="{BB962C8B-B14F-4D97-AF65-F5344CB8AC3E}">
        <p14:creationId xmlns:p14="http://schemas.microsoft.com/office/powerpoint/2010/main" val="1400943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57025-3CD9-5BA0-7B69-A7957AB0D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48199DEB-52FD-8A9B-182E-02548E7DCCEB}"/>
              </a:ext>
            </a:extLst>
          </p:cNvPr>
          <p:cNvGrpSpPr/>
          <p:nvPr/>
        </p:nvGrpSpPr>
        <p:grpSpPr>
          <a:xfrm>
            <a:off x="-1371600" y="7952752"/>
            <a:ext cx="9983660" cy="3351211"/>
            <a:chOff x="0" y="0"/>
            <a:chExt cx="2629441" cy="882624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8E4D689A-0C71-3EEB-9EDA-DEA025430F2A}"/>
                </a:ext>
              </a:extLst>
            </p:cNvPr>
            <p:cNvSpPr/>
            <p:nvPr/>
          </p:nvSpPr>
          <p:spPr>
            <a:xfrm>
              <a:off x="0" y="0"/>
              <a:ext cx="2629441" cy="882624"/>
            </a:xfrm>
            <a:custGeom>
              <a:avLst/>
              <a:gdLst/>
              <a:ahLst/>
              <a:cxnLst/>
              <a:rect l="l" t="t" r="r" b="b"/>
              <a:pathLst>
                <a:path w="2629441" h="882624">
                  <a:moveTo>
                    <a:pt x="43426" y="0"/>
                  </a:moveTo>
                  <a:lnTo>
                    <a:pt x="2586016" y="0"/>
                  </a:lnTo>
                  <a:cubicBezTo>
                    <a:pt x="2597533" y="0"/>
                    <a:pt x="2608578" y="4575"/>
                    <a:pt x="2616722" y="12719"/>
                  </a:cubicBezTo>
                  <a:cubicBezTo>
                    <a:pt x="2624866" y="20863"/>
                    <a:pt x="2629441" y="31908"/>
                    <a:pt x="2629441" y="43426"/>
                  </a:cubicBezTo>
                  <a:lnTo>
                    <a:pt x="2629441" y="839198"/>
                  </a:lnTo>
                  <a:cubicBezTo>
                    <a:pt x="2629441" y="850715"/>
                    <a:pt x="2624866" y="861761"/>
                    <a:pt x="2616722" y="869904"/>
                  </a:cubicBezTo>
                  <a:cubicBezTo>
                    <a:pt x="2608578" y="878048"/>
                    <a:pt x="2597533" y="882624"/>
                    <a:pt x="2586016" y="882624"/>
                  </a:cubicBezTo>
                  <a:lnTo>
                    <a:pt x="43426" y="882624"/>
                  </a:lnTo>
                  <a:cubicBezTo>
                    <a:pt x="19442" y="882624"/>
                    <a:pt x="0" y="863181"/>
                    <a:pt x="0" y="839198"/>
                  </a:cubicBezTo>
                  <a:lnTo>
                    <a:pt x="0" y="43426"/>
                  </a:lnTo>
                  <a:cubicBezTo>
                    <a:pt x="0" y="31908"/>
                    <a:pt x="4575" y="20863"/>
                    <a:pt x="12719" y="12719"/>
                  </a:cubicBezTo>
                  <a:cubicBezTo>
                    <a:pt x="20863" y="4575"/>
                    <a:pt x="31908" y="0"/>
                    <a:pt x="43426" y="0"/>
                  </a:cubicBezTo>
                  <a:close/>
                </a:path>
              </a:pathLst>
            </a:custGeom>
            <a:solidFill>
              <a:srgbClr val="6647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r-H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36B9B3D-E4EE-E045-E55C-B97A4B4190CE}"/>
                </a:ext>
              </a:extLst>
            </p:cNvPr>
            <p:cNvSpPr txBox="1"/>
            <p:nvPr/>
          </p:nvSpPr>
          <p:spPr>
            <a:xfrm>
              <a:off x="0" y="-38100"/>
              <a:ext cx="2629441" cy="9207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49658FC2-B3D5-0375-EB0A-0A9C7EB6C9CB}"/>
              </a:ext>
            </a:extLst>
          </p:cNvPr>
          <p:cNvSpPr txBox="1"/>
          <p:nvPr/>
        </p:nvSpPr>
        <p:spPr>
          <a:xfrm>
            <a:off x="914400" y="718769"/>
            <a:ext cx="9113345" cy="2244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75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r-HR" sz="1253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"/>
                <a:ea typeface="Mina"/>
                <a:cs typeface="Mina"/>
                <a:sym typeface="Mina"/>
              </a:rPr>
              <a:t>Etherium</a:t>
            </a:r>
            <a:endParaRPr kumimoji="0" lang="en-US" sz="125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"/>
              <a:ea typeface="Mina"/>
              <a:cs typeface="Mina"/>
              <a:sym typeface="Mina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D2B61C7-BF16-5685-ECF3-187222EDC9F5}"/>
              </a:ext>
            </a:extLst>
          </p:cNvPr>
          <p:cNvSpPr txBox="1"/>
          <p:nvPr/>
        </p:nvSpPr>
        <p:spPr>
          <a:xfrm>
            <a:off x="914401" y="2860845"/>
            <a:ext cx="15870914" cy="3614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Ethereum je blockchain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platforma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koja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ne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služi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samo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za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prijenos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vrijednosti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nego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omogućuje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izvršavanje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programskog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koda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blockchainu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Na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Ethereumu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se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koriste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pametni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ugovori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odnosno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programi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koji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automatski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izvršavaju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unaprijed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definirana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pravila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Pametni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ugovor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se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izvršava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kada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ga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pokrene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korisnička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transakcija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07E6390-C216-E141-DD6F-13C21173A426}"/>
              </a:ext>
            </a:extLst>
          </p:cNvPr>
          <p:cNvSpPr txBox="1"/>
          <p:nvPr/>
        </p:nvSpPr>
        <p:spPr>
          <a:xfrm>
            <a:off x="9144000" y="6739465"/>
            <a:ext cx="8818690" cy="2137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Pametni </a:t>
            </a:r>
            <a:r>
              <a:rPr lang="en-US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ugovori</a:t>
            </a: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mogu</a:t>
            </a: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se </a:t>
            </a:r>
            <a:r>
              <a:rPr lang="en-US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koristiti</a:t>
            </a: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za </a:t>
            </a:r>
            <a:r>
              <a:rPr lang="en-US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decentralizirane</a:t>
            </a: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aplikacije</a:t>
            </a: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organizacije</a:t>
            </a: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glasovanja</a:t>
            </a: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financijske</a:t>
            </a: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procese</a:t>
            </a: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aukcije</a:t>
            </a: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370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C3BFF">
                <a:alpha val="100000"/>
              </a:srgbClr>
            </a:gs>
            <a:gs pos="100000">
              <a:srgbClr val="B664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55800E-0E6D-A0DD-2FA9-A0531BF24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49BC5AEA-A631-48F9-5600-34EA34F64D22}"/>
              </a:ext>
            </a:extLst>
          </p:cNvPr>
          <p:cNvGrpSpPr/>
          <p:nvPr/>
        </p:nvGrpSpPr>
        <p:grpSpPr>
          <a:xfrm rot="-5943314">
            <a:off x="4446943" y="-2487708"/>
            <a:ext cx="11182453" cy="19010499"/>
            <a:chOff x="0" y="0"/>
            <a:chExt cx="2945173" cy="500688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7281E8D-4882-3512-C546-96A7E58A1AD4}"/>
                </a:ext>
              </a:extLst>
            </p:cNvPr>
            <p:cNvSpPr/>
            <p:nvPr/>
          </p:nvSpPr>
          <p:spPr>
            <a:xfrm>
              <a:off x="0" y="0"/>
              <a:ext cx="2945173" cy="5006880"/>
            </a:xfrm>
            <a:custGeom>
              <a:avLst/>
              <a:gdLst/>
              <a:ahLst/>
              <a:cxnLst/>
              <a:rect l="l" t="t" r="r" b="b"/>
              <a:pathLst>
                <a:path w="2945173" h="5006880">
                  <a:moveTo>
                    <a:pt x="38770" y="0"/>
                  </a:moveTo>
                  <a:lnTo>
                    <a:pt x="2906402" y="0"/>
                  </a:lnTo>
                  <a:cubicBezTo>
                    <a:pt x="2927815" y="0"/>
                    <a:pt x="2945173" y="17358"/>
                    <a:pt x="2945173" y="38770"/>
                  </a:cubicBezTo>
                  <a:lnTo>
                    <a:pt x="2945173" y="4968110"/>
                  </a:lnTo>
                  <a:cubicBezTo>
                    <a:pt x="2945173" y="4989522"/>
                    <a:pt x="2927815" y="5006880"/>
                    <a:pt x="2906402" y="5006880"/>
                  </a:cubicBezTo>
                  <a:lnTo>
                    <a:pt x="38770" y="5006880"/>
                  </a:lnTo>
                  <a:cubicBezTo>
                    <a:pt x="17358" y="5006880"/>
                    <a:pt x="0" y="4989522"/>
                    <a:pt x="0" y="4968110"/>
                  </a:cubicBezTo>
                  <a:lnTo>
                    <a:pt x="0" y="38770"/>
                  </a:lnTo>
                  <a:cubicBezTo>
                    <a:pt x="0" y="17358"/>
                    <a:pt x="17358" y="0"/>
                    <a:pt x="387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3BFF">
                    <a:alpha val="100000"/>
                  </a:srgbClr>
                </a:gs>
                <a:gs pos="100000">
                  <a:srgbClr val="B664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r-H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9E5DB22-8DFB-2297-3413-1BE2F9098E83}"/>
                </a:ext>
              </a:extLst>
            </p:cNvPr>
            <p:cNvSpPr txBox="1"/>
            <p:nvPr/>
          </p:nvSpPr>
          <p:spPr>
            <a:xfrm>
              <a:off x="0" y="-38100"/>
              <a:ext cx="2945173" cy="5044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DCAE0534-DF00-6B7D-EB06-A20E7E9BF641}"/>
              </a:ext>
            </a:extLst>
          </p:cNvPr>
          <p:cNvSpPr txBox="1"/>
          <p:nvPr/>
        </p:nvSpPr>
        <p:spPr>
          <a:xfrm>
            <a:off x="1371600" y="1936106"/>
            <a:ext cx="15240000" cy="8046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r-HR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Solidity</a:t>
            </a:r>
            <a:r>
              <a:rPr lang="hr-HR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je programski jezik koji se koristi za izradu pametnih ugovora na </a:t>
            </a:r>
            <a:r>
              <a:rPr lang="hr-HR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Ethereum</a:t>
            </a:r>
            <a:r>
              <a:rPr lang="hr-HR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hr-HR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blockchainu</a:t>
            </a:r>
            <a:r>
              <a:rPr lang="hr-HR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457200" marR="0" lvl="0" indent="-4572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r-HR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Namijenjen je za rad u </a:t>
            </a:r>
            <a:r>
              <a:rPr lang="hr-HR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Ethereum</a:t>
            </a:r>
            <a:r>
              <a:rPr lang="hr-HR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hr-HR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Virtual</a:t>
            </a:r>
            <a:r>
              <a:rPr lang="hr-HR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hr-HR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Machine</a:t>
            </a:r>
            <a:r>
              <a:rPr lang="hr-HR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okruženju, gdje se pametni ugovori izvršavaju nakon slanja transakcije.</a:t>
            </a:r>
          </a:p>
          <a:p>
            <a:pPr marL="457200" marR="0" lvl="0" indent="-4572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r-HR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 </a:t>
            </a:r>
            <a:r>
              <a:rPr lang="hr-HR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Solidityju</a:t>
            </a:r>
            <a:r>
              <a:rPr lang="hr-HR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se ugovor sastoji od podataka i funkcija koje određuju ponašanje ugovora.</a:t>
            </a:r>
          </a:p>
          <a:p>
            <a:pPr marL="457200" marR="0" lvl="0" indent="-4572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r-HR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 ovom radu </a:t>
            </a:r>
            <a:r>
              <a:rPr lang="hr-HR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Solidity</a:t>
            </a:r>
            <a:r>
              <a:rPr lang="hr-HR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je korišten za izradu aukcije, jer podržava funkcije, konstruktore, mapiranja, rad s </a:t>
            </a:r>
            <a:r>
              <a:rPr lang="hr-HR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Etherom</a:t>
            </a:r>
            <a:r>
              <a:rPr lang="hr-HR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 provjeru uvjeta.</a:t>
            </a:r>
          </a:p>
          <a:p>
            <a:pPr marL="457200" marR="0" lvl="0" indent="-4572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r-HR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Primjerice, pomoću </a:t>
            </a:r>
            <a:r>
              <a:rPr lang="hr-HR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Solidityja</a:t>
            </a:r>
            <a:r>
              <a:rPr lang="hr-HR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ugovor može zapamtiti najvišeg ponuditelja, najvišu ponudu, vrijeme završetka aukcije i iznose za povrat.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34C8541-A921-3B00-0533-3DE8D265B10A}"/>
              </a:ext>
            </a:extLst>
          </p:cNvPr>
          <p:cNvSpPr txBox="1"/>
          <p:nvPr/>
        </p:nvSpPr>
        <p:spPr>
          <a:xfrm>
            <a:off x="5562600" y="0"/>
            <a:ext cx="7676314" cy="162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27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r-HR" sz="9105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Solidity</a:t>
            </a:r>
            <a:endParaRPr kumimoji="0" lang="en-US" sz="910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 Bold"/>
              <a:ea typeface="Mina Bold"/>
              <a:cs typeface="Mina Bold"/>
              <a:sym typeface="Mina Bold"/>
            </a:endParaRPr>
          </a:p>
        </p:txBody>
      </p:sp>
    </p:spTree>
    <p:extLst>
      <p:ext uri="{BB962C8B-B14F-4D97-AF65-F5344CB8AC3E}">
        <p14:creationId xmlns:p14="http://schemas.microsoft.com/office/powerpoint/2010/main" val="59546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A947D-36DC-C7BA-0CA5-0CAB417E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8331F5D0-D10F-C362-4DA8-E8501B73B1A0}"/>
              </a:ext>
            </a:extLst>
          </p:cNvPr>
          <p:cNvGrpSpPr/>
          <p:nvPr/>
        </p:nvGrpSpPr>
        <p:grpSpPr>
          <a:xfrm>
            <a:off x="9905999" y="1087721"/>
            <a:ext cx="8028393" cy="8111558"/>
            <a:chOff x="0" y="0"/>
            <a:chExt cx="1963203" cy="217756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FCDC27B-34A4-14D4-1F76-D65BF575E84C}"/>
                </a:ext>
              </a:extLst>
            </p:cNvPr>
            <p:cNvSpPr/>
            <p:nvPr/>
          </p:nvSpPr>
          <p:spPr>
            <a:xfrm>
              <a:off x="0" y="0"/>
              <a:ext cx="1963203" cy="2177566"/>
            </a:xfrm>
            <a:custGeom>
              <a:avLst/>
              <a:gdLst/>
              <a:ahLst/>
              <a:cxnLst/>
              <a:rect l="l" t="t" r="r" b="b"/>
              <a:pathLst>
                <a:path w="1963203" h="2177566">
                  <a:moveTo>
                    <a:pt x="58163" y="0"/>
                  </a:moveTo>
                  <a:lnTo>
                    <a:pt x="1905040" y="0"/>
                  </a:lnTo>
                  <a:cubicBezTo>
                    <a:pt x="1937163" y="0"/>
                    <a:pt x="1963203" y="26040"/>
                    <a:pt x="1963203" y="58163"/>
                  </a:cubicBezTo>
                  <a:lnTo>
                    <a:pt x="1963203" y="2119403"/>
                  </a:lnTo>
                  <a:cubicBezTo>
                    <a:pt x="1963203" y="2134829"/>
                    <a:pt x="1957075" y="2149623"/>
                    <a:pt x="1946168" y="2160530"/>
                  </a:cubicBezTo>
                  <a:cubicBezTo>
                    <a:pt x="1935260" y="2171438"/>
                    <a:pt x="1920466" y="2177566"/>
                    <a:pt x="1905040" y="2177566"/>
                  </a:cubicBezTo>
                  <a:lnTo>
                    <a:pt x="58163" y="2177566"/>
                  </a:lnTo>
                  <a:cubicBezTo>
                    <a:pt x="26040" y="2177566"/>
                    <a:pt x="0" y="2151525"/>
                    <a:pt x="0" y="2119403"/>
                  </a:cubicBezTo>
                  <a:lnTo>
                    <a:pt x="0" y="58163"/>
                  </a:lnTo>
                  <a:cubicBezTo>
                    <a:pt x="0" y="26040"/>
                    <a:pt x="26040" y="0"/>
                    <a:pt x="58163" y="0"/>
                  </a:cubicBezTo>
                  <a:close/>
                </a:path>
              </a:pathLst>
            </a:custGeom>
            <a:solidFill>
              <a:srgbClr val="6647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r-H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BF6DF40-5B4A-7B00-F8F4-56632E936F8A}"/>
                </a:ext>
              </a:extLst>
            </p:cNvPr>
            <p:cNvSpPr txBox="1"/>
            <p:nvPr/>
          </p:nvSpPr>
          <p:spPr>
            <a:xfrm>
              <a:off x="0" y="-38100"/>
              <a:ext cx="1963203" cy="2215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934FE752-F35B-DA3F-7DE1-AEBBE09D9656}"/>
              </a:ext>
            </a:extLst>
          </p:cNvPr>
          <p:cNvSpPr/>
          <p:nvPr/>
        </p:nvSpPr>
        <p:spPr>
          <a:xfrm>
            <a:off x="16785314" y="1329500"/>
            <a:ext cx="209307" cy="229778"/>
          </a:xfrm>
          <a:custGeom>
            <a:avLst/>
            <a:gdLst/>
            <a:ahLst/>
            <a:cxnLst/>
            <a:rect l="l" t="t" r="r" b="b"/>
            <a:pathLst>
              <a:path w="209307" h="229778">
                <a:moveTo>
                  <a:pt x="0" y="0"/>
                </a:moveTo>
                <a:lnTo>
                  <a:pt x="209307" y="0"/>
                </a:lnTo>
                <a:lnTo>
                  <a:pt x="209307" y="229778"/>
                </a:lnTo>
                <a:lnTo>
                  <a:pt x="0" y="229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r-H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ECF0C5B-A7E2-7FE7-3C31-8EC38FCC60B9}"/>
              </a:ext>
            </a:extLst>
          </p:cNvPr>
          <p:cNvSpPr txBox="1"/>
          <p:nvPr/>
        </p:nvSpPr>
        <p:spPr>
          <a:xfrm>
            <a:off x="353608" y="419100"/>
            <a:ext cx="7585911" cy="3142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r-HR" sz="1020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"/>
                <a:ea typeface="Mina"/>
                <a:cs typeface="Mina"/>
                <a:sym typeface="Mina"/>
              </a:rPr>
              <a:t>Use </a:t>
            </a:r>
            <a:r>
              <a:rPr kumimoji="0" lang="hr-HR" sz="10209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"/>
                <a:ea typeface="Mina"/>
                <a:cs typeface="Mina"/>
                <a:sym typeface="Mina"/>
              </a:rPr>
              <a:t>case</a:t>
            </a:r>
            <a:r>
              <a:rPr kumimoji="0" lang="hr-HR" sz="1020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"/>
                <a:ea typeface="Mina"/>
                <a:cs typeface="Mina"/>
                <a:sym typeface="Mina"/>
              </a:rPr>
              <a:t>: aukcija</a:t>
            </a:r>
            <a:endParaRPr kumimoji="0" lang="en-US" sz="10209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"/>
              <a:ea typeface="Mina"/>
              <a:cs typeface="Mina"/>
              <a:sym typeface="Mina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6B9AE06-D1C5-76A9-B54D-F510440067A5}"/>
              </a:ext>
            </a:extLst>
          </p:cNvPr>
          <p:cNvSpPr txBox="1"/>
          <p:nvPr/>
        </p:nvSpPr>
        <p:spPr>
          <a:xfrm>
            <a:off x="693050" y="3848100"/>
            <a:ext cx="8028393" cy="4353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Vlasnik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pokreće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aukciju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Ponuditelji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šalju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ponude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u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Etheru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Najveća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ponuda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postaje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vodeća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ponuda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Nakon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isteka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vremena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pobjednik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je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korisnik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s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najvećom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ponudom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26272900-85ED-DBC5-29BD-4AB7744EB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2761" y="1559278"/>
            <a:ext cx="7354868" cy="716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410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C3BFF">
                <a:alpha val="100000"/>
              </a:srgbClr>
            </a:gs>
            <a:gs pos="100000">
              <a:srgbClr val="B664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EDBC6-80DE-1E76-D7A5-FB33B4B51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2FE7C99-DA67-879A-032F-E8644949086C}"/>
              </a:ext>
            </a:extLst>
          </p:cNvPr>
          <p:cNvSpPr/>
          <p:nvPr/>
        </p:nvSpPr>
        <p:spPr>
          <a:xfrm>
            <a:off x="11894213" y="-1425495"/>
            <a:ext cx="11733829" cy="11712495"/>
          </a:xfrm>
          <a:custGeom>
            <a:avLst/>
            <a:gdLst/>
            <a:ahLst/>
            <a:cxnLst/>
            <a:rect l="l" t="t" r="r" b="b"/>
            <a:pathLst>
              <a:path w="11733829" h="11712495">
                <a:moveTo>
                  <a:pt x="0" y="0"/>
                </a:moveTo>
                <a:lnTo>
                  <a:pt x="11733829" y="0"/>
                </a:lnTo>
                <a:lnTo>
                  <a:pt x="11733829" y="11712495"/>
                </a:lnTo>
                <a:lnTo>
                  <a:pt x="0" y="117124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r-H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DC3F7C7-8EDC-ED18-7032-FE4CFE327DE4}"/>
              </a:ext>
            </a:extLst>
          </p:cNvPr>
          <p:cNvSpPr txBox="1"/>
          <p:nvPr/>
        </p:nvSpPr>
        <p:spPr>
          <a:xfrm>
            <a:off x="992841" y="365700"/>
            <a:ext cx="18666759" cy="18210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2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58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Način</a:t>
            </a:r>
            <a:r>
              <a:rPr kumimoji="0" lang="en-US" sz="10158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 rada </a:t>
            </a:r>
            <a:r>
              <a:rPr kumimoji="0" lang="en-US" sz="10158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ugovora</a:t>
            </a:r>
            <a:endParaRPr kumimoji="0" lang="en-US" sz="10158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 Bold"/>
              <a:ea typeface="Mina Bold"/>
              <a:cs typeface="Mina Bold"/>
              <a:sym typeface="Mina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448AC47-B4D7-9163-3402-EBF954719A3A}"/>
              </a:ext>
            </a:extLst>
          </p:cNvPr>
          <p:cNvSpPr txBox="1"/>
          <p:nvPr/>
        </p:nvSpPr>
        <p:spPr>
          <a:xfrm>
            <a:off x="974912" y="2100235"/>
            <a:ext cx="16154400" cy="4353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Ugovor se pokreće </a:t>
            </a:r>
            <a:r>
              <a:rPr kumimoji="0" lang="hr-H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deployanjem</a:t>
            </a: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u </a:t>
            </a:r>
            <a:r>
              <a:rPr kumimoji="0" lang="hr-H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Remix</a:t>
            </a: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VM okruženju.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Konstruktor se izvršava jednom i postavlja početne podatke aukcije.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Funkcija ponudi() omogućuje slanje ponuda u </a:t>
            </a:r>
            <a:r>
              <a:rPr kumimoji="0" lang="hr-H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Etheru</a:t>
            </a: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Ugovor provjerava je li aukcija aktivna i je li ponuda veća od prethodne.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Ako je ponuda ispravna, sprema se novi najviši ponuditelj i najveća ponuda.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Nakon isteka vremena funkcija </a:t>
            </a:r>
            <a:r>
              <a:rPr kumimoji="0" lang="hr-H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zavrsiAukciju</a:t>
            </a: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() zaključuje aukciju.</a:t>
            </a:r>
          </a:p>
        </p:txBody>
      </p:sp>
    </p:spTree>
    <p:extLst>
      <p:ext uri="{BB962C8B-B14F-4D97-AF65-F5344CB8AC3E}">
        <p14:creationId xmlns:p14="http://schemas.microsoft.com/office/powerpoint/2010/main" val="3287794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D76DEA-0BC8-2D2F-71C7-78083108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>
            <a:extLst>
              <a:ext uri="{FF2B5EF4-FFF2-40B4-BE49-F238E27FC236}">
                <a16:creationId xmlns:a16="http://schemas.microsoft.com/office/drawing/2014/main" id="{A2A7261F-0388-993D-EDE3-D5D02B53FE69}"/>
              </a:ext>
            </a:extLst>
          </p:cNvPr>
          <p:cNvSpPr txBox="1"/>
          <p:nvPr/>
        </p:nvSpPr>
        <p:spPr>
          <a:xfrm>
            <a:off x="988498" y="304142"/>
            <a:ext cx="14480101" cy="1449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3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Pristup 1: </a:t>
            </a:r>
            <a:r>
              <a:rPr kumimoji="0" lang="en-US" sz="8095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direktni</a:t>
            </a:r>
            <a:r>
              <a:rPr kumimoji="0" lang="en-US" sz="80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 </a:t>
            </a:r>
            <a:r>
              <a:rPr kumimoji="0" lang="en-US" sz="8095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povrat</a:t>
            </a:r>
            <a:endParaRPr kumimoji="0" lang="en-US" sz="809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 Bold"/>
              <a:ea typeface="Mina Bold"/>
              <a:cs typeface="Mina Bold"/>
              <a:sym typeface="Mina Bold"/>
            </a:endParaRPr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7366173C-760D-43F2-9C5D-E03F27B88EEA}"/>
              </a:ext>
            </a:extLst>
          </p:cNvPr>
          <p:cNvSpPr/>
          <p:nvPr/>
        </p:nvSpPr>
        <p:spPr>
          <a:xfrm rot="-10800000">
            <a:off x="12649200" y="7228408"/>
            <a:ext cx="10205074" cy="10711432"/>
          </a:xfrm>
          <a:custGeom>
            <a:avLst/>
            <a:gdLst/>
            <a:ahLst/>
            <a:cxnLst/>
            <a:rect l="l" t="t" r="r" b="b"/>
            <a:pathLst>
              <a:path w="10205074" h="10711432">
                <a:moveTo>
                  <a:pt x="0" y="0"/>
                </a:moveTo>
                <a:lnTo>
                  <a:pt x="10205073" y="0"/>
                </a:lnTo>
                <a:lnTo>
                  <a:pt x="10205073" y="10711432"/>
                </a:lnTo>
                <a:lnTo>
                  <a:pt x="0" y="10711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r-H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1273C42-C4E9-716B-C7F8-C39B29A3698C}"/>
              </a:ext>
            </a:extLst>
          </p:cNvPr>
          <p:cNvSpPr txBox="1"/>
          <p:nvPr/>
        </p:nvSpPr>
        <p:spPr>
          <a:xfrm>
            <a:off x="1198895" y="1695673"/>
            <a:ext cx="14059306" cy="5830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Prvi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pristup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koristi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jednostavnu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aukciju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s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direktnim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povratom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Kada nova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ponuda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nadmaši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staru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prethodnom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ponuditelju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odmah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se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vraća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Ether.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Funkcija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ponudi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()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provjerava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je li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aukcija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aktivna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je li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ponuda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veća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od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prethodne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Prednost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je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jednostavnost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rješenja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Nedostatak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je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manja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fleksibilnost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jer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se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povrat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izvršava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odmah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u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istoj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transakciji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01FDD7-61F6-A924-11A8-FA53724170B6}"/>
              </a:ext>
            </a:extLst>
          </p:cNvPr>
          <p:cNvSpPr txBox="1"/>
          <p:nvPr/>
        </p:nvSpPr>
        <p:spPr>
          <a:xfrm>
            <a:off x="2362200" y="6568484"/>
            <a:ext cx="6781800" cy="6599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hr-HR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380650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D897D2-F95B-4947-011E-3BBE2AAC2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8">
            <a:extLst>
              <a:ext uri="{FF2B5EF4-FFF2-40B4-BE49-F238E27FC236}">
                <a16:creationId xmlns:a16="http://schemas.microsoft.com/office/drawing/2014/main" id="{C3CF6F93-D54E-F19F-0E6A-7C6526B20553}"/>
              </a:ext>
            </a:extLst>
          </p:cNvPr>
          <p:cNvSpPr/>
          <p:nvPr/>
        </p:nvSpPr>
        <p:spPr>
          <a:xfrm rot="-10800000">
            <a:off x="10517701" y="5682221"/>
            <a:ext cx="10205074" cy="10711432"/>
          </a:xfrm>
          <a:custGeom>
            <a:avLst/>
            <a:gdLst/>
            <a:ahLst/>
            <a:cxnLst/>
            <a:rect l="l" t="t" r="r" b="b"/>
            <a:pathLst>
              <a:path w="10205074" h="10711432">
                <a:moveTo>
                  <a:pt x="0" y="0"/>
                </a:moveTo>
                <a:lnTo>
                  <a:pt x="10205073" y="0"/>
                </a:lnTo>
                <a:lnTo>
                  <a:pt x="10205073" y="10711432"/>
                </a:lnTo>
                <a:lnTo>
                  <a:pt x="0" y="10711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r-H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1BE34D84-E2B2-3629-6071-61E195779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1" y="1895990"/>
            <a:ext cx="6400800" cy="3075900"/>
          </a:xfrm>
          <a:prstGeom prst="rect">
            <a:avLst/>
          </a:prstGeom>
        </p:spPr>
      </p:pic>
      <p:sp>
        <p:nvSpPr>
          <p:cNvPr id="4" name="TextBox 16">
            <a:extLst>
              <a:ext uri="{FF2B5EF4-FFF2-40B4-BE49-F238E27FC236}">
                <a16:creationId xmlns:a16="http://schemas.microsoft.com/office/drawing/2014/main" id="{BD21C2E6-0159-595E-BE61-593126B71553}"/>
              </a:ext>
            </a:extLst>
          </p:cNvPr>
          <p:cNvSpPr txBox="1"/>
          <p:nvPr/>
        </p:nvSpPr>
        <p:spPr>
          <a:xfrm>
            <a:off x="988498" y="304142"/>
            <a:ext cx="14480101" cy="1449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3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Pristup 1: </a:t>
            </a:r>
            <a:r>
              <a:rPr kumimoji="0" lang="hr-HR" sz="80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prikaz </a:t>
            </a:r>
            <a:r>
              <a:rPr kumimoji="0" lang="hr-HR" sz="8095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rjšenja</a:t>
            </a:r>
            <a:endParaRPr kumimoji="0" lang="en-US" sz="809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 Bold"/>
              <a:ea typeface="Mina Bold"/>
              <a:cs typeface="Mina Bold"/>
              <a:sym typeface="Mina Bold"/>
            </a:endParaRPr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45F64A33-EBCD-D3EC-33E3-CDD9FA7134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0" y="1895990"/>
            <a:ext cx="4514982" cy="3075900"/>
          </a:xfrm>
          <a:prstGeom prst="rect">
            <a:avLst/>
          </a:prstGeom>
        </p:spPr>
      </p:pic>
      <p:pic>
        <p:nvPicPr>
          <p:cNvPr id="14" name="Slika 13">
            <a:extLst>
              <a:ext uri="{FF2B5EF4-FFF2-40B4-BE49-F238E27FC236}">
                <a16:creationId xmlns:a16="http://schemas.microsoft.com/office/drawing/2014/main" id="{F86BD9FA-96E1-F827-1007-111D04FF94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13402" y="2079545"/>
            <a:ext cx="6274598" cy="2708790"/>
          </a:xfrm>
          <a:prstGeom prst="rect">
            <a:avLst/>
          </a:prstGeom>
        </p:spPr>
      </p:pic>
      <p:pic>
        <p:nvPicPr>
          <p:cNvPr id="17" name="Slika 16">
            <a:extLst>
              <a:ext uri="{FF2B5EF4-FFF2-40B4-BE49-F238E27FC236}">
                <a16:creationId xmlns:a16="http://schemas.microsoft.com/office/drawing/2014/main" id="{016F9C69-D9FC-6AB9-1A68-09930436EC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08" y="5150224"/>
            <a:ext cx="6252696" cy="2126876"/>
          </a:xfrm>
          <a:prstGeom prst="rect">
            <a:avLst/>
          </a:prstGeom>
        </p:spPr>
      </p:pic>
      <p:pic>
        <p:nvPicPr>
          <p:cNvPr id="27" name="Slika 26">
            <a:extLst>
              <a:ext uri="{FF2B5EF4-FFF2-40B4-BE49-F238E27FC236}">
                <a16:creationId xmlns:a16="http://schemas.microsoft.com/office/drawing/2014/main" id="{455A6AD4-F2A5-5AD2-9802-B3314AF071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7259" y="5143500"/>
            <a:ext cx="7812741" cy="2147977"/>
          </a:xfrm>
          <a:prstGeom prst="rect">
            <a:avLst/>
          </a:prstGeom>
        </p:spPr>
      </p:pic>
      <p:pic>
        <p:nvPicPr>
          <p:cNvPr id="31" name="Slika 30">
            <a:extLst>
              <a:ext uri="{FF2B5EF4-FFF2-40B4-BE49-F238E27FC236}">
                <a16:creationId xmlns:a16="http://schemas.microsoft.com/office/drawing/2014/main" id="{88E71887-C196-EB03-45DC-CF0DE8372D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648" y="7439746"/>
            <a:ext cx="6200614" cy="2527424"/>
          </a:xfrm>
          <a:prstGeom prst="rect">
            <a:avLst/>
          </a:prstGeom>
        </p:spPr>
      </p:pic>
      <p:pic>
        <p:nvPicPr>
          <p:cNvPr id="33" name="Slika 32">
            <a:extLst>
              <a:ext uri="{FF2B5EF4-FFF2-40B4-BE49-F238E27FC236}">
                <a16:creationId xmlns:a16="http://schemas.microsoft.com/office/drawing/2014/main" id="{3E004380-6006-E582-E0A7-B240C152A2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7258" y="7616226"/>
            <a:ext cx="7420281" cy="214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01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987196-26CA-A711-D19D-1567D5EA4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8">
            <a:extLst>
              <a:ext uri="{FF2B5EF4-FFF2-40B4-BE49-F238E27FC236}">
                <a16:creationId xmlns:a16="http://schemas.microsoft.com/office/drawing/2014/main" id="{F338C816-0B45-09FC-9691-21DF8F1A8F0C}"/>
              </a:ext>
            </a:extLst>
          </p:cNvPr>
          <p:cNvSpPr/>
          <p:nvPr/>
        </p:nvSpPr>
        <p:spPr>
          <a:xfrm rot="-10800000">
            <a:off x="10517701" y="5682221"/>
            <a:ext cx="10205074" cy="10711432"/>
          </a:xfrm>
          <a:custGeom>
            <a:avLst/>
            <a:gdLst/>
            <a:ahLst/>
            <a:cxnLst/>
            <a:rect l="l" t="t" r="r" b="b"/>
            <a:pathLst>
              <a:path w="10205074" h="10711432">
                <a:moveTo>
                  <a:pt x="0" y="0"/>
                </a:moveTo>
                <a:lnTo>
                  <a:pt x="10205073" y="0"/>
                </a:lnTo>
                <a:lnTo>
                  <a:pt x="10205073" y="10711432"/>
                </a:lnTo>
                <a:lnTo>
                  <a:pt x="0" y="10711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r-H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75DBF478-BDC6-FDE4-CB0F-C45FD8B30AFB}"/>
              </a:ext>
            </a:extLst>
          </p:cNvPr>
          <p:cNvSpPr txBox="1"/>
          <p:nvPr/>
        </p:nvSpPr>
        <p:spPr>
          <a:xfrm>
            <a:off x="988498" y="304142"/>
            <a:ext cx="14480101" cy="1449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3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Pristup 1:</a:t>
            </a:r>
            <a:r>
              <a:rPr kumimoji="0" lang="hr-HR" sz="80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 prikaz </a:t>
            </a:r>
            <a:r>
              <a:rPr kumimoji="0" lang="hr-HR" sz="8095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rjšenja</a:t>
            </a:r>
            <a:endParaRPr kumimoji="0" lang="en-US" sz="809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 Bold"/>
              <a:ea typeface="Mina Bold"/>
              <a:cs typeface="Mina Bold"/>
              <a:sym typeface="Mina Bold"/>
            </a:endParaRP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8BC28081-96B3-8034-2666-8966F291F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2484561"/>
            <a:ext cx="8153400" cy="210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60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C3BFF">
                <a:alpha val="100000"/>
              </a:srgbClr>
            </a:gs>
            <a:gs pos="100000">
              <a:srgbClr val="B664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47013-7A19-EAF6-48CC-526A976EC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C69803CB-EE18-8EB2-9502-9F1F6DC09DF8}"/>
              </a:ext>
            </a:extLst>
          </p:cNvPr>
          <p:cNvGrpSpPr/>
          <p:nvPr/>
        </p:nvGrpSpPr>
        <p:grpSpPr>
          <a:xfrm rot="-5943314">
            <a:off x="4446943" y="-2487708"/>
            <a:ext cx="11182453" cy="19010499"/>
            <a:chOff x="0" y="0"/>
            <a:chExt cx="2945173" cy="500688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C70605D-A119-920C-5EF5-2CEAC6D024E6}"/>
                </a:ext>
              </a:extLst>
            </p:cNvPr>
            <p:cNvSpPr/>
            <p:nvPr/>
          </p:nvSpPr>
          <p:spPr>
            <a:xfrm>
              <a:off x="0" y="0"/>
              <a:ext cx="2945173" cy="5006880"/>
            </a:xfrm>
            <a:custGeom>
              <a:avLst/>
              <a:gdLst/>
              <a:ahLst/>
              <a:cxnLst/>
              <a:rect l="l" t="t" r="r" b="b"/>
              <a:pathLst>
                <a:path w="2945173" h="5006880">
                  <a:moveTo>
                    <a:pt x="38770" y="0"/>
                  </a:moveTo>
                  <a:lnTo>
                    <a:pt x="2906402" y="0"/>
                  </a:lnTo>
                  <a:cubicBezTo>
                    <a:pt x="2927815" y="0"/>
                    <a:pt x="2945173" y="17358"/>
                    <a:pt x="2945173" y="38770"/>
                  </a:cubicBezTo>
                  <a:lnTo>
                    <a:pt x="2945173" y="4968110"/>
                  </a:lnTo>
                  <a:cubicBezTo>
                    <a:pt x="2945173" y="4989522"/>
                    <a:pt x="2927815" y="5006880"/>
                    <a:pt x="2906402" y="5006880"/>
                  </a:cubicBezTo>
                  <a:lnTo>
                    <a:pt x="38770" y="5006880"/>
                  </a:lnTo>
                  <a:cubicBezTo>
                    <a:pt x="17358" y="5006880"/>
                    <a:pt x="0" y="4989522"/>
                    <a:pt x="0" y="4968110"/>
                  </a:cubicBezTo>
                  <a:lnTo>
                    <a:pt x="0" y="38770"/>
                  </a:lnTo>
                  <a:cubicBezTo>
                    <a:pt x="0" y="17358"/>
                    <a:pt x="17358" y="0"/>
                    <a:pt x="387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3BFF">
                    <a:alpha val="100000"/>
                  </a:srgbClr>
                </a:gs>
                <a:gs pos="100000">
                  <a:srgbClr val="B664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r-H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19C0189-5701-579A-9BEA-31474321C655}"/>
                </a:ext>
              </a:extLst>
            </p:cNvPr>
            <p:cNvSpPr txBox="1"/>
            <p:nvPr/>
          </p:nvSpPr>
          <p:spPr>
            <a:xfrm>
              <a:off x="0" y="-38100"/>
              <a:ext cx="2945173" cy="5044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FE6FF810-D375-D228-D9E5-88218993A107}"/>
              </a:ext>
            </a:extLst>
          </p:cNvPr>
          <p:cNvSpPr txBox="1"/>
          <p:nvPr/>
        </p:nvSpPr>
        <p:spPr>
          <a:xfrm>
            <a:off x="1371600" y="1906972"/>
            <a:ext cx="15240000" cy="4353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Drugi pristup koristi </a:t>
            </a:r>
            <a:r>
              <a:rPr kumimoji="0" lang="hr-H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mapping</a:t>
            </a: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za spremanje povrata sredstava.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Ako nova ponuda nadmaši prethodnu, stari iznos se ne vraća odmah.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Iznos se sprema u mapu povrati pod adresom prethodnog ponuditelja.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Korisnik kasnije sam poziva funkciju </a:t>
            </a:r>
            <a:r>
              <a:rPr kumimoji="0" lang="hr-H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povuciPovrat</a:t>
            </a: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() i preuzima svoj </a:t>
            </a:r>
            <a:r>
              <a:rPr kumimoji="0" lang="hr-H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Ether</a:t>
            </a: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Prednost ovog pristupa je sigurnije i preglednije upravljanje povratima.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ADF85A4-5962-B17C-E195-799656336AAB}"/>
              </a:ext>
            </a:extLst>
          </p:cNvPr>
          <p:cNvSpPr txBox="1"/>
          <p:nvPr/>
        </p:nvSpPr>
        <p:spPr>
          <a:xfrm>
            <a:off x="876300" y="153728"/>
            <a:ext cx="16230600" cy="1628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27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r-HR" sz="910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Pristup 2: mapiranje povrata </a:t>
            </a:r>
            <a:endParaRPr kumimoji="0" lang="en-US" sz="910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 Bold"/>
              <a:ea typeface="Mina Bold"/>
              <a:cs typeface="Mina Bold"/>
              <a:sym typeface="Mina Bold"/>
            </a:endParaRPr>
          </a:p>
        </p:txBody>
      </p:sp>
    </p:spTree>
    <p:extLst>
      <p:ext uri="{BB962C8B-B14F-4D97-AF65-F5344CB8AC3E}">
        <p14:creationId xmlns:p14="http://schemas.microsoft.com/office/powerpoint/2010/main" val="957616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05DDB-2668-AA0B-C438-7D66F6C98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8">
            <a:extLst>
              <a:ext uri="{FF2B5EF4-FFF2-40B4-BE49-F238E27FC236}">
                <a16:creationId xmlns:a16="http://schemas.microsoft.com/office/drawing/2014/main" id="{A841F404-E420-22B3-1E36-A56354CEAA8A}"/>
              </a:ext>
            </a:extLst>
          </p:cNvPr>
          <p:cNvSpPr/>
          <p:nvPr/>
        </p:nvSpPr>
        <p:spPr>
          <a:xfrm rot="-10800000">
            <a:off x="11901900" y="4000500"/>
            <a:ext cx="10205074" cy="10711432"/>
          </a:xfrm>
          <a:custGeom>
            <a:avLst/>
            <a:gdLst/>
            <a:ahLst/>
            <a:cxnLst/>
            <a:rect l="l" t="t" r="r" b="b"/>
            <a:pathLst>
              <a:path w="10205074" h="10711432">
                <a:moveTo>
                  <a:pt x="0" y="0"/>
                </a:moveTo>
                <a:lnTo>
                  <a:pt x="10205073" y="0"/>
                </a:lnTo>
                <a:lnTo>
                  <a:pt x="10205073" y="10711432"/>
                </a:lnTo>
                <a:lnTo>
                  <a:pt x="0" y="10711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r-H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5AC5E533-5E3B-2814-E6DA-08B36FDC4408}"/>
              </a:ext>
            </a:extLst>
          </p:cNvPr>
          <p:cNvSpPr txBox="1"/>
          <p:nvPr/>
        </p:nvSpPr>
        <p:spPr>
          <a:xfrm>
            <a:off x="988498" y="304142"/>
            <a:ext cx="14480101" cy="1449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3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Pristup </a:t>
            </a:r>
            <a:r>
              <a:rPr kumimoji="0" lang="hr-HR" sz="80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2</a:t>
            </a:r>
            <a:r>
              <a:rPr kumimoji="0" lang="en-US" sz="80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: </a:t>
            </a:r>
            <a:r>
              <a:rPr kumimoji="0" lang="hr-HR" sz="80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prikaz </a:t>
            </a:r>
            <a:r>
              <a:rPr kumimoji="0" lang="hr-HR" sz="8095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rjšenja</a:t>
            </a:r>
            <a:endParaRPr kumimoji="0" lang="en-US" sz="809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 Bold"/>
              <a:ea typeface="Mina Bold"/>
              <a:cs typeface="Mina Bold"/>
              <a:sym typeface="Mina Bold"/>
            </a:endParaRP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EBFEA702-CBFE-5766-73E8-36129DFE8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498" y="1866900"/>
            <a:ext cx="6077068" cy="2286000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34564665-22FA-975C-C27A-C3FEF28C2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151" y="1822173"/>
            <a:ext cx="3733800" cy="2266950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F756B65A-6C6E-C8AA-93C4-14832064A2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34799" y="1790700"/>
            <a:ext cx="3733800" cy="2438400"/>
          </a:xfrm>
          <a:prstGeom prst="rect">
            <a:avLst/>
          </a:prstGeom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D64F98E6-9388-4405-2603-FC6B7783A8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050" y="4610100"/>
            <a:ext cx="4456545" cy="2286000"/>
          </a:xfrm>
          <a:prstGeom prst="rect">
            <a:avLst/>
          </a:prstGeom>
        </p:spPr>
      </p:pic>
      <p:pic>
        <p:nvPicPr>
          <p:cNvPr id="15" name="Slika 14">
            <a:extLst>
              <a:ext uri="{FF2B5EF4-FFF2-40B4-BE49-F238E27FC236}">
                <a16:creationId xmlns:a16="http://schemas.microsoft.com/office/drawing/2014/main" id="{CC052091-FA5D-F1A9-A9B4-FAD901B6C4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1912" y="4610100"/>
            <a:ext cx="4522733" cy="2266950"/>
          </a:xfrm>
          <a:prstGeom prst="rect">
            <a:avLst/>
          </a:prstGeom>
        </p:spPr>
      </p:pic>
      <p:pic>
        <p:nvPicPr>
          <p:cNvPr id="19" name="Slika 18">
            <a:extLst>
              <a:ext uri="{FF2B5EF4-FFF2-40B4-BE49-F238E27FC236}">
                <a16:creationId xmlns:a16="http://schemas.microsoft.com/office/drawing/2014/main" id="{A6D7A330-F322-603D-CF18-06AAFDA83D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00" y="4661086"/>
            <a:ext cx="4907672" cy="2215964"/>
          </a:xfrm>
          <a:prstGeom prst="rect">
            <a:avLst/>
          </a:prstGeom>
        </p:spPr>
      </p:pic>
      <p:pic>
        <p:nvPicPr>
          <p:cNvPr id="21" name="Slika 20">
            <a:extLst>
              <a:ext uri="{FF2B5EF4-FFF2-40B4-BE49-F238E27FC236}">
                <a16:creationId xmlns:a16="http://schemas.microsoft.com/office/drawing/2014/main" id="{F562D839-2C0A-77A2-CF4B-56C5EB5BA1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674" y="7353300"/>
            <a:ext cx="4438952" cy="1524000"/>
          </a:xfrm>
          <a:prstGeom prst="rect">
            <a:avLst/>
          </a:prstGeom>
        </p:spPr>
      </p:pic>
      <p:pic>
        <p:nvPicPr>
          <p:cNvPr id="23" name="Slika 22">
            <a:extLst>
              <a:ext uri="{FF2B5EF4-FFF2-40B4-BE49-F238E27FC236}">
                <a16:creationId xmlns:a16="http://schemas.microsoft.com/office/drawing/2014/main" id="{C92716A5-9962-0621-B30D-538266F27A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1912" y="7449013"/>
            <a:ext cx="5082194" cy="1390650"/>
          </a:xfrm>
          <a:prstGeom prst="rect">
            <a:avLst/>
          </a:prstGeom>
        </p:spPr>
      </p:pic>
      <p:pic>
        <p:nvPicPr>
          <p:cNvPr id="25" name="Slika 24">
            <a:extLst>
              <a:ext uri="{FF2B5EF4-FFF2-40B4-BE49-F238E27FC236}">
                <a16:creationId xmlns:a16="http://schemas.microsoft.com/office/drawing/2014/main" id="{1A93E855-9FC9-5DC0-FE81-2D2E0558E1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10320" y="7277563"/>
            <a:ext cx="487749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809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295B0A-8774-E83B-E1CD-F49E347FD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8">
            <a:extLst>
              <a:ext uri="{FF2B5EF4-FFF2-40B4-BE49-F238E27FC236}">
                <a16:creationId xmlns:a16="http://schemas.microsoft.com/office/drawing/2014/main" id="{AE7212FD-A1BB-D28A-49EE-9A1FEA8FB60D}"/>
              </a:ext>
            </a:extLst>
          </p:cNvPr>
          <p:cNvSpPr/>
          <p:nvPr/>
        </p:nvSpPr>
        <p:spPr>
          <a:xfrm rot="-10800000">
            <a:off x="11901900" y="4000500"/>
            <a:ext cx="10205074" cy="10711432"/>
          </a:xfrm>
          <a:custGeom>
            <a:avLst/>
            <a:gdLst/>
            <a:ahLst/>
            <a:cxnLst/>
            <a:rect l="l" t="t" r="r" b="b"/>
            <a:pathLst>
              <a:path w="10205074" h="10711432">
                <a:moveTo>
                  <a:pt x="0" y="0"/>
                </a:moveTo>
                <a:lnTo>
                  <a:pt x="10205073" y="0"/>
                </a:lnTo>
                <a:lnTo>
                  <a:pt x="10205073" y="10711432"/>
                </a:lnTo>
                <a:lnTo>
                  <a:pt x="0" y="10711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r-H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AA0C4305-13AA-FDEC-C512-F564EF25D58F}"/>
              </a:ext>
            </a:extLst>
          </p:cNvPr>
          <p:cNvSpPr txBox="1"/>
          <p:nvPr/>
        </p:nvSpPr>
        <p:spPr>
          <a:xfrm>
            <a:off x="988498" y="304142"/>
            <a:ext cx="14480101" cy="1449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3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Pristup </a:t>
            </a:r>
            <a:r>
              <a:rPr kumimoji="0" lang="hr-HR" sz="80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2</a:t>
            </a:r>
            <a:r>
              <a:rPr kumimoji="0" lang="en-US" sz="80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: </a:t>
            </a:r>
            <a:r>
              <a:rPr kumimoji="0" lang="hr-HR" sz="809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prikaz </a:t>
            </a:r>
            <a:r>
              <a:rPr kumimoji="0" lang="hr-HR" sz="8095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rjšenja</a:t>
            </a:r>
            <a:endParaRPr kumimoji="0" lang="en-US" sz="809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 Bold"/>
              <a:ea typeface="Mina Bold"/>
              <a:cs typeface="Mina Bold"/>
              <a:sym typeface="Mina Bold"/>
            </a:endParaRP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B93A0A46-210B-4B67-BDFF-14C922E65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627" y="3176916"/>
            <a:ext cx="4692893" cy="2118985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E2FD0314-CF20-4A66-CDB4-71979F55BA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2905265"/>
            <a:ext cx="7793855" cy="2238235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0C2266D9-4223-5EAB-2BDD-C0350B2BEC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7039" y="5905501"/>
            <a:ext cx="5670176" cy="1676400"/>
          </a:xfrm>
          <a:prstGeom prst="rect">
            <a:avLst/>
          </a:prstGeom>
        </p:spPr>
      </p:pic>
      <p:pic>
        <p:nvPicPr>
          <p:cNvPr id="14" name="Slika 13">
            <a:extLst>
              <a:ext uri="{FF2B5EF4-FFF2-40B4-BE49-F238E27FC236}">
                <a16:creationId xmlns:a16="http://schemas.microsoft.com/office/drawing/2014/main" id="{5025298B-4611-9FEB-5CCD-DB9F7946BC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8318" y="5750579"/>
            <a:ext cx="6667109" cy="175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76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9A6B3-118E-22FA-4E7C-30FE47471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EC5278C4-58D9-7BC7-B80D-87EF47402A5E}"/>
              </a:ext>
            </a:extLst>
          </p:cNvPr>
          <p:cNvSpPr/>
          <p:nvPr/>
        </p:nvSpPr>
        <p:spPr>
          <a:xfrm>
            <a:off x="10125273" y="-4197855"/>
            <a:ext cx="9706877" cy="10188516"/>
          </a:xfrm>
          <a:custGeom>
            <a:avLst/>
            <a:gdLst/>
            <a:ahLst/>
            <a:cxnLst/>
            <a:rect l="l" t="t" r="r" b="b"/>
            <a:pathLst>
              <a:path w="9706877" h="10188516">
                <a:moveTo>
                  <a:pt x="0" y="0"/>
                </a:moveTo>
                <a:lnTo>
                  <a:pt x="9706878" y="0"/>
                </a:lnTo>
                <a:lnTo>
                  <a:pt x="9706878" y="10188516"/>
                </a:lnTo>
                <a:lnTo>
                  <a:pt x="0" y="101885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r-H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D800689-386C-6938-8461-8494B969AEFC}"/>
              </a:ext>
            </a:extLst>
          </p:cNvPr>
          <p:cNvSpPr txBox="1"/>
          <p:nvPr/>
        </p:nvSpPr>
        <p:spPr>
          <a:xfrm>
            <a:off x="1051112" y="369108"/>
            <a:ext cx="12369899" cy="4129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492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Korištene</a:t>
            </a:r>
            <a:r>
              <a:rPr kumimoji="0" lang="en-US" sz="11492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 Solidity </a:t>
            </a:r>
            <a:r>
              <a:rPr kumimoji="0" lang="en-US" sz="11492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značajke</a:t>
            </a:r>
            <a:r>
              <a:rPr kumimoji="0" lang="hr-HR" sz="11492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 </a:t>
            </a:r>
            <a:endParaRPr kumimoji="0" lang="en-US" sz="11492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 Bold"/>
              <a:ea typeface="Mina Bold"/>
              <a:cs typeface="Mina Bold"/>
              <a:sym typeface="Mina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E4FC30E-2544-895B-A8A9-759275C6AEFC}"/>
              </a:ext>
            </a:extLst>
          </p:cNvPr>
          <p:cNvSpPr txBox="1"/>
          <p:nvPr/>
        </p:nvSpPr>
        <p:spPr>
          <a:xfrm>
            <a:off x="1371600" y="4487238"/>
            <a:ext cx="14435362" cy="3614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msg.sender</a:t>
            </a: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— adresa korisnika koji poziva funkciju.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msg.value</a:t>
            </a: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— iznos </a:t>
            </a:r>
            <a:r>
              <a:rPr kumimoji="0" lang="hr-H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Ethera</a:t>
            </a: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poslan u ponudi.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block.timestamp</a:t>
            </a: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— koristi se za provjeru vremena aukcije.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require</a:t>
            </a: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— provjerava uvjete i prekida funkciju ako nisu ispunjeni.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modifier</a:t>
            </a: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— ograničava kada se određena funkcija može izvršiti.</a:t>
            </a:r>
          </a:p>
        </p:txBody>
      </p:sp>
    </p:spTree>
    <p:extLst>
      <p:ext uri="{BB962C8B-B14F-4D97-AF65-F5344CB8AC3E}">
        <p14:creationId xmlns:p14="http://schemas.microsoft.com/office/powerpoint/2010/main" val="2174373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C3BFF">
                <a:alpha val="100000"/>
              </a:srgbClr>
            </a:gs>
            <a:gs pos="100000">
              <a:srgbClr val="B664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D04AC-9E6A-9AC0-9D1B-AABC1BA3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C39E9E52-B656-234A-A684-AD0112D2C5B4}"/>
              </a:ext>
            </a:extLst>
          </p:cNvPr>
          <p:cNvGrpSpPr/>
          <p:nvPr/>
        </p:nvGrpSpPr>
        <p:grpSpPr>
          <a:xfrm rot="-5943314">
            <a:off x="4446946" y="-2602009"/>
            <a:ext cx="11182453" cy="19010499"/>
            <a:chOff x="0" y="0"/>
            <a:chExt cx="2945173" cy="500688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D01C33D-D12A-0B23-5C28-FFD93A5ECF3B}"/>
                </a:ext>
              </a:extLst>
            </p:cNvPr>
            <p:cNvSpPr/>
            <p:nvPr/>
          </p:nvSpPr>
          <p:spPr>
            <a:xfrm>
              <a:off x="0" y="0"/>
              <a:ext cx="2945173" cy="5006880"/>
            </a:xfrm>
            <a:custGeom>
              <a:avLst/>
              <a:gdLst/>
              <a:ahLst/>
              <a:cxnLst/>
              <a:rect l="l" t="t" r="r" b="b"/>
              <a:pathLst>
                <a:path w="2945173" h="5006880">
                  <a:moveTo>
                    <a:pt x="38770" y="0"/>
                  </a:moveTo>
                  <a:lnTo>
                    <a:pt x="2906402" y="0"/>
                  </a:lnTo>
                  <a:cubicBezTo>
                    <a:pt x="2927815" y="0"/>
                    <a:pt x="2945173" y="17358"/>
                    <a:pt x="2945173" y="38770"/>
                  </a:cubicBezTo>
                  <a:lnTo>
                    <a:pt x="2945173" y="4968110"/>
                  </a:lnTo>
                  <a:cubicBezTo>
                    <a:pt x="2945173" y="4989522"/>
                    <a:pt x="2927815" y="5006880"/>
                    <a:pt x="2906402" y="5006880"/>
                  </a:cubicBezTo>
                  <a:lnTo>
                    <a:pt x="38770" y="5006880"/>
                  </a:lnTo>
                  <a:cubicBezTo>
                    <a:pt x="17358" y="5006880"/>
                    <a:pt x="0" y="4989522"/>
                    <a:pt x="0" y="4968110"/>
                  </a:cubicBezTo>
                  <a:lnTo>
                    <a:pt x="0" y="38770"/>
                  </a:lnTo>
                  <a:cubicBezTo>
                    <a:pt x="0" y="17358"/>
                    <a:pt x="17358" y="0"/>
                    <a:pt x="387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3BFF">
                    <a:alpha val="100000"/>
                  </a:srgbClr>
                </a:gs>
                <a:gs pos="100000">
                  <a:srgbClr val="B664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r-H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2053832-E3DA-B3F7-A403-705E1A60B14A}"/>
                </a:ext>
              </a:extLst>
            </p:cNvPr>
            <p:cNvSpPr txBox="1"/>
            <p:nvPr/>
          </p:nvSpPr>
          <p:spPr>
            <a:xfrm>
              <a:off x="0" y="-38100"/>
              <a:ext cx="2945173" cy="5044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ACD37DE3-5A47-2F23-A7B7-EF94AAD16093}"/>
              </a:ext>
            </a:extLst>
          </p:cNvPr>
          <p:cNvSpPr txBox="1"/>
          <p:nvPr/>
        </p:nvSpPr>
        <p:spPr>
          <a:xfrm>
            <a:off x="1371600" y="1936106"/>
            <a:ext cx="15240000" cy="5091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Oba pristupa imaju isti cilj: provedbu aukcije u pametnom ugovoru.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Direktni povrat odmah vraća </a:t>
            </a:r>
            <a:r>
              <a:rPr kumimoji="0" lang="hr-H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Ether</a:t>
            </a: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prethodnom ponuditelju.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Mapiranje povrata sprema iznos u povrati.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Kod mapiranja korisnik sam poziva </a:t>
            </a:r>
            <a:r>
              <a:rPr kumimoji="0" lang="hr-H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povuciPovrat</a:t>
            </a: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().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Direktni povrat je jednostavniji za razumjeti.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Mapiranje je preglednije i bolje organizirano rješenje.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1DD5CD4-72CC-59FE-537F-627521DF61C8}"/>
              </a:ext>
            </a:extLst>
          </p:cNvPr>
          <p:cNvSpPr txBox="1"/>
          <p:nvPr/>
        </p:nvSpPr>
        <p:spPr>
          <a:xfrm>
            <a:off x="1066800" y="0"/>
            <a:ext cx="16535400" cy="1628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27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r-HR" sz="9105" b="1" dirty="0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Usporedba dva pristupa</a:t>
            </a:r>
            <a:r>
              <a:rPr kumimoji="0" lang="hr-HR" sz="910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 </a:t>
            </a:r>
            <a:endParaRPr kumimoji="0" lang="en-US" sz="910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 Bold"/>
              <a:ea typeface="Mina Bold"/>
              <a:cs typeface="Mina Bold"/>
              <a:sym typeface="Mina Bold"/>
            </a:endParaRPr>
          </a:p>
        </p:txBody>
      </p:sp>
    </p:spTree>
    <p:extLst>
      <p:ext uri="{BB962C8B-B14F-4D97-AF65-F5344CB8AC3E}">
        <p14:creationId xmlns:p14="http://schemas.microsoft.com/office/powerpoint/2010/main" val="1463199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96A79-CFDC-9DED-325C-76D7404AC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E83BBA82-442E-EC74-7253-CF0751EFC74D}"/>
              </a:ext>
            </a:extLst>
          </p:cNvPr>
          <p:cNvGrpSpPr/>
          <p:nvPr/>
        </p:nvGrpSpPr>
        <p:grpSpPr>
          <a:xfrm>
            <a:off x="-1371600" y="7952752"/>
            <a:ext cx="9983660" cy="3351211"/>
            <a:chOff x="0" y="0"/>
            <a:chExt cx="2629441" cy="882624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4120715-B360-DAC6-9586-7939C45D4D09}"/>
                </a:ext>
              </a:extLst>
            </p:cNvPr>
            <p:cNvSpPr/>
            <p:nvPr/>
          </p:nvSpPr>
          <p:spPr>
            <a:xfrm>
              <a:off x="0" y="0"/>
              <a:ext cx="2629441" cy="882624"/>
            </a:xfrm>
            <a:custGeom>
              <a:avLst/>
              <a:gdLst/>
              <a:ahLst/>
              <a:cxnLst/>
              <a:rect l="l" t="t" r="r" b="b"/>
              <a:pathLst>
                <a:path w="2629441" h="882624">
                  <a:moveTo>
                    <a:pt x="43426" y="0"/>
                  </a:moveTo>
                  <a:lnTo>
                    <a:pt x="2586016" y="0"/>
                  </a:lnTo>
                  <a:cubicBezTo>
                    <a:pt x="2597533" y="0"/>
                    <a:pt x="2608578" y="4575"/>
                    <a:pt x="2616722" y="12719"/>
                  </a:cubicBezTo>
                  <a:cubicBezTo>
                    <a:pt x="2624866" y="20863"/>
                    <a:pt x="2629441" y="31908"/>
                    <a:pt x="2629441" y="43426"/>
                  </a:cubicBezTo>
                  <a:lnTo>
                    <a:pt x="2629441" y="839198"/>
                  </a:lnTo>
                  <a:cubicBezTo>
                    <a:pt x="2629441" y="850715"/>
                    <a:pt x="2624866" y="861761"/>
                    <a:pt x="2616722" y="869904"/>
                  </a:cubicBezTo>
                  <a:cubicBezTo>
                    <a:pt x="2608578" y="878048"/>
                    <a:pt x="2597533" y="882624"/>
                    <a:pt x="2586016" y="882624"/>
                  </a:cubicBezTo>
                  <a:lnTo>
                    <a:pt x="43426" y="882624"/>
                  </a:lnTo>
                  <a:cubicBezTo>
                    <a:pt x="19442" y="882624"/>
                    <a:pt x="0" y="863181"/>
                    <a:pt x="0" y="839198"/>
                  </a:cubicBezTo>
                  <a:lnTo>
                    <a:pt x="0" y="43426"/>
                  </a:lnTo>
                  <a:cubicBezTo>
                    <a:pt x="0" y="31908"/>
                    <a:pt x="4575" y="20863"/>
                    <a:pt x="12719" y="12719"/>
                  </a:cubicBezTo>
                  <a:cubicBezTo>
                    <a:pt x="20863" y="4575"/>
                    <a:pt x="31908" y="0"/>
                    <a:pt x="43426" y="0"/>
                  </a:cubicBezTo>
                  <a:close/>
                </a:path>
              </a:pathLst>
            </a:custGeom>
            <a:solidFill>
              <a:srgbClr val="6647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r-H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016E23BA-1D33-6DEE-A7FE-4BC766EDE828}"/>
                </a:ext>
              </a:extLst>
            </p:cNvPr>
            <p:cNvSpPr txBox="1"/>
            <p:nvPr/>
          </p:nvSpPr>
          <p:spPr>
            <a:xfrm>
              <a:off x="0" y="-38100"/>
              <a:ext cx="2629441" cy="9207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8ECEA1DA-6348-E73A-6B03-4020B91E15A6}"/>
              </a:ext>
            </a:extLst>
          </p:cNvPr>
          <p:cNvSpPr txBox="1"/>
          <p:nvPr/>
        </p:nvSpPr>
        <p:spPr>
          <a:xfrm>
            <a:off x="914400" y="718769"/>
            <a:ext cx="9113345" cy="2244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75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r-HR" sz="125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"/>
                <a:ea typeface="Mina"/>
                <a:cs typeface="Mina"/>
                <a:sym typeface="Mina"/>
              </a:rPr>
              <a:t>Zaključak</a:t>
            </a:r>
            <a:endParaRPr kumimoji="0" lang="en-US" sz="125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"/>
              <a:ea typeface="Mina"/>
              <a:cs typeface="Mina"/>
              <a:sym typeface="Mina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9B7B033-C5B0-B2F0-5C1D-3603A7CFF5CB}"/>
              </a:ext>
            </a:extLst>
          </p:cNvPr>
          <p:cNvSpPr txBox="1"/>
          <p:nvPr/>
        </p:nvSpPr>
        <p:spPr>
          <a:xfrm>
            <a:off x="1066800" y="3578242"/>
            <a:ext cx="15870914" cy="3614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Blockchain</a:t>
            </a: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omogućuje sigurnu i transparentnu provedbu aukcije.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Pametni ugovor uklanja potrebu za posrednikom.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Pristup s mapiranjem je bolji jer sigurnije upravlja povratom sredstava.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Projekt pokazuje praktičnu primjenu </a:t>
            </a:r>
            <a:r>
              <a:rPr kumimoji="0" lang="hr-H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Solidityja</a:t>
            </a: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i </a:t>
            </a:r>
            <a:r>
              <a:rPr kumimoji="0" lang="hr-H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Ethereuma</a:t>
            </a:r>
            <a:r>
              <a:rPr kumimoji="0" lang="hr-HR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u digitalnom poslovanju.</a:t>
            </a:r>
          </a:p>
        </p:txBody>
      </p:sp>
    </p:spTree>
    <p:extLst>
      <p:ext uri="{BB962C8B-B14F-4D97-AF65-F5344CB8AC3E}">
        <p14:creationId xmlns:p14="http://schemas.microsoft.com/office/powerpoint/2010/main" val="2371973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C3BFF">
                <a:alpha val="100000"/>
              </a:srgbClr>
            </a:gs>
            <a:gs pos="100000">
              <a:srgbClr val="B664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B6BE26-180B-8C37-2B0F-AFC60834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16367E9B-ECB4-C4B9-BFF7-E15EAAF5299E}"/>
              </a:ext>
            </a:extLst>
          </p:cNvPr>
          <p:cNvGrpSpPr/>
          <p:nvPr/>
        </p:nvGrpSpPr>
        <p:grpSpPr>
          <a:xfrm rot="-5943314">
            <a:off x="4446943" y="-2487708"/>
            <a:ext cx="11182453" cy="19010499"/>
            <a:chOff x="0" y="0"/>
            <a:chExt cx="2945173" cy="500688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30BBD8F-6DCC-C1E9-0F17-65B02F2522D3}"/>
                </a:ext>
              </a:extLst>
            </p:cNvPr>
            <p:cNvSpPr/>
            <p:nvPr/>
          </p:nvSpPr>
          <p:spPr>
            <a:xfrm>
              <a:off x="0" y="0"/>
              <a:ext cx="2945173" cy="5006880"/>
            </a:xfrm>
            <a:custGeom>
              <a:avLst/>
              <a:gdLst/>
              <a:ahLst/>
              <a:cxnLst/>
              <a:rect l="l" t="t" r="r" b="b"/>
              <a:pathLst>
                <a:path w="2945173" h="5006880">
                  <a:moveTo>
                    <a:pt x="38770" y="0"/>
                  </a:moveTo>
                  <a:lnTo>
                    <a:pt x="2906402" y="0"/>
                  </a:lnTo>
                  <a:cubicBezTo>
                    <a:pt x="2927815" y="0"/>
                    <a:pt x="2945173" y="17358"/>
                    <a:pt x="2945173" y="38770"/>
                  </a:cubicBezTo>
                  <a:lnTo>
                    <a:pt x="2945173" y="4968110"/>
                  </a:lnTo>
                  <a:cubicBezTo>
                    <a:pt x="2945173" y="4989522"/>
                    <a:pt x="2927815" y="5006880"/>
                    <a:pt x="2906402" y="5006880"/>
                  </a:cubicBezTo>
                  <a:lnTo>
                    <a:pt x="38770" y="5006880"/>
                  </a:lnTo>
                  <a:cubicBezTo>
                    <a:pt x="17358" y="5006880"/>
                    <a:pt x="0" y="4989522"/>
                    <a:pt x="0" y="4968110"/>
                  </a:cubicBezTo>
                  <a:lnTo>
                    <a:pt x="0" y="38770"/>
                  </a:lnTo>
                  <a:cubicBezTo>
                    <a:pt x="0" y="17358"/>
                    <a:pt x="17358" y="0"/>
                    <a:pt x="387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3BFF">
                    <a:alpha val="100000"/>
                  </a:srgbClr>
                </a:gs>
                <a:gs pos="100000">
                  <a:srgbClr val="B664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r-H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A3BC423-64E8-8B78-1B37-6EB620D6AEF4}"/>
                </a:ext>
              </a:extLst>
            </p:cNvPr>
            <p:cNvSpPr txBox="1"/>
            <p:nvPr/>
          </p:nvSpPr>
          <p:spPr>
            <a:xfrm>
              <a:off x="0" y="-38100"/>
              <a:ext cx="2945173" cy="5044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8722172D-612A-9256-1A02-1C22AD54CC29}"/>
              </a:ext>
            </a:extLst>
          </p:cNvPr>
          <p:cNvSpPr txBox="1"/>
          <p:nvPr/>
        </p:nvSpPr>
        <p:spPr>
          <a:xfrm>
            <a:off x="1181100" y="2043549"/>
            <a:ext cx="15925800" cy="6199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[1] N.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Vr</a:t>
            </a:r>
            <a:r>
              <a:rPr lang="hr-HR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č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ek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, Upravljanje digitalnim inovacijama, Nastavni materijali, Fakultet organizacije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iinformatike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, Varaždin, 2024.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[2] S.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Nakamoto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, Bitcoin: A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Peer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-to-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Peer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Electronic Cash System, https://www.bitcoin.org/bitcoin.pdf, 2008.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[3] V. Buterin,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Ethereum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: A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Next-Generation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Smart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Contract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and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Decentralized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ApplicationPlatform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, https://ethereum.org/en/whitepaper/, 2014.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[4] T.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Huynh-The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i dr., „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Blockchain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for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Metaverse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: A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Review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,” Future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Generation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ComputerSystems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, sv. 143, str. 401–419, 2023. DOI: 10.1016/j.future.2023.02.008.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[5] G. Wood, „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Ethereum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: A Secure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Decentralised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Generalised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Transaction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Ledger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,”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EthereumProject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Yellow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kumimoji="0" lang="hr-H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Paper</a:t>
            </a:r>
            <a:r>
              <a:rPr kumimoji="0" lang="hr-HR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, 2014. adresa: https://ethereum.github.io/yellowpaper/paper.pdf.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70CADC9-A9DB-BCDE-4A91-5E37A6DE0A68}"/>
              </a:ext>
            </a:extLst>
          </p:cNvPr>
          <p:cNvSpPr txBox="1"/>
          <p:nvPr/>
        </p:nvSpPr>
        <p:spPr>
          <a:xfrm>
            <a:off x="5562600" y="0"/>
            <a:ext cx="7676314" cy="162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27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r-HR" sz="910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Literatura</a:t>
            </a:r>
            <a:endParaRPr kumimoji="0" lang="en-US" sz="910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 Bold"/>
              <a:ea typeface="Mina Bold"/>
              <a:cs typeface="Mina Bold"/>
              <a:sym typeface="Mina Bold"/>
            </a:endParaRPr>
          </a:p>
        </p:txBody>
      </p:sp>
    </p:spTree>
    <p:extLst>
      <p:ext uri="{BB962C8B-B14F-4D97-AF65-F5344CB8AC3E}">
        <p14:creationId xmlns:p14="http://schemas.microsoft.com/office/powerpoint/2010/main" val="955496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C3BFF">
                <a:alpha val="100000"/>
              </a:srgbClr>
            </a:gs>
            <a:gs pos="100000">
              <a:srgbClr val="B664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B95FD2-7441-E255-B1E9-5C966E5A3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71B0B0B-F2D3-07AD-36D9-DD2CB3DF78F9}"/>
              </a:ext>
            </a:extLst>
          </p:cNvPr>
          <p:cNvSpPr/>
          <p:nvPr/>
        </p:nvSpPr>
        <p:spPr>
          <a:xfrm>
            <a:off x="-340288" y="0"/>
            <a:ext cx="10305738" cy="10287000"/>
          </a:xfrm>
          <a:custGeom>
            <a:avLst/>
            <a:gdLst/>
            <a:ahLst/>
            <a:cxnLst/>
            <a:rect l="l" t="t" r="r" b="b"/>
            <a:pathLst>
              <a:path w="10305738" h="10287000">
                <a:moveTo>
                  <a:pt x="0" y="0"/>
                </a:moveTo>
                <a:lnTo>
                  <a:pt x="10305738" y="0"/>
                </a:lnTo>
                <a:lnTo>
                  <a:pt x="103057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r-H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401FC1C-1EFA-1FB1-1CD2-219F3C9B15C6}"/>
              </a:ext>
            </a:extLst>
          </p:cNvPr>
          <p:cNvSpPr txBox="1"/>
          <p:nvPr/>
        </p:nvSpPr>
        <p:spPr>
          <a:xfrm>
            <a:off x="2158126" y="3848274"/>
            <a:ext cx="8165453" cy="2590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2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r-HR" sz="14452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"/>
                <a:ea typeface="Mina"/>
                <a:cs typeface="Mina"/>
                <a:sym typeface="Mina"/>
              </a:rPr>
              <a:t>Hvala na</a:t>
            </a:r>
            <a:endParaRPr kumimoji="0" lang="en-US" sz="14452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"/>
              <a:ea typeface="Mina"/>
              <a:cs typeface="Mina"/>
              <a:sym typeface="Mina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D50875E-2BEF-BF36-54F1-DB3B6233478E}"/>
              </a:ext>
            </a:extLst>
          </p:cNvPr>
          <p:cNvSpPr txBox="1"/>
          <p:nvPr/>
        </p:nvSpPr>
        <p:spPr>
          <a:xfrm>
            <a:off x="9448800" y="3848273"/>
            <a:ext cx="7614214" cy="2590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2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r-HR" sz="14452" b="1" dirty="0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p</a:t>
            </a:r>
            <a:r>
              <a:rPr kumimoji="0" lang="hr-HR" sz="14452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ažnji</a:t>
            </a:r>
            <a:r>
              <a:rPr kumimoji="0" lang="hr-HR" sz="14452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na Bold"/>
                <a:ea typeface="Mina Bold"/>
                <a:cs typeface="Mina Bold"/>
                <a:sym typeface="Mina Bold"/>
              </a:rPr>
              <a:t>!</a:t>
            </a:r>
            <a:endParaRPr kumimoji="0" lang="en-US" sz="14452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na Bold"/>
              <a:ea typeface="Mina Bold"/>
              <a:cs typeface="Mina Bold"/>
              <a:sym typeface="Mina Bold"/>
            </a:endParaRPr>
          </a:p>
        </p:txBody>
      </p:sp>
    </p:spTree>
    <p:extLst>
      <p:ext uri="{BB962C8B-B14F-4D97-AF65-F5344CB8AC3E}">
        <p14:creationId xmlns:p14="http://schemas.microsoft.com/office/powerpoint/2010/main" val="2798334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2097</Words>
  <Application>Microsoft Office PowerPoint</Application>
  <PresentationFormat>Prilagođeno</PresentationFormat>
  <Paragraphs>129</Paragraphs>
  <Slides>19</Slides>
  <Notes>17</Notes>
  <HiddenSlides>0</HiddenSlides>
  <MMClips>0</MMClips>
  <ScaleCrop>false</ScaleCrop>
  <HeadingPairs>
    <vt:vector size="6" baseType="variant">
      <vt:variant>
        <vt:lpstr>Korišteni fontovi</vt:lpstr>
      </vt:variant>
      <vt:variant>
        <vt:i4>6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19</vt:i4>
      </vt:variant>
    </vt:vector>
  </HeadingPairs>
  <TitlesOfParts>
    <vt:vector size="26" baseType="lpstr">
      <vt:lpstr>Arial</vt:lpstr>
      <vt:lpstr>Mina Bold</vt:lpstr>
      <vt:lpstr>Canva Sans</vt:lpstr>
      <vt:lpstr>Calibri</vt:lpstr>
      <vt:lpstr>Aptos</vt:lpstr>
      <vt:lpstr>Mina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Gradient Modern Cryptocurrency Presentation</dc:title>
  <cp:lastModifiedBy>Zdravko Blažević</cp:lastModifiedBy>
  <cp:revision>18</cp:revision>
  <dcterms:created xsi:type="dcterms:W3CDTF">2006-08-16T00:00:00Z</dcterms:created>
  <dcterms:modified xsi:type="dcterms:W3CDTF">2026-05-21T14:40:08Z</dcterms:modified>
  <dc:identifier>DAHJ9N3cq6Y</dc:identifier>
</cp:coreProperties>
</file>